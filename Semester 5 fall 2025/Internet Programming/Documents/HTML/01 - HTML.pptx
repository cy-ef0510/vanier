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3" r:id="rId19"/>
    <p:sldId id="275" r:id="rId20"/>
    <p:sldId id="276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911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565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511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60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01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238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75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13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9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69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94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C40C-72CE-4D68-996C-1841ACA94F8A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06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425765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HTML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is a </a:t>
            </a:r>
            <a:r>
              <a:rPr lang="en-CA" b="1" dirty="0"/>
              <a:t>markup</a:t>
            </a:r>
            <a:r>
              <a:rPr lang="en-CA" dirty="0"/>
              <a:t> language for </a:t>
            </a:r>
            <a:r>
              <a:rPr lang="en-CA" b="1" dirty="0"/>
              <a:t>describing</a:t>
            </a:r>
            <a:r>
              <a:rPr lang="en-CA" dirty="0"/>
              <a:t> web documents (web pages)</a:t>
            </a:r>
          </a:p>
          <a:p>
            <a:r>
              <a:rPr lang="en-CA" dirty="0"/>
              <a:t>HTML documents are described by </a:t>
            </a:r>
            <a:r>
              <a:rPr lang="en-CA" b="1" dirty="0"/>
              <a:t>HTML tags</a:t>
            </a:r>
            <a:endParaRPr lang="en-CA" dirty="0"/>
          </a:p>
          <a:p>
            <a:r>
              <a:rPr lang="en-CA" dirty="0"/>
              <a:t>Each HTML tag </a:t>
            </a:r>
            <a:r>
              <a:rPr lang="en-CA" b="1" dirty="0"/>
              <a:t>describes</a:t>
            </a:r>
            <a:r>
              <a:rPr lang="en-CA" dirty="0"/>
              <a:t> different document content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337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tags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tags are </a:t>
            </a:r>
            <a:r>
              <a:rPr lang="en-CA" b="1" dirty="0"/>
              <a:t>keywords</a:t>
            </a:r>
            <a:r>
              <a:rPr lang="en-CA" dirty="0"/>
              <a:t> (tag names) surrounded by </a:t>
            </a:r>
            <a:r>
              <a:rPr lang="en-CA" b="1" dirty="0"/>
              <a:t>angle brackets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&lt;</a:t>
            </a:r>
            <a:r>
              <a:rPr lang="en-CA" dirty="0" err="1"/>
              <a:t>tagname</a:t>
            </a:r>
            <a:r>
              <a:rPr lang="en-CA" dirty="0"/>
              <a:t>&gt;content&lt;/</a:t>
            </a:r>
            <a:r>
              <a:rPr lang="en-CA" dirty="0" err="1"/>
              <a:t>tagname</a:t>
            </a:r>
            <a:r>
              <a:rPr lang="en-CA" dirty="0"/>
              <a:t>&gt;</a:t>
            </a:r>
          </a:p>
          <a:p>
            <a:r>
              <a:rPr lang="en-CA" dirty="0"/>
              <a:t>HTML tags normally come </a:t>
            </a:r>
            <a:r>
              <a:rPr lang="en-CA" b="1" dirty="0"/>
              <a:t>in pairs</a:t>
            </a:r>
            <a:r>
              <a:rPr lang="en-CA" dirty="0"/>
              <a:t> like &lt;p&gt; and &lt;/p&gt;</a:t>
            </a:r>
          </a:p>
          <a:p>
            <a:r>
              <a:rPr lang="en-CA" dirty="0"/>
              <a:t>The first tag in a pair is the </a:t>
            </a:r>
            <a:r>
              <a:rPr lang="en-CA" b="1" dirty="0"/>
              <a:t>start tag,</a:t>
            </a:r>
            <a:r>
              <a:rPr lang="en-CA" dirty="0"/>
              <a:t> the second tag is the </a:t>
            </a:r>
            <a:r>
              <a:rPr lang="en-CA" b="1" dirty="0"/>
              <a:t>end tag</a:t>
            </a:r>
            <a:endParaRPr lang="en-CA" dirty="0"/>
          </a:p>
          <a:p>
            <a:r>
              <a:rPr lang="en-CA" dirty="0"/>
              <a:t>The end tag is written like the start tag, but with a </a:t>
            </a:r>
            <a:r>
              <a:rPr lang="en-CA" b="1" dirty="0"/>
              <a:t>slash</a:t>
            </a:r>
            <a:r>
              <a:rPr lang="en-CA" dirty="0"/>
              <a:t> before the tag name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057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Starting an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All HTML documents must start with a type declaration: </a:t>
            </a:r>
            <a:r>
              <a:rPr lang="en-CA" b="1" dirty="0"/>
              <a:t>&lt;!DOCTYPE html&gt;</a:t>
            </a:r>
          </a:p>
          <a:p>
            <a:r>
              <a:rPr lang="en-CA" dirty="0"/>
              <a:t>The &lt;!DOCTYPE&gt; declaration helps the browser to display a web page correctly</a:t>
            </a:r>
          </a:p>
          <a:p>
            <a:pPr lvl="1"/>
            <a:r>
              <a:rPr lang="en-CA" dirty="0"/>
              <a:t>&lt;!DOCTYPE HTML&gt;</a:t>
            </a:r>
          </a:p>
        </p:txBody>
      </p:sp>
    </p:spTree>
    <p:extLst>
      <p:ext uri="{BB962C8B-B14F-4D97-AF65-F5344CB8AC3E}">
        <p14:creationId xmlns:p14="http://schemas.microsoft.com/office/powerpoint/2010/main" val="428888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Core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HTML document itself begins with </a:t>
            </a:r>
            <a:r>
              <a:rPr lang="en-CA" b="1" dirty="0"/>
              <a:t>&lt;html&gt;</a:t>
            </a:r>
            <a:r>
              <a:rPr lang="en-CA" dirty="0"/>
              <a:t> and ends with </a:t>
            </a:r>
            <a:r>
              <a:rPr lang="en-CA" b="1" dirty="0"/>
              <a:t>&lt;/html&gt;</a:t>
            </a:r>
            <a:endParaRPr lang="en-CA" dirty="0"/>
          </a:p>
          <a:p>
            <a:r>
              <a:rPr lang="en-CA" dirty="0"/>
              <a:t>The &lt;head&gt; element is a container for metadata (data about data).</a:t>
            </a:r>
          </a:p>
          <a:p>
            <a:pPr lvl="1"/>
            <a:r>
              <a:rPr lang="en-CA" dirty="0"/>
              <a:t>HTML metadata is data about the HTML document. Metadata is not displayed.</a:t>
            </a:r>
          </a:p>
          <a:p>
            <a:pPr lvl="1"/>
            <a:r>
              <a:rPr lang="en-CA" dirty="0"/>
              <a:t>Metadata typically define document title, styles, links, scripts, and other meta information</a:t>
            </a:r>
          </a:p>
          <a:p>
            <a:r>
              <a:rPr lang="en-CA" dirty="0"/>
              <a:t>The visible part of the HTML document is between </a:t>
            </a:r>
            <a:r>
              <a:rPr lang="en-CA" b="1" dirty="0"/>
              <a:t>&lt;body&gt;</a:t>
            </a:r>
            <a:r>
              <a:rPr lang="en-CA" dirty="0"/>
              <a:t> and </a:t>
            </a:r>
            <a:r>
              <a:rPr lang="en-CA" b="1" dirty="0"/>
              <a:t>&lt;/body&gt;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366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&lt;!DOCTYPE html&gt;</a:t>
            </a:r>
            <a:br>
              <a:rPr lang="en-CA" dirty="0"/>
            </a:br>
            <a:r>
              <a:rPr lang="en-CA" dirty="0"/>
              <a:t>&lt;html&gt;</a:t>
            </a:r>
            <a:br>
              <a:rPr lang="en-CA" dirty="0"/>
            </a:br>
            <a:r>
              <a:rPr lang="en-CA" dirty="0"/>
              <a:t>	&lt;head&gt;</a:t>
            </a:r>
          </a:p>
          <a:p>
            <a:pPr marL="0" indent="0">
              <a:buNone/>
            </a:pPr>
            <a:r>
              <a:rPr lang="en-CA" dirty="0"/>
              <a:t>		&lt;title&gt;Page Title&lt;/title&gt;</a:t>
            </a:r>
          </a:p>
          <a:p>
            <a:pPr marL="0" indent="0">
              <a:buNone/>
            </a:pPr>
            <a:r>
              <a:rPr lang="en-CA" dirty="0"/>
              <a:t>	&lt;/head&gt;</a:t>
            </a:r>
          </a:p>
          <a:p>
            <a:pPr marL="0" indent="0">
              <a:buNone/>
            </a:pPr>
            <a:r>
              <a:rPr lang="en-CA" dirty="0"/>
              <a:t>	&lt;body&gt;</a:t>
            </a:r>
            <a:br>
              <a:rPr lang="en-CA" dirty="0"/>
            </a:br>
            <a:r>
              <a:rPr lang="en-CA" dirty="0"/>
              <a:t>		&lt;h1&gt;My First Heading&lt;/h1&gt;</a:t>
            </a:r>
            <a:br>
              <a:rPr lang="en-CA" dirty="0"/>
            </a:br>
            <a:r>
              <a:rPr lang="en-CA" dirty="0"/>
              <a:t>		&lt;p&gt;My first paragraph&lt;/p&gt;</a:t>
            </a:r>
            <a:br>
              <a:rPr lang="en-CA" dirty="0"/>
            </a:br>
            <a:r>
              <a:rPr lang="en-CA" dirty="0"/>
              <a:t>	&lt;/body&gt;</a:t>
            </a:r>
            <a:br>
              <a:rPr lang="en-CA" dirty="0"/>
            </a:br>
            <a:r>
              <a:rPr lang="en-CA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53231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Basics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headings are defined with the </a:t>
            </a:r>
            <a:r>
              <a:rPr lang="en-CA" b="1" dirty="0"/>
              <a:t>&lt;h1&gt;</a:t>
            </a:r>
            <a:r>
              <a:rPr lang="en-CA" dirty="0"/>
              <a:t> to </a:t>
            </a:r>
            <a:r>
              <a:rPr lang="en-CA" b="1" dirty="0"/>
              <a:t>&lt;h6&gt;</a:t>
            </a:r>
            <a:r>
              <a:rPr lang="en-CA" dirty="0"/>
              <a:t> tags:</a:t>
            </a:r>
          </a:p>
          <a:p>
            <a:pPr lvl="1"/>
            <a:r>
              <a:rPr lang="en-CA" dirty="0"/>
              <a:t>&lt;h1&gt;This is a heading&lt;/h1&gt;</a:t>
            </a:r>
          </a:p>
          <a:p>
            <a:r>
              <a:rPr lang="en-CA" dirty="0"/>
              <a:t>HTML paragraphs are defined with the </a:t>
            </a:r>
            <a:r>
              <a:rPr lang="en-CA" b="1" dirty="0"/>
              <a:t>&lt;p&gt;</a:t>
            </a:r>
            <a:r>
              <a:rPr lang="en-CA" dirty="0"/>
              <a:t> tag:</a:t>
            </a:r>
          </a:p>
          <a:p>
            <a:pPr lvl="1"/>
            <a:r>
              <a:rPr lang="en-CA" dirty="0"/>
              <a:t>&lt;p&gt;This is a paragraph.&lt;/p&gt;</a:t>
            </a:r>
          </a:p>
          <a:p>
            <a:r>
              <a:rPr lang="en-CA" dirty="0"/>
              <a:t>HTML links are defined with the </a:t>
            </a:r>
            <a:r>
              <a:rPr lang="en-CA" b="1" dirty="0"/>
              <a:t>&lt;a&gt;</a:t>
            </a:r>
            <a:r>
              <a:rPr lang="en-CA" dirty="0"/>
              <a:t> tag:</a:t>
            </a:r>
          </a:p>
          <a:p>
            <a:pPr lvl="1"/>
            <a:r>
              <a:rPr lang="en-CA" dirty="0"/>
              <a:t>&lt;a </a:t>
            </a:r>
            <a:r>
              <a:rPr lang="en-CA" dirty="0" err="1"/>
              <a:t>href</a:t>
            </a:r>
            <a:r>
              <a:rPr lang="en-CA" dirty="0"/>
              <a:t>="http://www.w3schools.com"&gt;This is a link&lt;/a&gt;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855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Basics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images are defined with the </a:t>
            </a:r>
            <a:r>
              <a:rPr lang="en-CA" b="1" dirty="0"/>
              <a:t>&lt;</a:t>
            </a:r>
            <a:r>
              <a:rPr lang="en-CA" b="1" dirty="0" err="1"/>
              <a:t>img</a:t>
            </a:r>
            <a:r>
              <a:rPr lang="en-CA" b="1" dirty="0"/>
              <a:t>&gt;</a:t>
            </a:r>
            <a:r>
              <a:rPr lang="en-CA" dirty="0"/>
              <a:t> tag. The source file (</a:t>
            </a:r>
            <a:r>
              <a:rPr lang="en-CA" b="1" dirty="0" err="1"/>
              <a:t>src</a:t>
            </a:r>
            <a:r>
              <a:rPr lang="en-CA" dirty="0"/>
              <a:t>), alternative text (</a:t>
            </a:r>
            <a:r>
              <a:rPr lang="en-CA" b="1" dirty="0"/>
              <a:t>alt</a:t>
            </a:r>
            <a:r>
              <a:rPr lang="en-CA" dirty="0"/>
              <a:t>), and size (</a:t>
            </a:r>
            <a:r>
              <a:rPr lang="en-CA" b="1" dirty="0"/>
              <a:t>width</a:t>
            </a:r>
            <a:r>
              <a:rPr lang="en-CA" dirty="0"/>
              <a:t> and </a:t>
            </a:r>
            <a:r>
              <a:rPr lang="en-CA" b="1" dirty="0"/>
              <a:t>height</a:t>
            </a:r>
            <a:r>
              <a:rPr lang="en-CA" dirty="0"/>
              <a:t>) are provided as </a:t>
            </a:r>
            <a:r>
              <a:rPr lang="en-CA" b="1" dirty="0"/>
              <a:t>attributes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&lt;</a:t>
            </a:r>
            <a:r>
              <a:rPr lang="en-CA" dirty="0" err="1"/>
              <a:t>img</a:t>
            </a:r>
            <a:r>
              <a:rPr lang="en-CA" dirty="0"/>
              <a:t> </a:t>
            </a:r>
            <a:r>
              <a:rPr lang="en-CA" dirty="0" err="1"/>
              <a:t>src</a:t>
            </a:r>
            <a:r>
              <a:rPr lang="en-CA" dirty="0"/>
              <a:t>="w3schools.jpg" alt="W3Schools.com" width="104" height="142"&gt;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023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write a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elements are written with a </a:t>
            </a:r>
            <a:r>
              <a:rPr lang="en-CA" b="1" dirty="0"/>
              <a:t>start</a:t>
            </a:r>
            <a:r>
              <a:rPr lang="en-CA" dirty="0"/>
              <a:t> tag, with an </a:t>
            </a:r>
            <a:r>
              <a:rPr lang="en-CA" b="1" dirty="0"/>
              <a:t>end</a:t>
            </a:r>
            <a:r>
              <a:rPr lang="en-CA" dirty="0"/>
              <a:t> tag, with the </a:t>
            </a:r>
            <a:r>
              <a:rPr lang="en-CA" b="1" dirty="0"/>
              <a:t>content</a:t>
            </a:r>
            <a:r>
              <a:rPr lang="en-CA" dirty="0"/>
              <a:t> in between:</a:t>
            </a:r>
          </a:p>
          <a:p>
            <a:pPr lvl="1"/>
            <a:r>
              <a:rPr lang="en-CA" dirty="0"/>
              <a:t>&lt;</a:t>
            </a:r>
            <a:r>
              <a:rPr lang="en-CA" dirty="0" err="1"/>
              <a:t>tagname</a:t>
            </a:r>
            <a:r>
              <a:rPr lang="en-CA" dirty="0"/>
              <a:t>&gt;content&lt;/</a:t>
            </a:r>
            <a:r>
              <a:rPr lang="en-CA" dirty="0" err="1"/>
              <a:t>tagname</a:t>
            </a:r>
            <a:r>
              <a:rPr lang="en-CA" dirty="0"/>
              <a:t>&gt;</a:t>
            </a:r>
          </a:p>
          <a:p>
            <a:r>
              <a:rPr lang="en-CA" dirty="0"/>
              <a:t>The HTML </a:t>
            </a:r>
            <a:r>
              <a:rPr lang="en-CA" b="1" dirty="0"/>
              <a:t>element</a:t>
            </a:r>
            <a:r>
              <a:rPr lang="en-CA" dirty="0"/>
              <a:t> is everything from the start tag to the end tag:</a:t>
            </a:r>
          </a:p>
          <a:p>
            <a:pPr lvl="1"/>
            <a:r>
              <a:rPr lang="en-CA" dirty="0"/>
              <a:t>&lt;p&gt;My first HTML paragraph.&lt;/p&gt;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075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Nested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elements can be nested (elements can contain elements).</a:t>
            </a:r>
          </a:p>
          <a:p>
            <a:pPr lvl="1"/>
            <a:r>
              <a:rPr lang="en-CA" dirty="0"/>
              <a:t>All HTML documents consist of nested HTML elements</a:t>
            </a:r>
          </a:p>
          <a:p>
            <a:r>
              <a:rPr lang="en-CA" dirty="0"/>
              <a:t>Example:</a:t>
            </a:r>
          </a:p>
          <a:p>
            <a:pPr lvl="1"/>
            <a:r>
              <a:rPr lang="en-CA" dirty="0"/>
              <a:t>&lt;html&gt;</a:t>
            </a:r>
            <a:br>
              <a:rPr lang="en-CA" dirty="0"/>
            </a:br>
            <a:r>
              <a:rPr lang="en-CA" dirty="0"/>
              <a:t>	&lt;body&gt; (nested inside the &lt;html&gt; element)</a:t>
            </a:r>
            <a:br>
              <a:rPr lang="en-CA" dirty="0"/>
            </a:br>
            <a:r>
              <a:rPr lang="en-CA" dirty="0"/>
              <a:t>		&lt;h1&gt;My First Heading&lt;/h1&gt; (nested inside the &lt;body&gt; element)</a:t>
            </a:r>
            <a:br>
              <a:rPr lang="en-CA" dirty="0"/>
            </a:br>
            <a:r>
              <a:rPr lang="en-CA" dirty="0"/>
              <a:t>		&lt;p&gt;My first paragraph.&lt;/p&gt; (nested inside the &lt;body&gt; element)</a:t>
            </a:r>
            <a:br>
              <a:rPr lang="en-CA" dirty="0"/>
            </a:br>
            <a:r>
              <a:rPr lang="en-CA" dirty="0"/>
              <a:t>	&lt;/body&gt;</a:t>
            </a:r>
            <a:br>
              <a:rPr lang="en-CA" dirty="0"/>
            </a:br>
            <a:r>
              <a:rPr lang="en-CA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778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Attributes provide additional information about the HTML elements in which they are used</a:t>
            </a:r>
          </a:p>
          <a:p>
            <a:pPr lvl="1"/>
            <a:r>
              <a:rPr lang="en-CA" dirty="0"/>
              <a:t>HTML elements can have </a:t>
            </a:r>
            <a:r>
              <a:rPr lang="en-CA" b="1" dirty="0"/>
              <a:t>attributes</a:t>
            </a:r>
            <a:endParaRPr lang="en-CA" dirty="0"/>
          </a:p>
          <a:p>
            <a:pPr lvl="1"/>
            <a:r>
              <a:rPr lang="en-CA" dirty="0"/>
              <a:t>Attributes provide </a:t>
            </a:r>
            <a:r>
              <a:rPr lang="en-CA" b="1" dirty="0"/>
              <a:t>additional information</a:t>
            </a:r>
            <a:r>
              <a:rPr lang="en-CA" dirty="0"/>
              <a:t> about an element</a:t>
            </a:r>
          </a:p>
          <a:p>
            <a:pPr lvl="1"/>
            <a:r>
              <a:rPr lang="en-CA" dirty="0"/>
              <a:t>Attributes are always specified in </a:t>
            </a:r>
            <a:r>
              <a:rPr lang="en-CA" b="1" dirty="0"/>
              <a:t>the start tag</a:t>
            </a:r>
            <a:endParaRPr lang="en-CA" dirty="0"/>
          </a:p>
          <a:p>
            <a:pPr lvl="1"/>
            <a:r>
              <a:rPr lang="en-CA" dirty="0"/>
              <a:t>Attributes come in name/value pairs like: </a:t>
            </a:r>
            <a:r>
              <a:rPr lang="en-CA" b="1" dirty="0"/>
              <a:t>name="value"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813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Attributes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links are defined with the </a:t>
            </a:r>
            <a:r>
              <a:rPr lang="en-CA" b="1" dirty="0"/>
              <a:t>&lt;a&gt;</a:t>
            </a:r>
            <a:r>
              <a:rPr lang="en-CA" dirty="0"/>
              <a:t> tag. The link address is specified in the </a:t>
            </a:r>
            <a:r>
              <a:rPr lang="en-CA" b="1" dirty="0" err="1"/>
              <a:t>href</a:t>
            </a:r>
            <a:r>
              <a:rPr lang="en-CA" dirty="0"/>
              <a:t> attribute:</a:t>
            </a:r>
          </a:p>
          <a:p>
            <a:pPr lvl="1"/>
            <a:r>
              <a:rPr lang="en-CA" dirty="0"/>
              <a:t>&lt;a </a:t>
            </a:r>
            <a:r>
              <a:rPr lang="en-CA" dirty="0" err="1"/>
              <a:t>href</a:t>
            </a:r>
            <a:r>
              <a:rPr lang="en-CA" dirty="0"/>
              <a:t>="http://www.w3schools.com"&gt;This is a link&lt;/a&gt;</a:t>
            </a:r>
          </a:p>
          <a:p>
            <a:r>
              <a:rPr lang="en-CA" dirty="0"/>
              <a:t>HTML images are defined with the </a:t>
            </a:r>
            <a:r>
              <a:rPr lang="en-CA" b="1" dirty="0"/>
              <a:t>&lt;</a:t>
            </a:r>
            <a:r>
              <a:rPr lang="en-CA" b="1" dirty="0" err="1"/>
              <a:t>img</a:t>
            </a:r>
            <a:r>
              <a:rPr lang="en-CA" b="1" dirty="0"/>
              <a:t>&gt;</a:t>
            </a:r>
            <a:r>
              <a:rPr lang="en-CA" dirty="0"/>
              <a:t> tag. The filename of the source (</a:t>
            </a:r>
            <a:r>
              <a:rPr lang="en-CA" b="1" dirty="0" err="1"/>
              <a:t>src</a:t>
            </a:r>
            <a:r>
              <a:rPr lang="en-CA" dirty="0"/>
              <a:t>), and the size of the image (</a:t>
            </a:r>
            <a:r>
              <a:rPr lang="en-CA" b="1" dirty="0"/>
              <a:t>width</a:t>
            </a:r>
            <a:r>
              <a:rPr lang="en-CA" dirty="0"/>
              <a:t> and </a:t>
            </a:r>
            <a:r>
              <a:rPr lang="en-CA" b="1" dirty="0"/>
              <a:t>height</a:t>
            </a:r>
            <a:r>
              <a:rPr lang="en-CA" dirty="0"/>
              <a:t>) are all provided as </a:t>
            </a:r>
            <a:r>
              <a:rPr lang="en-CA" b="1" dirty="0"/>
              <a:t>attributes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&lt;</a:t>
            </a:r>
            <a:r>
              <a:rPr lang="en-CA" dirty="0" err="1"/>
              <a:t>img</a:t>
            </a:r>
            <a:r>
              <a:rPr lang="en-CA" dirty="0"/>
              <a:t> </a:t>
            </a:r>
            <a:r>
              <a:rPr lang="en-CA" dirty="0" err="1"/>
              <a:t>src</a:t>
            </a:r>
            <a:r>
              <a:rPr lang="en-CA" dirty="0"/>
              <a:t>="w3schools.jpg" width="104" height="142"&gt;</a:t>
            </a:r>
          </a:p>
        </p:txBody>
      </p:sp>
    </p:spTree>
    <p:extLst>
      <p:ext uri="{BB962C8B-B14F-4D97-AF65-F5344CB8AC3E}">
        <p14:creationId xmlns:p14="http://schemas.microsoft.com/office/powerpoint/2010/main" val="1539850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HTML Style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Setting the style of an HTML element, can be done with the </a:t>
            </a:r>
            <a:r>
              <a:rPr lang="en-CA" b="1" dirty="0"/>
              <a:t>style attribute</a:t>
            </a:r>
            <a:r>
              <a:rPr lang="en-CA" dirty="0"/>
              <a:t>. The HTML style attribute has the following </a:t>
            </a:r>
            <a:r>
              <a:rPr lang="en-CA" b="1" dirty="0"/>
              <a:t>syntax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style=“</a:t>
            </a:r>
            <a:r>
              <a:rPr lang="en-CA" i="1" dirty="0" err="1"/>
              <a:t>property</a:t>
            </a:r>
            <a:r>
              <a:rPr lang="en-CA" dirty="0" err="1"/>
              <a:t>:</a:t>
            </a:r>
            <a:r>
              <a:rPr lang="en-CA" i="1" dirty="0" err="1"/>
              <a:t>value</a:t>
            </a:r>
            <a:r>
              <a:rPr lang="en-CA" i="1" dirty="0"/>
              <a:t>;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The </a:t>
            </a:r>
            <a:r>
              <a:rPr lang="en-CA" b="1" i="1" dirty="0"/>
              <a:t>property</a:t>
            </a:r>
            <a:r>
              <a:rPr lang="en-CA" dirty="0"/>
              <a:t> is a CSS property. The </a:t>
            </a:r>
            <a:r>
              <a:rPr lang="en-CA" b="1" i="1" dirty="0"/>
              <a:t>value</a:t>
            </a:r>
            <a:r>
              <a:rPr lang="en-CA" dirty="0"/>
              <a:t> is a CSS value</a:t>
            </a:r>
          </a:p>
          <a:p>
            <a:pPr lvl="1"/>
            <a:r>
              <a:rPr lang="en-CA" dirty="0"/>
              <a:t>&lt;body style="</a:t>
            </a:r>
            <a:r>
              <a:rPr lang="en-CA" dirty="0" err="1"/>
              <a:t>background-color:lightgrey</a:t>
            </a:r>
            <a:r>
              <a:rPr lang="en-CA" dirty="0"/>
              <a:t>;"&gt;</a:t>
            </a:r>
            <a:br>
              <a:rPr lang="en-CA" dirty="0"/>
            </a:br>
            <a:r>
              <a:rPr lang="en-CA" dirty="0"/>
              <a:t>	&lt;h1  style="</a:t>
            </a:r>
            <a:r>
              <a:rPr lang="en-CA" dirty="0" err="1"/>
              <a:t>color:blue</a:t>
            </a:r>
            <a:r>
              <a:rPr lang="en-CA" dirty="0"/>
              <a:t>;" &gt;This is a heading&lt;/h1&gt;</a:t>
            </a:r>
            <a:br>
              <a:rPr lang="en-CA" dirty="0"/>
            </a:br>
            <a:r>
              <a:rPr lang="en-CA" dirty="0"/>
              <a:t>	&lt;p  style="color:#FF0088;" &gt;This is a paragraph.&lt;/p&gt;</a:t>
            </a:r>
            <a:br>
              <a:rPr lang="en-CA" dirty="0"/>
            </a:br>
            <a:r>
              <a:rPr lang="en-CA" dirty="0"/>
              <a:t>&lt;/body&gt;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8580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Script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The </a:t>
            </a:r>
            <a:r>
              <a:rPr lang="en-CA" dirty="0"/>
              <a:t>&lt;script&gt; tag is used to define a client-side script, such as a JavaScript.</a:t>
            </a:r>
          </a:p>
          <a:p>
            <a:r>
              <a:rPr lang="en-CA" dirty="0"/>
              <a:t>The &lt;script&gt; element either contains scripting statements or it points to an external script file through the </a:t>
            </a:r>
            <a:r>
              <a:rPr lang="en-CA" dirty="0" err="1"/>
              <a:t>src</a:t>
            </a:r>
            <a:r>
              <a:rPr lang="en-CA" dirty="0"/>
              <a:t> attribute</a:t>
            </a:r>
          </a:p>
          <a:p>
            <a:r>
              <a:rPr lang="en-CA" dirty="0"/>
              <a:t>Example:</a:t>
            </a:r>
          </a:p>
          <a:p>
            <a:pPr lvl="1"/>
            <a:r>
              <a:rPr lang="en-CA" dirty="0"/>
              <a:t>&lt;script&gt;</a:t>
            </a:r>
            <a:br>
              <a:rPr lang="en-CA" dirty="0"/>
            </a:br>
            <a:r>
              <a:rPr lang="en-CA" dirty="0"/>
              <a:t>	</a:t>
            </a: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 "Hello JavaScript!";</a:t>
            </a:r>
            <a:br>
              <a:rPr lang="en-CA" dirty="0"/>
            </a:br>
            <a:r>
              <a:rPr lang="en-CA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23346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Comment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Comments are not displayed by the browser, but they can help document your HTML</a:t>
            </a:r>
          </a:p>
          <a:p>
            <a:r>
              <a:rPr lang="en-CA" dirty="0"/>
              <a:t>With comments you can place notifications and reminders in your HTML</a:t>
            </a:r>
          </a:p>
          <a:p>
            <a:r>
              <a:rPr lang="en-CA" dirty="0"/>
              <a:t>Comments are also great for debugging HTML, because you can comment out HTML lines of code, one at a time, to search for errors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741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Frequently used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&lt;a&gt;: used to create links to pages or files</a:t>
            </a:r>
          </a:p>
          <a:p>
            <a:r>
              <a:rPr lang="en-CA" dirty="0"/>
              <a:t>&lt;</a:t>
            </a:r>
            <a:r>
              <a:rPr lang="en-CA" dirty="0" err="1"/>
              <a:t>img</a:t>
            </a:r>
            <a:r>
              <a:rPr lang="en-CA" dirty="0"/>
              <a:t>&gt;: used to insert images in the HTML page</a:t>
            </a:r>
          </a:p>
          <a:p>
            <a:r>
              <a:rPr lang="en-CA" dirty="0"/>
              <a:t>&lt;table&gt;,&lt;</a:t>
            </a:r>
            <a:r>
              <a:rPr lang="en-CA" dirty="0" err="1"/>
              <a:t>tr</a:t>
            </a:r>
            <a:r>
              <a:rPr lang="en-CA" dirty="0"/>
              <a:t>&gt;,&lt;td&gt;,&lt;</a:t>
            </a:r>
            <a:r>
              <a:rPr lang="en-CA" dirty="0" err="1"/>
              <a:t>th</a:t>
            </a:r>
            <a:r>
              <a:rPr lang="en-CA" dirty="0"/>
              <a:t>&gt;: used to create a table in your HTML page</a:t>
            </a:r>
          </a:p>
          <a:p>
            <a:r>
              <a:rPr lang="en-CA" dirty="0"/>
              <a:t>&lt;div&gt;: defines a division or a section in an HTML document</a:t>
            </a:r>
          </a:p>
          <a:p>
            <a:r>
              <a:rPr lang="en-CA" dirty="0"/>
              <a:t>&lt;</a:t>
            </a:r>
            <a:r>
              <a:rPr lang="en-CA" dirty="0" err="1"/>
              <a:t>ol</a:t>
            </a:r>
            <a:r>
              <a:rPr lang="en-CA" dirty="0"/>
              <a:t>&gt;: defines an ordered list. An ordered list can be numerical or alphabetical</a:t>
            </a:r>
          </a:p>
          <a:p>
            <a:r>
              <a:rPr lang="en-CA" dirty="0"/>
              <a:t>&lt;</a:t>
            </a:r>
            <a:r>
              <a:rPr lang="en-CA" dirty="0" err="1"/>
              <a:t>ul</a:t>
            </a:r>
            <a:r>
              <a:rPr lang="en-CA" dirty="0"/>
              <a:t>&gt;: defines an unordered (bulleted) list</a:t>
            </a:r>
          </a:p>
          <a:p>
            <a:pPr lvl="1"/>
            <a:r>
              <a:rPr lang="en-CA" dirty="0"/>
              <a:t>&lt;li&gt;: defines a list item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63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Frequently used HTML Form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&lt;form&gt;: used to create an HTML form for user input</a:t>
            </a:r>
          </a:p>
          <a:p>
            <a:r>
              <a:rPr lang="en-CA" dirty="0"/>
              <a:t>&lt;input&gt;: specifies an input field where the user can enter data</a:t>
            </a:r>
          </a:p>
          <a:p>
            <a:r>
              <a:rPr lang="en-CA" dirty="0"/>
              <a:t>&lt;</a:t>
            </a:r>
            <a:r>
              <a:rPr lang="en-CA" dirty="0" err="1"/>
              <a:t>textarea</a:t>
            </a:r>
            <a:r>
              <a:rPr lang="en-CA" dirty="0"/>
              <a:t>&gt;: defines a multi-line text input control</a:t>
            </a:r>
          </a:p>
          <a:p>
            <a:r>
              <a:rPr lang="en-CA" dirty="0"/>
              <a:t>&lt;button&gt;: defines a clickable button</a:t>
            </a:r>
          </a:p>
          <a:p>
            <a:r>
              <a:rPr lang="en-CA" dirty="0"/>
              <a:t>&lt;select&gt;: used to create a drop-down list</a:t>
            </a:r>
          </a:p>
          <a:p>
            <a:pPr lvl="1"/>
            <a:r>
              <a:rPr lang="en-CA" dirty="0"/>
              <a:t>&lt;option&gt;: inside the &lt;select&gt; element, defines the available options in the list</a:t>
            </a:r>
          </a:p>
          <a:p>
            <a:r>
              <a:rPr lang="en-CA" dirty="0"/>
              <a:t>&lt;label&gt;: defines a label for an &lt;input&gt; element.</a:t>
            </a:r>
          </a:p>
          <a:p>
            <a:pPr lvl="1"/>
            <a:r>
              <a:rPr lang="en-CA" dirty="0"/>
              <a:t>The &lt;label&gt; element does not render as anything special for the user. However, it provides a usability improvement for mouse users, because if the user clicks on the text within the &lt;label&gt; element, it toggles the control.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82065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HTML forms are used to collect user input.</a:t>
            </a:r>
          </a:p>
          <a:p>
            <a:r>
              <a:rPr lang="en-CA" dirty="0"/>
              <a:t>The </a:t>
            </a:r>
            <a:r>
              <a:rPr lang="en-CA" b="1" dirty="0"/>
              <a:t>&lt;form&gt;</a:t>
            </a:r>
            <a:r>
              <a:rPr lang="en-CA" dirty="0"/>
              <a:t> element defines an HTML form</a:t>
            </a:r>
          </a:p>
          <a:p>
            <a:r>
              <a:rPr lang="en-CA" b="1" dirty="0"/>
              <a:t>&lt;input type="submit"&gt;</a:t>
            </a:r>
            <a:r>
              <a:rPr lang="en-CA" dirty="0"/>
              <a:t> defines a button for submitting a form to a form-handler</a:t>
            </a:r>
          </a:p>
          <a:p>
            <a:pPr lvl="1"/>
            <a:r>
              <a:rPr lang="en-CA" dirty="0"/>
              <a:t>The form-handler is typically a server page with a script for processing input data</a:t>
            </a:r>
          </a:p>
          <a:p>
            <a:pPr lvl="1"/>
            <a:r>
              <a:rPr lang="en-CA" dirty="0"/>
              <a:t>The form-handler is specified in the form's </a:t>
            </a:r>
            <a:r>
              <a:rPr lang="en-CA" b="1" dirty="0"/>
              <a:t>action</a:t>
            </a:r>
            <a:r>
              <a:rPr lang="en-CA" dirty="0"/>
              <a:t> attribute:</a:t>
            </a:r>
          </a:p>
          <a:p>
            <a:r>
              <a:rPr lang="en-CA" dirty="0"/>
              <a:t>Example:</a:t>
            </a:r>
          </a:p>
          <a:p>
            <a:pPr lvl="1"/>
            <a:r>
              <a:rPr lang="en-CA" dirty="0"/>
              <a:t>&lt;form action="</a:t>
            </a:r>
            <a:r>
              <a:rPr lang="en-CA" dirty="0" err="1"/>
              <a:t>action_page.php</a:t>
            </a:r>
            <a:r>
              <a:rPr lang="en-CA" dirty="0"/>
              <a:t>"&gt;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1051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Forms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 </a:t>
            </a:r>
            <a:r>
              <a:rPr lang="en-CA" b="1" dirty="0"/>
              <a:t>action attribute</a:t>
            </a:r>
            <a:r>
              <a:rPr lang="en-CA" dirty="0"/>
              <a:t> of the </a:t>
            </a:r>
            <a:r>
              <a:rPr lang="en-CA" b="1" dirty="0"/>
              <a:t>form</a:t>
            </a:r>
            <a:r>
              <a:rPr lang="en-CA" dirty="0"/>
              <a:t> tag defines the action to be performed when the form is submitted</a:t>
            </a:r>
          </a:p>
          <a:p>
            <a:pPr lvl="1"/>
            <a:r>
              <a:rPr lang="en-CA" dirty="0"/>
              <a:t>The common way to submit a form to a server, is by using a submit button</a:t>
            </a:r>
          </a:p>
          <a:p>
            <a:pPr lvl="1"/>
            <a:r>
              <a:rPr lang="en-CA" dirty="0"/>
              <a:t>Normally, the form is submitted to a web page on a web server</a:t>
            </a:r>
          </a:p>
          <a:p>
            <a:r>
              <a:rPr lang="en-CA" dirty="0"/>
              <a:t>The </a:t>
            </a:r>
            <a:r>
              <a:rPr lang="en-CA" b="1" dirty="0"/>
              <a:t>method attribute</a:t>
            </a:r>
            <a:r>
              <a:rPr lang="en-CA" dirty="0"/>
              <a:t> specifies the HTTP method (</a:t>
            </a:r>
            <a:r>
              <a:rPr lang="en-CA" b="1" dirty="0"/>
              <a:t>GET </a:t>
            </a:r>
            <a:r>
              <a:rPr lang="en-CA" dirty="0"/>
              <a:t>or </a:t>
            </a:r>
            <a:r>
              <a:rPr lang="en-CA" b="1" dirty="0"/>
              <a:t>POST</a:t>
            </a:r>
            <a:r>
              <a:rPr lang="en-CA" dirty="0"/>
              <a:t>) to be used when submitting the forms:</a:t>
            </a:r>
          </a:p>
          <a:p>
            <a:pPr lvl="1"/>
            <a:r>
              <a:rPr lang="en-CA" dirty="0"/>
              <a:t>&lt;form action="</a:t>
            </a:r>
            <a:r>
              <a:rPr lang="en-CA" dirty="0" err="1"/>
              <a:t>action_page.php</a:t>
            </a:r>
            <a:r>
              <a:rPr lang="en-CA" dirty="0"/>
              <a:t>" </a:t>
            </a:r>
            <a:r>
              <a:rPr lang="en-CA" b="1" dirty="0"/>
              <a:t>method="get"</a:t>
            </a:r>
            <a:r>
              <a:rPr lang="en-CA" dirty="0"/>
              <a:t>&gt;</a:t>
            </a:r>
          </a:p>
          <a:p>
            <a:pPr lvl="1"/>
            <a:r>
              <a:rPr lang="en-CA" dirty="0"/>
              <a:t>&lt;form action="</a:t>
            </a:r>
            <a:r>
              <a:rPr lang="en-CA" dirty="0" err="1"/>
              <a:t>action_page.php</a:t>
            </a:r>
            <a:r>
              <a:rPr lang="en-CA" dirty="0"/>
              <a:t>" </a:t>
            </a:r>
            <a:r>
              <a:rPr lang="en-CA" b="1" dirty="0"/>
              <a:t>method=“post"</a:t>
            </a:r>
            <a:r>
              <a:rPr lang="en-CA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9822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Forms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be submitted correctly, each input field must have a name attribute</a:t>
            </a:r>
          </a:p>
          <a:p>
            <a:r>
              <a:rPr lang="en-CA" dirty="0"/>
              <a:t>Example:</a:t>
            </a:r>
          </a:p>
          <a:p>
            <a:pPr lvl="1"/>
            <a:r>
              <a:rPr lang="en-CA" dirty="0"/>
              <a:t>&lt;form action="</a:t>
            </a:r>
            <a:r>
              <a:rPr lang="en-CA" dirty="0" err="1"/>
              <a:t>action_page.php</a:t>
            </a:r>
            <a:r>
              <a:rPr lang="en-CA" dirty="0"/>
              <a:t>"&gt;</a:t>
            </a:r>
            <a:br>
              <a:rPr lang="en-CA" dirty="0"/>
            </a:br>
            <a:r>
              <a:rPr lang="en-CA" dirty="0"/>
              <a:t>  	First name:&lt;</a:t>
            </a:r>
            <a:r>
              <a:rPr lang="en-CA" dirty="0" err="1"/>
              <a:t>br</a:t>
            </a:r>
            <a:r>
              <a:rPr lang="en-CA" dirty="0"/>
              <a:t>&gt;</a:t>
            </a:r>
            <a:br>
              <a:rPr lang="en-CA" dirty="0"/>
            </a:br>
            <a:r>
              <a:rPr lang="en-CA" dirty="0"/>
              <a:t>  	&lt;input type="text" value="Mickey"&gt;&lt;</a:t>
            </a:r>
            <a:r>
              <a:rPr lang="en-CA" dirty="0" err="1"/>
              <a:t>br</a:t>
            </a:r>
            <a:r>
              <a:rPr lang="en-CA" dirty="0"/>
              <a:t>&gt;</a:t>
            </a:r>
            <a:br>
              <a:rPr lang="en-CA" dirty="0"/>
            </a:br>
            <a:r>
              <a:rPr lang="en-CA" dirty="0"/>
              <a:t>  	Last name:&lt;</a:t>
            </a:r>
            <a:r>
              <a:rPr lang="en-CA" dirty="0" err="1"/>
              <a:t>br</a:t>
            </a:r>
            <a:r>
              <a:rPr lang="en-CA" dirty="0"/>
              <a:t>&gt;</a:t>
            </a:r>
            <a:br>
              <a:rPr lang="en-CA" dirty="0"/>
            </a:br>
            <a:r>
              <a:rPr lang="en-CA" dirty="0"/>
              <a:t>  	&lt;input type="text" name="</a:t>
            </a:r>
            <a:r>
              <a:rPr lang="en-CA" dirty="0" err="1"/>
              <a:t>lastname</a:t>
            </a:r>
            <a:r>
              <a:rPr lang="en-CA" dirty="0"/>
              <a:t>" value="Mouse"&gt;&lt;</a:t>
            </a:r>
            <a:r>
              <a:rPr lang="en-CA" dirty="0" err="1"/>
              <a:t>br</a:t>
            </a:r>
            <a:r>
              <a:rPr lang="en-CA" dirty="0"/>
              <a:t>&gt;&lt;</a:t>
            </a:r>
            <a:r>
              <a:rPr lang="en-CA" dirty="0" err="1"/>
              <a:t>br</a:t>
            </a:r>
            <a:r>
              <a:rPr lang="en-CA" dirty="0"/>
              <a:t>&gt;</a:t>
            </a:r>
            <a:br>
              <a:rPr lang="en-CA" dirty="0"/>
            </a:br>
            <a:r>
              <a:rPr lang="en-CA" dirty="0"/>
              <a:t>  	&lt;input type="submit" value="Submit"&gt;</a:t>
            </a:r>
            <a:br>
              <a:rPr lang="en-CA" dirty="0"/>
            </a:br>
            <a:r>
              <a:rPr lang="en-CA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2869899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the input tag in a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41030"/>
          </a:xfrm>
        </p:spPr>
        <p:txBody>
          <a:bodyPr/>
          <a:lstStyle/>
          <a:p>
            <a:r>
              <a:rPr lang="en-CA" dirty="0"/>
              <a:t>The </a:t>
            </a:r>
            <a:r>
              <a:rPr lang="en-CA" b="1" dirty="0"/>
              <a:t>&lt;input&gt;</a:t>
            </a:r>
            <a:r>
              <a:rPr lang="en-CA" dirty="0"/>
              <a:t> element is the most important </a:t>
            </a:r>
            <a:r>
              <a:rPr lang="en-CA" b="1" dirty="0"/>
              <a:t>form element</a:t>
            </a:r>
            <a:r>
              <a:rPr lang="en-CA" dirty="0"/>
              <a:t>.</a:t>
            </a:r>
          </a:p>
          <a:p>
            <a:r>
              <a:rPr lang="en-CA" dirty="0"/>
              <a:t>The &lt;input&gt; element has many variations, depending on the </a:t>
            </a:r>
            <a:r>
              <a:rPr lang="en-CA" b="1" dirty="0"/>
              <a:t>type</a:t>
            </a:r>
            <a:r>
              <a:rPr lang="en-CA" dirty="0"/>
              <a:t> attribute</a:t>
            </a:r>
          </a:p>
          <a:p>
            <a:endParaRPr lang="en-CA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623945"/>
            <a:ext cx="10515600" cy="15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623945"/>
            <a:ext cx="10515600" cy="15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95366"/>
              </p:ext>
            </p:extLst>
          </p:nvPr>
        </p:nvGraphicFramePr>
        <p:xfrm>
          <a:off x="838200" y="3745498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073">
                  <a:extLst>
                    <a:ext uri="{9D8B030D-6E8A-4147-A177-3AD203B41FA5}">
                      <a16:colId xmlns:a16="http://schemas.microsoft.com/office/drawing/2014/main" val="3798558756"/>
                    </a:ext>
                  </a:extLst>
                </a:gridCol>
                <a:gridCol w="8236527">
                  <a:extLst>
                    <a:ext uri="{9D8B030D-6E8A-4147-A177-3AD203B41FA5}">
                      <a16:colId xmlns:a16="http://schemas.microsoft.com/office/drawing/2014/main" val="2346490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536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normal text input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32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radio button input (for selecting one of many choices)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a submit button (for submitting the form)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439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a password field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checkbox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a checkbox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46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0" dirty="0"/>
                        <a:t>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/>
                        <a:t>D</a:t>
                      </a: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efines a button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457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11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1513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HTML</vt:lpstr>
      <vt:lpstr>What is HTML </vt:lpstr>
      <vt:lpstr>HTML tags </vt:lpstr>
      <vt:lpstr>Starting an HTML page</vt:lpstr>
      <vt:lpstr>Core HTML tags</vt:lpstr>
      <vt:lpstr>Example</vt:lpstr>
      <vt:lpstr>HTML Basics </vt:lpstr>
      <vt:lpstr>HTML Basics (continued)</vt:lpstr>
      <vt:lpstr>How to write a tag</vt:lpstr>
      <vt:lpstr>Nested elements</vt:lpstr>
      <vt:lpstr>HTML Attributes</vt:lpstr>
      <vt:lpstr>HTML Attributes (Examples)</vt:lpstr>
      <vt:lpstr>The HTML Style Attribute</vt:lpstr>
      <vt:lpstr>Script tag</vt:lpstr>
      <vt:lpstr>HTML Comment Tags</vt:lpstr>
      <vt:lpstr>Frequently used HTML tags</vt:lpstr>
      <vt:lpstr>Frequently used HTML Form tags</vt:lpstr>
      <vt:lpstr>Working with Forms</vt:lpstr>
      <vt:lpstr>Working with Forms (continued)</vt:lpstr>
      <vt:lpstr>Working with Forms (continued)</vt:lpstr>
      <vt:lpstr>Using the input tag in a Form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Ronald Raphael</dc:creator>
  <cp:lastModifiedBy>Ronald Raphael</cp:lastModifiedBy>
  <cp:revision>78</cp:revision>
  <dcterms:created xsi:type="dcterms:W3CDTF">2016-02-11T12:39:09Z</dcterms:created>
  <dcterms:modified xsi:type="dcterms:W3CDTF">2020-08-26T18:23:25Z</dcterms:modified>
</cp:coreProperties>
</file>