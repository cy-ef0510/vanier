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66" r:id="rId4"/>
    <p:sldId id="267" r:id="rId5"/>
    <p:sldId id="334" r:id="rId6"/>
    <p:sldId id="335" r:id="rId7"/>
    <p:sldId id="336" r:id="rId8"/>
    <p:sldId id="337" r:id="rId9"/>
    <p:sldId id="338" r:id="rId10"/>
    <p:sldId id="270" r:id="rId11"/>
    <p:sldId id="320" r:id="rId12"/>
    <p:sldId id="321" r:id="rId13"/>
    <p:sldId id="319" r:id="rId14"/>
    <p:sldId id="342" r:id="rId15"/>
    <p:sldId id="344" r:id="rId16"/>
    <p:sldId id="341" r:id="rId17"/>
    <p:sldId id="300" r:id="rId18"/>
  </p:sldIdLst>
  <p:sldSz cx="9144000" cy="6858000" type="screen4x3"/>
  <p:notesSz cx="7010400" cy="9236075"/>
  <p:custDataLst>
    <p:tags r:id="rId20"/>
  </p:custDataLst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18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" d="100"/>
          <a:sy n="10" d="100"/>
        </p:scale>
        <p:origin x="-102" y="-2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Header Placeholder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 altLang="en-US"/>
          </a:p>
        </p:txBody>
      </p:sp>
      <p:sp>
        <p:nvSpPr>
          <p:cNvPr id="4099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2A96C3C3-AE9A-4006-BA3B-841CCC3B9BCD}" type="datetime1">
              <a:rPr lang="en-US" altLang="en-US"/>
              <a:pPr/>
              <a:t>2/1/2021</a:t>
            </a:fld>
            <a:endParaRPr lang="en-US" altLang="en-US"/>
          </a:p>
        </p:txBody>
      </p:sp>
      <p:sp>
        <p:nvSpPr>
          <p:cNvPr id="4100" name="Slide Image Placeholder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Notes Placeholder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2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 altLang="en-US"/>
          </a:p>
        </p:txBody>
      </p:sp>
      <p:sp>
        <p:nvSpPr>
          <p:cNvPr id="4103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8" tIns="45714" rIns="91428" bIns="45714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4F82441-9190-428E-9785-5E1E8DCF9F5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0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A5277F62-215C-443A-ADDE-A388F4892CE1}" type="slidenum">
              <a:rPr lang="en-US" altLang="en-US"/>
              <a:pPr eaLnBrk="0" hangingPunct="0"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12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13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CA016566-5874-4703-A3E7-A389768EE5C9}" type="slidenum">
              <a:rPr lang="en-US" altLang="en-US"/>
              <a:pPr eaLnBrk="0" hangingPunct="0"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1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1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B72EF82F-847E-4EF0-9F34-E1A916CB4024}" type="slidenum">
              <a:rPr lang="en-US" altLang="en-US"/>
              <a:pPr eaLnBrk="0" hangingPunct="0"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1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22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23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880D3E21-EF6E-4E65-8740-D0F9D252449D}" type="slidenum">
              <a:rPr lang="en-US" altLang="en-US"/>
              <a:pPr eaLnBrk="0" hangingPunct="0"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2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2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8AAA1D23-92D2-423C-814B-E0BC5F4919BC}" type="slidenum">
              <a:rPr lang="en-US" altLang="en-US"/>
              <a:pPr eaLnBrk="0" hangingPunct="0"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1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32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33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C864F84E-2D46-44F8-841C-001D501068E3}" type="slidenum">
              <a:rPr lang="en-US" altLang="en-US"/>
              <a:pPr eaLnBrk="0" hangingPunct="0"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3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3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CDC569B9-C8A2-413B-A1AB-17BDA006678E}" type="slidenum">
              <a:rPr lang="en-US" altLang="en-US"/>
              <a:pPr eaLnBrk="0" hangingPunct="0"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1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42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43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08F70320-2807-4F1F-9A3A-DFF065EBB3E9}" type="slidenum">
              <a:rPr lang="en-US" altLang="en-US"/>
              <a:pPr eaLnBrk="0" hangingPunct="0"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4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4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376D480A-43C9-4A10-9D1A-4183F7238684}" type="slidenum">
              <a:rPr lang="en-US" altLang="en-US"/>
              <a:pPr eaLnBrk="0" hangingPunct="0"/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1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52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53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AEEA49FA-CC26-4C0D-923A-AA8D5D1438CB}" type="slidenum">
              <a:rPr lang="en-US" altLang="en-US"/>
              <a:pPr eaLnBrk="0" hangingPunct="0"/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5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5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D5A4659B-AE9C-47B0-9953-FA020A345DB6}" type="slidenum">
              <a:rPr lang="en-US" altLang="en-US"/>
              <a:pPr eaLnBrk="0" hangingPunct="0"/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1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62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63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FF913474-C819-4C25-B3CF-E1E65E13CA83}" type="slidenum">
              <a:rPr lang="en-US" altLang="en-US"/>
              <a:pPr eaLnBrk="0" hangingPunct="0"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6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6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4BCA877C-83BD-4695-8A8E-D5AE77BD61B0}" type="slidenum">
              <a:rPr lang="en-US" altLang="en-US"/>
              <a:pPr eaLnBrk="0" hangingPunct="0"/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1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72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73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F8CE2B83-1FA1-4A18-8AA8-11B8C7678579}" type="slidenum">
              <a:rPr lang="en-US" altLang="en-US"/>
              <a:pPr eaLnBrk="0" hangingPunct="0"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7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7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884B1294-3CEB-42F9-A5C5-1ED74216DAD4}" type="slidenum">
              <a:rPr lang="en-US" altLang="en-US"/>
              <a:pPr eaLnBrk="0" hangingPunct="0"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1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82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83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1BCD5DBD-C41A-4812-8942-B6375D5D8BF4}" type="slidenum">
              <a:rPr lang="en-US" altLang="en-US">
                <a:solidFill>
                  <a:srgbClr val="000000"/>
                </a:solidFill>
              </a:rPr>
              <a:pPr eaLnBrk="0" hangingPunct="0"/>
              <a:t>16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7163" y="1154113"/>
            <a:ext cx="4156075" cy="3117850"/>
          </a:xfrm>
          <a:prstGeom prst="rect">
            <a:avLst/>
          </a:prstGeom>
          <a:noFill/>
          <a:ln w="12700" cap="flat" algn="ctr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8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45000"/>
            <a:ext cx="5607050" cy="363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88" name="Slide Number Placeholder 3"/>
          <p:cNvSpPr>
            <a:spLocks noGrp="1" noChangeArrowheads="1"/>
          </p:cNvSpPr>
          <p:nvPr/>
        </p:nvSpPr>
        <p:spPr bwMode="auto">
          <a:xfrm>
            <a:off x="3970338" y="8772525"/>
            <a:ext cx="30384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fld id="{0486516D-61E2-49CF-941F-1DE3E70451ED}" type="slidenum">
              <a:rPr lang="en-US" altLang="en-US"/>
              <a:pPr eaLnBrk="0" hangingPunct="0"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ight Triangle 3"/>
          <p:cNvSpPr>
            <a:spLocks noChangeArrowheads="1"/>
          </p:cNvSpPr>
          <p:nvPr/>
        </p:nvSpPr>
        <p:spPr bwMode="auto">
          <a:xfrm>
            <a:off x="0" y="4664075"/>
            <a:ext cx="9150350" cy="0"/>
          </a:xfrm>
          <a:prstGeom prst="rtTriangle">
            <a:avLst/>
          </a:prstGeom>
          <a:gradFill rotWithShape="1">
            <a:gsLst>
              <a:gs pos="0">
                <a:srgbClr val="007897"/>
              </a:gs>
              <a:gs pos="54999">
                <a:srgbClr val="4ABBE0"/>
              </a:gs>
              <a:gs pos="100000">
                <a:srgbClr val="007897"/>
              </a:gs>
            </a:gsLst>
            <a:lin ang="3000000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 cmpd="thickThin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/>
            <a:endParaRPr lang="en-US" altLang="en-US"/>
          </a:p>
        </p:txBody>
      </p:sp>
      <p:grpSp>
        <p:nvGrpSpPr>
          <p:cNvPr id="2051" name="Group 3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2052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/>
              <a:gdLst>
                <a:gd name="T0" fmla="*/ 4697 w 4697"/>
                <a:gd name="T1" fmla="*/ 0 h 367"/>
                <a:gd name="T2" fmla="*/ 4697 w 4697"/>
                <a:gd name="T3" fmla="*/ 367 h 367"/>
                <a:gd name="T4" fmla="*/ 0 w 4697"/>
                <a:gd name="T5" fmla="*/ 218 h 367"/>
                <a:gd name="T6" fmla="*/ 4697 w 4697"/>
                <a:gd name="T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FCBDC">
                <a:alpha val="39999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/>
              <a:endParaRPr lang="en-US" altLang="en-US">
                <a:latin typeface="Lucida Sans Unicode" panose="020B0602030504020204" pitchFamily="34" charset="0"/>
              </a:endParaRPr>
            </a:p>
          </p:txBody>
        </p:sp>
        <p:sp>
          <p:nvSpPr>
            <p:cNvPr id="2053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5760 w 5760"/>
                <a:gd name="T3" fmla="*/ 0 h 528"/>
                <a:gd name="T4" fmla="*/ 5760 w 5760"/>
                <a:gd name="T5" fmla="*/ 528 h 528"/>
                <a:gd name="T6" fmla="*/ 48 w 5760"/>
                <a:gd name="T7" fmla="*/ 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/>
              <a:endParaRPr lang="en-US" altLang="en-US">
                <a:latin typeface="Lucida Sans Unicode" panose="020B0602030504020204" pitchFamily="34" charset="0"/>
              </a:endParaRPr>
            </a:p>
          </p:txBody>
        </p:sp>
        <p:sp>
          <p:nvSpPr>
            <p:cNvPr id="2054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/>
              <a:gdLst>
                <a:gd name="T0" fmla="*/ 0 w 5760"/>
                <a:gd name="T1" fmla="*/ 0 h 1248"/>
                <a:gd name="T2" fmla="*/ 0 w 5760"/>
                <a:gd name="T3" fmla="*/ 1248 h 1248"/>
                <a:gd name="T4" fmla="*/ 5760 w 5760"/>
                <a:gd name="T5" fmla="*/ 1248 h 1248"/>
                <a:gd name="T6" fmla="*/ 5760 w 5760"/>
                <a:gd name="T7" fmla="*/ 528 h 1248"/>
                <a:gd name="T8" fmla="*/ 0 w 5760"/>
                <a:gd name="T9" fmla="*/ 0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>
                <a:alphaModFix amt="50000"/>
              </a:blip>
              <a:srcRect/>
              <a:tile tx="0" ty="0" sx="100000" sy="100000" flip="none" algn="tl"/>
            </a:blip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12700" cap="rnd" cmpd="thickThin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anchor="ctr"/>
            <a:lstStyle/>
            <a:p>
              <a:pPr algn="ctr" eaLnBrk="0" hangingPunct="0"/>
              <a:endParaRPr lang="en-US" altLang="en-US"/>
            </a:p>
          </p:txBody>
        </p:sp>
        <p:sp>
          <p:nvSpPr>
            <p:cNvPr id="2055" name="Straight Connector 9"/>
            <p:cNvSpPr>
              <a:spLocks noChangeShapeType="1"/>
            </p:cNvSpPr>
            <p:nvPr/>
          </p:nvSpPr>
          <p:spPr bwMode="auto">
            <a:xfrm>
              <a:off x="-3765" y="4880373"/>
              <a:ext cx="9147765" cy="839943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06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56" name="Title 8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830388"/>
          </a:xfrm>
        </p:spPr>
        <p:txBody>
          <a:bodyPr anchor="b"/>
          <a:lstStyle>
            <a:lvl1pPr algn="r"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057" name="Subtitle 16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611563"/>
            <a:ext cx="7772400" cy="1200150"/>
          </a:xfrm>
        </p:spPr>
        <p:txBody>
          <a:bodyPr lIns="45720" rIns="45720"/>
          <a:lstStyle>
            <a:lvl1pPr marL="0" indent="0" algn="r">
              <a:buFont typeface="Wingdings 3" panose="05040102010807070707" pitchFamily="18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58" name="Footer Placeholder 18"/>
          <p:cNvSpPr>
            <a:spLocks noGrp="1" noChangeArrowheads="1"/>
          </p:cNvSpPr>
          <p:nvPr>
            <p:ph type="ftr" sz="quarter" idx="2"/>
          </p:nvPr>
        </p:nvSpPr>
        <p:spPr>
          <a:xfrm>
            <a:off x="6294438" y="6416675"/>
            <a:ext cx="2351087" cy="365125"/>
          </a:xfrm>
        </p:spPr>
        <p:txBody>
          <a:bodyPr anchor="t"/>
          <a:lstStyle>
            <a:lvl1pPr algn="l" eaLnBrk="0" hangingPunct="0">
              <a:defRPr sz="18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  <a:p>
            <a:r>
              <a:rPr lang="en-US" altLang="en-US"/>
              <a:t>K. Lorenc - Last updated 2016/08/01</a:t>
            </a:r>
          </a:p>
          <a:p>
            <a:endParaRPr lang="en-US" altLang="en-US"/>
          </a:p>
        </p:txBody>
      </p:sp>
      <p:sp>
        <p:nvSpPr>
          <p:cNvPr id="2059" name="Slide Number Placeholder 26"/>
          <p:cNvSpPr>
            <a:spLocks noGrp="1" noChangeArrowheads="1"/>
          </p:cNvSpPr>
          <p:nvPr>
            <p:ph type="sldNum" sz="quarter" idx="3"/>
          </p:nvPr>
        </p:nvSpPr>
        <p:spPr/>
        <p:txBody>
          <a:bodyPr anchor="t"/>
          <a:lstStyle>
            <a:lvl1pPr algn="l" eaLnBrk="0" hangingPunct="0">
              <a:defRPr sz="18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fld id="{46CD7EC2-FA51-4E46-A30C-66888A7A9C3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94B0056-9A88-4B52-AE5F-CB09F7AC09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402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2C6889A-7234-417C-B120-A3B90A9E0E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350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138"/>
            <a:ext cx="4038600" cy="4525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138"/>
            <a:ext cx="4038600" cy="4525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6F7F06-ECAC-48C8-90E8-CDBDB9C794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956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0C9A4D8-C921-4D20-912D-5936D6A0E0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7234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03FDCCD-6F59-4501-AE49-CEC79971F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0597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6B7BDB-1290-4788-8570-F734656BA0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37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CBEA02-2B21-4BB3-9DD8-2C87E5BF34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96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3F04E92-9FD9-4B7E-A918-C18FB1CEB4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687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8E89BAD-A9FF-4890-B97A-D96E370384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580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732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7324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K. Lorenc - Last updated 2016/08/01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DD0EF0A-668D-42A9-83A0-CD61844C40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736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/>
            <a:gdLst>
              <a:gd name="T0" fmla="*/ 0 w 7485"/>
              <a:gd name="T1" fmla="*/ 2 h 337"/>
              <a:gd name="T2" fmla="*/ 7485 w 7485"/>
              <a:gd name="T3" fmla="*/ 337 h 337"/>
              <a:gd name="T4" fmla="*/ 5558 w 7485"/>
              <a:gd name="T5" fmla="*/ 337 h 337"/>
              <a:gd name="T6" fmla="*/ 1 w 7485"/>
              <a:gd name="T7" fmla="*/ 0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US" altLang="en-US">
              <a:latin typeface="Lucida Sans Unicode" panose="020B0602030504020204" pitchFamily="34" charset="0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591 w 5591"/>
              <a:gd name="T3" fmla="*/ 585 h 588"/>
              <a:gd name="T4" fmla="*/ 4415 w 5591"/>
              <a:gd name="T5" fmla="*/ 588 h 588"/>
              <a:gd name="T6" fmla="*/ 12 w 5591"/>
              <a:gd name="T7" fmla="*/ 4 h 5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en-US" altLang="en-US">
              <a:latin typeface="Lucida Sans Unicode" panose="020B0602030504020204" pitchFamily="34" charset="0"/>
            </a:endParaRPr>
          </a:p>
        </p:txBody>
      </p:sp>
      <p:sp>
        <p:nvSpPr>
          <p:cNvPr id="1028" name="Right Triangle 13"/>
          <p:cNvSpPr>
            <a:spLocks noChangeArrowheads="1"/>
          </p:cNvSpPr>
          <p:nvPr/>
        </p:nvSpPr>
        <p:spPr bwMode="auto">
          <a:xfrm>
            <a:off x="-6350" y="5791200"/>
            <a:ext cx="3402013" cy="1081088"/>
          </a:xfrm>
          <a:prstGeom prst="rtTriangle">
            <a:avLst/>
          </a:prstGeom>
          <a:blipFill dpi="0" rotWithShape="0">
            <a:blip r:embed="rId13">
              <a:alphaModFix amt="50000"/>
            </a:blip>
            <a:srcRect/>
            <a:tile tx="0" ty="0" sx="100000" sy="100000" flip="none" algn="tl"/>
          </a:blip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 cap="rnd" cmpd="thickThin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en-US" altLang="en-US"/>
          </a:p>
        </p:txBody>
      </p:sp>
      <p:sp>
        <p:nvSpPr>
          <p:cNvPr id="1029" name="Straight Connector 14"/>
          <p:cNvSpPr>
            <a:spLocks noChangeShapeType="1"/>
          </p:cNvSpPr>
          <p:nvPr/>
        </p:nvSpPr>
        <p:spPr bwMode="auto">
          <a:xfrm>
            <a:off x="-9525" y="5788025"/>
            <a:ext cx="3405188" cy="108426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06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0" name="Title Placeholder 8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Text Placeholder 2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2" name="Footer Placeholder 21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296025" y="6405563"/>
            <a:ext cx="23510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en-US"/>
              <a:t>K. Lorenc - Last updated 2016/08/01 </a:t>
            </a:r>
          </a:p>
        </p:txBody>
      </p:sp>
      <p:sp>
        <p:nvSpPr>
          <p:cNvPr id="1033" name="Slide Number Placeholder 17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F7E6EB43-F9FB-49D5-AB8D-74847D6F5BD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cs typeface="Arial" panose="020B0604020202020204" pitchFamily="34" charset="0"/>
        </a:defRPr>
      </a:lvl9pPr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SzPct val="68000"/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Title 1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533400"/>
            <a:ext cx="7772400" cy="3581400"/>
          </a:xfrm>
          <a:ln/>
        </p:spPr>
        <p:txBody>
          <a:bodyPr anchor="t"/>
          <a:lstStyle/>
          <a:p>
            <a:pPr algn="ctr" eaLnBrk="1" hangingPunct="1"/>
            <a:r>
              <a:rPr lang="en-US" altLang="en-US" sz="4800">
                <a:solidFill>
                  <a:schemeClr val="tx1"/>
                </a:solidFill>
                <a:latin typeface="Arial" panose="020B0604020202020204" pitchFamily="34" charset="0"/>
              </a:rPr>
              <a:t>HTML5 Layout</a:t>
            </a:r>
            <a:br>
              <a:rPr lang="en-US" altLang="en-US" sz="480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sz="4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63" name="Subtit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685800" y="4267200"/>
            <a:ext cx="7772400" cy="544513"/>
          </a:xfrm>
          <a:ln/>
        </p:spPr>
        <p:txBody>
          <a:bodyPr/>
          <a:lstStyle/>
          <a:p>
            <a:pPr marL="0" indent="0" algn="r" eaLnBrk="1" hangingPunct="1">
              <a:lnSpc>
                <a:spcPct val="80000"/>
              </a:lnSpc>
              <a:buFont typeface="Wingdings 3" panose="05040102010807070707" pitchFamily="18" charset="2"/>
              <a:buNone/>
            </a:pPr>
            <a:endParaRPr lang="en-US" altLang="en-US" sz="19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indent="0" algn="r" eaLnBrk="1" hangingPunct="1">
              <a:lnSpc>
                <a:spcPct val="80000"/>
              </a:lnSpc>
              <a:buFont typeface="Wingdings 3" panose="05040102010807070707" pitchFamily="18" charset="2"/>
              <a:buNone/>
            </a:pPr>
            <a:endParaRPr lang="en-US" altLang="en-US" sz="19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067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</p:spPr>
        <p:txBody>
          <a:bodyPr/>
          <a:lstStyle/>
          <a:p>
            <a:pPr marL="508000" indent="-400050"/>
            <a:endParaRPr lang="en-US" altLang="en-US" sz="2000"/>
          </a:p>
          <a:p>
            <a:pPr marL="508000" indent="-400050"/>
            <a:r>
              <a:rPr lang="en-US" altLang="en-US" sz="2000"/>
              <a:t>HTML5 is introducing a new set of elements that help define the structure of a page</a:t>
            </a:r>
          </a:p>
          <a:p>
            <a:pPr marL="508000" indent="-400050"/>
            <a:endParaRPr lang="en-US" altLang="en-US" sz="2000"/>
          </a:p>
          <a:p>
            <a:pPr marL="508000" indent="-400050"/>
            <a:r>
              <a:rPr lang="en-US" altLang="en-US" sz="2000"/>
              <a:t>HTML5 layout elements and their uses</a:t>
            </a:r>
          </a:p>
          <a:p>
            <a:pPr marL="508000" indent="-400050"/>
            <a:endParaRPr lang="ru-RU" altLang="en-US" sz="2000"/>
          </a:p>
          <a:p>
            <a:pPr marL="508000" indent="-400050"/>
            <a:r>
              <a:rPr lang="en-US" altLang="en-US" sz="2000"/>
              <a:t>How they offer helpful alternatives to the </a:t>
            </a:r>
            <a:r>
              <a:rPr lang="en-US" altLang="en-US" sz="2000" b="1"/>
              <a:t>&lt;div&gt; </a:t>
            </a:r>
            <a:r>
              <a:rPr lang="en-US" altLang="en-US" sz="2000"/>
              <a:t>element</a:t>
            </a:r>
            <a:endParaRPr lang="ru-RU" altLang="en-US" sz="2000"/>
          </a:p>
          <a:p>
            <a:pPr marL="508000" indent="-400050"/>
            <a:endParaRPr lang="en-US" altLang="en-US" sz="2000"/>
          </a:p>
          <a:p>
            <a:pPr marL="508000" indent="-400050"/>
            <a:r>
              <a:rPr lang="en-US" altLang="en-US" sz="2000"/>
              <a:t>How old browsers understand new elements</a:t>
            </a:r>
            <a:endParaRPr lang="ru-RU" altLang="en-US" sz="2000"/>
          </a:p>
          <a:p>
            <a:pPr marL="508000" indent="-400050"/>
            <a:endParaRPr lang="ru-RU" altLang="en-US" sz="2000"/>
          </a:p>
          <a:p>
            <a:pPr marL="508000" indent="-400050"/>
            <a:r>
              <a:rPr lang="en-US" altLang="en-US" sz="2000"/>
              <a:t>Styling HTML5 layout elements with CSS</a:t>
            </a:r>
            <a:endParaRPr lang="ru-RU" altLang="en-US" sz="1600"/>
          </a:p>
          <a:p>
            <a:pPr marL="508000" indent="-400050"/>
            <a:endParaRPr lang="ru-RU" altLang="en-US" sz="1600"/>
          </a:p>
          <a:p>
            <a:pPr marL="508000" indent="-400050"/>
            <a:endParaRPr lang="ru-RU" altLang="en-US" sz="2000"/>
          </a:p>
          <a:p>
            <a:pPr marL="508000" indent="-400050"/>
            <a:endParaRPr lang="en-US" altLang="en-US" sz="2000"/>
          </a:p>
          <a:p>
            <a:pPr marL="508000" indent="-400050"/>
            <a:endParaRPr lang="en-US" altLang="en-US" sz="2000" b="1"/>
          </a:p>
          <a:p>
            <a:pPr marL="508000" indent="-400050" eaLnBrk="1" hangingPunct="1">
              <a:buFont typeface="Wingdings 3" panose="05040102010807070707" pitchFamily="18" charset="2"/>
              <a:buNone/>
            </a:pPr>
            <a:endParaRPr lang="en-US" altLang="en-US" sz="1400"/>
          </a:p>
          <a:p>
            <a:pPr marL="508000" indent="-400050" eaLnBrk="1" hangingPunct="1">
              <a:buFont typeface="Lucida Sans Unicode" panose="020B0602030504020204" pitchFamily="34" charset="0"/>
              <a:buAutoNum type="arabicPeriod"/>
            </a:pPr>
            <a:endParaRPr lang="en-US" altLang="en-US" sz="1400"/>
          </a:p>
        </p:txBody>
      </p:sp>
      <p:sp>
        <p:nvSpPr>
          <p:cNvPr id="2068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>
                <a:solidFill>
                  <a:schemeClr val="tx1"/>
                </a:solidFill>
                <a:latin typeface="Arial" panose="020B0604020202020204" pitchFamily="34" charset="0"/>
              </a:rPr>
              <a:t>What will be covered in this section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072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648200"/>
          </a:xfrm>
          <a:ln/>
        </p:spPr>
        <p:txBody>
          <a:bodyPr/>
          <a:lstStyle/>
          <a:p>
            <a:r>
              <a:rPr lang="en-US" altLang="en-US" sz="2000"/>
              <a:t>For a long time, web page authors used </a:t>
            </a:r>
            <a:r>
              <a:rPr lang="en-US" altLang="en-US" sz="2000" b="1"/>
              <a:t>&lt;div&gt; </a:t>
            </a:r>
            <a:r>
              <a:rPr lang="en-US" altLang="en-US" sz="2000"/>
              <a:t>elements to group together related elements on the page:</a:t>
            </a:r>
          </a:p>
          <a:p>
            <a:pPr lvl="1"/>
            <a:r>
              <a:rPr lang="ru-RU" altLang="en-US" sz="1600"/>
              <a:t>Header</a:t>
            </a:r>
          </a:p>
          <a:p>
            <a:pPr lvl="1"/>
            <a:r>
              <a:rPr lang="ru-RU" altLang="en-US" sz="1600"/>
              <a:t>An article</a:t>
            </a:r>
          </a:p>
          <a:p>
            <a:pPr lvl="1"/>
            <a:r>
              <a:rPr lang="ru-RU" altLang="en-US" sz="1600"/>
              <a:t>Footer</a:t>
            </a:r>
          </a:p>
          <a:p>
            <a:pPr lvl="1"/>
            <a:r>
              <a:rPr lang="ru-RU" altLang="en-US" sz="1600"/>
              <a:t>sidebar</a:t>
            </a:r>
          </a:p>
          <a:p>
            <a:endParaRPr lang="en-US" altLang="en-US" sz="2000"/>
          </a:p>
          <a:p>
            <a:r>
              <a:rPr lang="en-US" altLang="en-US" sz="2000" b="1"/>
              <a:t>class </a:t>
            </a:r>
            <a:r>
              <a:rPr lang="en-US" altLang="en-US" sz="2000"/>
              <a:t>or </a:t>
            </a:r>
            <a:r>
              <a:rPr lang="en-US" altLang="en-US" sz="2000" b="1"/>
              <a:t>id </a:t>
            </a:r>
            <a:r>
              <a:rPr lang="en-US" altLang="en-US" sz="2000"/>
              <a:t>attributes were used to indicate the role of the </a:t>
            </a:r>
            <a:r>
              <a:rPr lang="en-US" altLang="en-US" sz="2000" b="1"/>
              <a:t>&lt;div&gt; </a:t>
            </a:r>
            <a:r>
              <a:rPr lang="en-US" altLang="en-US" sz="2000"/>
              <a:t>element in the structure of the page.</a:t>
            </a:r>
          </a:p>
          <a:p>
            <a:endParaRPr lang="ru-RU" altLang="en-US" sz="2000"/>
          </a:p>
          <a:p>
            <a:r>
              <a:rPr lang="ru-RU" altLang="en-US" sz="2000"/>
              <a:t>See example on next slide</a:t>
            </a:r>
          </a:p>
        </p:txBody>
      </p:sp>
      <p:sp>
        <p:nvSpPr>
          <p:cNvPr id="2073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>
                <a:solidFill>
                  <a:schemeClr val="tx1"/>
                </a:solidFill>
                <a:latin typeface="Arial" panose="020B0604020202020204" pitchFamily="34" charset="0"/>
              </a:rPr>
              <a:t>Traditional HTML Layouts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077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800600"/>
          </a:xfrm>
          <a:ln/>
        </p:spPr>
        <p:txBody>
          <a:bodyPr/>
          <a:lstStyle/>
          <a:p>
            <a:pPr marL="366713" lvl="1" indent="-1588" eaLnBrk="1" hangingPunct="1">
              <a:buFont typeface="Verdana" panose="020B0604030504040204" pitchFamily="34" charset="0"/>
              <a:buNone/>
            </a:pPr>
            <a:r>
              <a:rPr lang="en-US" altLang="en-US" sz="1600"/>
              <a:t> </a:t>
            </a:r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/>
          </a:p>
        </p:txBody>
      </p:sp>
      <p:sp>
        <p:nvSpPr>
          <p:cNvPr id="2078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>
                <a:solidFill>
                  <a:schemeClr val="tx1"/>
                </a:solidFill>
                <a:latin typeface="Arial" panose="020B0604020202020204" pitchFamily="34" charset="0"/>
              </a:rPr>
              <a:t>Traditional HTML Layouts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080" name="Picture 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1092200"/>
            <a:ext cx="6048375" cy="500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083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800600"/>
          </a:xfrm>
          <a:ln/>
        </p:spPr>
        <p:txBody>
          <a:bodyPr/>
          <a:lstStyle/>
          <a:p>
            <a:pPr marL="107950" indent="0"/>
            <a:r>
              <a:rPr lang="en-US" altLang="en-US" sz="2000"/>
              <a:t>HTML5 introduces a new set of elements that allow you to divide up the parts of a page</a:t>
            </a:r>
          </a:p>
          <a:p>
            <a:pPr marL="107950" indent="0"/>
            <a:endParaRPr lang="ru-RU" altLang="en-US" sz="2000"/>
          </a:p>
          <a:p>
            <a:pPr marL="107950" indent="0"/>
            <a:r>
              <a:rPr lang="en-US" altLang="en-US" sz="2000"/>
              <a:t>The names of these elements indicate the kind of content you will find in them.</a:t>
            </a:r>
          </a:p>
          <a:p>
            <a:pPr marL="107950" indent="0"/>
            <a:endParaRPr lang="ru-RU" altLang="en-US" sz="2000"/>
          </a:p>
          <a:p>
            <a:pPr marL="107950" indent="0"/>
            <a:r>
              <a:rPr lang="en-US" altLang="en-US" sz="2000"/>
              <a:t>The example on the next slide has exactly the same structure as seen on the previous page. However, many of the </a:t>
            </a:r>
            <a:r>
              <a:rPr lang="en-US" altLang="en-US" sz="2000" b="1"/>
              <a:t>&lt;div&gt; </a:t>
            </a:r>
            <a:r>
              <a:rPr lang="en-US" altLang="en-US" sz="2000"/>
              <a:t>elements have been replaced by new HTML5 layout elements.</a:t>
            </a:r>
          </a:p>
          <a:p>
            <a:pPr marL="107950" indent="0"/>
            <a:endParaRPr lang="ru-RU" altLang="en-US" sz="2000"/>
          </a:p>
          <a:p>
            <a:pPr marL="107950" indent="0"/>
            <a:r>
              <a:rPr lang="en-US" altLang="en-US" sz="2000"/>
              <a:t>For example, the header sits inside a new </a:t>
            </a:r>
            <a:r>
              <a:rPr lang="en-US" altLang="en-US" sz="2000" b="1"/>
              <a:t>&lt;header&gt; </a:t>
            </a:r>
            <a:r>
              <a:rPr lang="en-US" altLang="en-US" sz="2000"/>
              <a:t>element, the navigation in a </a:t>
            </a:r>
            <a:r>
              <a:rPr lang="en-US" altLang="en-US" sz="2000" b="1"/>
              <a:t>&lt;nav&gt; </a:t>
            </a:r>
            <a:r>
              <a:rPr lang="en-US" altLang="en-US" sz="2000"/>
              <a:t>element, and the articles are in individual </a:t>
            </a:r>
            <a:r>
              <a:rPr lang="en-US" altLang="en-US" sz="2000" b="1"/>
              <a:t>&lt;article&gt; </a:t>
            </a:r>
            <a:r>
              <a:rPr lang="en-US" altLang="en-US" sz="2000"/>
              <a:t>elements</a:t>
            </a:r>
          </a:p>
          <a:p>
            <a:pPr marL="107950" indent="0"/>
            <a:endParaRPr lang="ru-RU" altLang="en-US" sz="2000"/>
          </a:p>
          <a:p>
            <a:pPr marL="107950" indent="0"/>
            <a:endParaRPr lang="ru-RU" altLang="en-US" sz="1600"/>
          </a:p>
          <a:p>
            <a:pPr marL="107950" indent="0" eaLnBrk="1" hangingPunct="1">
              <a:buFont typeface="Wingdings 3" panose="05040102010807070707" pitchFamily="18" charset="2"/>
              <a:buNone/>
            </a:pPr>
            <a:endParaRPr lang="en-US" altLang="en-US" sz="160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r>
              <a:rPr lang="en-US" altLang="en-US" sz="1600"/>
              <a:t> </a:t>
            </a:r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/>
          </a:p>
        </p:txBody>
      </p:sp>
      <p:sp>
        <p:nvSpPr>
          <p:cNvPr id="2084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/>
              <a:t>New HTML5 Layout Elements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088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800600"/>
          </a:xfrm>
          <a:ln/>
        </p:spPr>
        <p:txBody>
          <a:bodyPr/>
          <a:lstStyle/>
          <a:p>
            <a:pPr marL="107950" indent="0" eaLnBrk="1" hangingPunct="1">
              <a:buFont typeface="Wingdings 3" panose="05040102010807070707" pitchFamily="18" charset="2"/>
              <a:buNone/>
            </a:pPr>
            <a:endParaRPr lang="en-US" altLang="en-US" sz="1600" dirty="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 dirty="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r>
              <a:rPr lang="en-US" altLang="en-US" sz="1600" dirty="0"/>
              <a:t> </a:t>
            </a:r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 dirty="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 dirty="0"/>
          </a:p>
        </p:txBody>
      </p:sp>
      <p:sp>
        <p:nvSpPr>
          <p:cNvPr id="2089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 dirty="0"/>
              <a:t>New HTML5 Layout Elements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091" name="Picture 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3" y="1019175"/>
            <a:ext cx="5362575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094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800600"/>
          </a:xfrm>
          <a:ln/>
        </p:spPr>
        <p:txBody>
          <a:bodyPr/>
          <a:lstStyle/>
          <a:p>
            <a:pPr marL="107950" indent="0"/>
            <a:endParaRPr lang="en-US" altLang="en-US" sz="2000" dirty="0"/>
          </a:p>
          <a:p>
            <a:pPr marL="107950" indent="0"/>
            <a:r>
              <a:rPr lang="en-US" altLang="en-US" sz="2000" dirty="0"/>
              <a:t>The </a:t>
            </a:r>
            <a:r>
              <a:rPr lang="en-US" altLang="en-US" sz="2000" b="1" dirty="0"/>
              <a:t>&lt;header&gt; </a:t>
            </a:r>
            <a:r>
              <a:rPr lang="en-US" altLang="en-US" sz="2000" dirty="0"/>
              <a:t>and </a:t>
            </a:r>
            <a:r>
              <a:rPr lang="en-US" altLang="en-US" sz="2000" b="1" dirty="0"/>
              <a:t>&lt;footer&gt; </a:t>
            </a:r>
            <a:r>
              <a:rPr lang="en-US" altLang="en-US" sz="2000" dirty="0"/>
              <a:t>elements can be used for:</a:t>
            </a:r>
          </a:p>
          <a:p>
            <a:pPr marL="366713" lvl="1" indent="-1588"/>
            <a:r>
              <a:rPr lang="en-US" altLang="en-US" sz="1600" dirty="0"/>
              <a:t>The main header or footer that appears at the top or bottom of every page on the site.</a:t>
            </a:r>
          </a:p>
          <a:p>
            <a:pPr marL="366713" lvl="1" indent="-1588"/>
            <a:r>
              <a:rPr lang="en-US" altLang="en-US" sz="1600" dirty="0"/>
              <a:t>A header or footer for an individual </a:t>
            </a:r>
            <a:r>
              <a:rPr lang="en-US" altLang="en-US" sz="1600" b="1" dirty="0"/>
              <a:t>&lt;article&gt; </a:t>
            </a:r>
            <a:r>
              <a:rPr lang="en-US" altLang="en-US" sz="1600" dirty="0"/>
              <a:t>or </a:t>
            </a:r>
            <a:r>
              <a:rPr lang="en-US" altLang="en-US" sz="1600" b="1" dirty="0"/>
              <a:t>&lt;section&gt; </a:t>
            </a:r>
            <a:r>
              <a:rPr lang="en-US" altLang="en-US" sz="1600" dirty="0"/>
              <a:t>within the page.</a:t>
            </a:r>
          </a:p>
          <a:p>
            <a:pPr marL="107950" indent="0"/>
            <a:endParaRPr lang="ru-RU" altLang="en-US" sz="2000" dirty="0"/>
          </a:p>
          <a:p>
            <a:pPr marL="107950" indent="0"/>
            <a:r>
              <a:rPr lang="en-US" altLang="en-US" sz="2000" dirty="0"/>
              <a:t>In this example below, the </a:t>
            </a:r>
            <a:r>
              <a:rPr lang="en-US" altLang="en-US" sz="2000" b="1" dirty="0"/>
              <a:t>&lt;header&gt; </a:t>
            </a:r>
            <a:r>
              <a:rPr lang="en-US" altLang="en-US" sz="2000" dirty="0"/>
              <a:t>element used to contain the site name and the main navigation. The </a:t>
            </a:r>
            <a:r>
              <a:rPr lang="en-US" altLang="en-US" sz="2000" b="1" dirty="0"/>
              <a:t>&lt;footer&gt; </a:t>
            </a:r>
            <a:r>
              <a:rPr lang="en-US" altLang="en-US" sz="2000" dirty="0"/>
              <a:t>element contains copyright information, along with links to the privacy policy and terms and conditions.</a:t>
            </a:r>
          </a:p>
          <a:p>
            <a:pPr marL="107950" indent="0"/>
            <a:endParaRPr lang="en-US" altLang="en-US" sz="2000" dirty="0"/>
          </a:p>
          <a:p>
            <a:pPr marL="107950" indent="0"/>
            <a:r>
              <a:rPr lang="en-US" altLang="en-US" sz="2000" dirty="0"/>
              <a:t>Each individual </a:t>
            </a:r>
            <a:r>
              <a:rPr lang="en-US" altLang="en-US" sz="2000" b="1" dirty="0"/>
              <a:t>&lt;article&gt; </a:t>
            </a:r>
            <a:r>
              <a:rPr lang="en-US" altLang="en-US" sz="2000" dirty="0"/>
              <a:t>and </a:t>
            </a:r>
            <a:r>
              <a:rPr lang="en-US" altLang="en-US" sz="2000" b="1" dirty="0"/>
              <a:t>&lt;section&gt; </a:t>
            </a:r>
            <a:r>
              <a:rPr lang="en-US" altLang="en-US" sz="2000" dirty="0"/>
              <a:t>element can also have its own </a:t>
            </a:r>
            <a:r>
              <a:rPr lang="en-US" altLang="en-US" sz="2000" b="1" dirty="0"/>
              <a:t>&lt;header&gt; </a:t>
            </a:r>
            <a:r>
              <a:rPr lang="en-US" altLang="en-US" sz="2000" dirty="0"/>
              <a:t>and </a:t>
            </a:r>
            <a:r>
              <a:rPr lang="en-US" altLang="en-US" sz="2000" b="1" dirty="0"/>
              <a:t>&lt;footer&gt; </a:t>
            </a:r>
            <a:r>
              <a:rPr lang="en-US" altLang="en-US" sz="2000" dirty="0"/>
              <a:t>elements</a:t>
            </a:r>
            <a:endParaRPr lang="ru-RU" altLang="en-US" sz="2000" dirty="0"/>
          </a:p>
          <a:p>
            <a:pPr marL="107950" indent="0"/>
            <a:endParaRPr lang="ru-RU" altLang="en-US" sz="2000" dirty="0"/>
          </a:p>
          <a:p>
            <a:pPr marL="107950" indent="0" eaLnBrk="1" hangingPunct="1">
              <a:buFont typeface="Wingdings 3" panose="05040102010807070707" pitchFamily="18" charset="2"/>
              <a:buNone/>
            </a:pPr>
            <a:endParaRPr lang="ru-RU" altLang="en-US" sz="1600" dirty="0"/>
          </a:p>
          <a:p>
            <a:pPr marL="107950" indent="0" eaLnBrk="1" hangingPunct="1">
              <a:buFont typeface="Wingdings 3" panose="05040102010807070707" pitchFamily="18" charset="2"/>
              <a:buNone/>
            </a:pPr>
            <a:endParaRPr lang="en-US" altLang="en-US" sz="1600" dirty="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 dirty="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r>
              <a:rPr lang="en-US" altLang="en-US" sz="1600" dirty="0"/>
              <a:t> </a:t>
            </a:r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 dirty="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 dirty="0"/>
          </a:p>
        </p:txBody>
      </p:sp>
      <p:sp>
        <p:nvSpPr>
          <p:cNvPr id="2095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/>
              <a:t>Headers and Footers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099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800600"/>
          </a:xfrm>
          <a:ln/>
        </p:spPr>
        <p:txBody>
          <a:bodyPr/>
          <a:lstStyle/>
          <a:p>
            <a:pPr marL="107950" indent="0"/>
            <a:r>
              <a:rPr lang="en-US" altLang="en-US" sz="2000"/>
              <a:t>The </a:t>
            </a:r>
            <a:r>
              <a:rPr lang="en-US" altLang="en-US" sz="2000" b="1"/>
              <a:t>&lt;nav&gt; </a:t>
            </a:r>
            <a:r>
              <a:rPr lang="en-US" altLang="en-US" sz="2000"/>
              <a:t>element is used to contain the major navigational blocks on the site such as the primary site navigation</a:t>
            </a:r>
          </a:p>
          <a:p>
            <a:pPr marL="107950" indent="0"/>
            <a:endParaRPr lang="en-US" altLang="en-US" sz="2000"/>
          </a:p>
          <a:p>
            <a:pPr marL="107950" indent="0"/>
            <a:r>
              <a:rPr lang="en-US" altLang="en-US" sz="2000"/>
              <a:t>The </a:t>
            </a:r>
            <a:r>
              <a:rPr lang="en-US" altLang="en-US" sz="2000" b="1"/>
              <a:t>&lt;article&gt; </a:t>
            </a:r>
            <a:r>
              <a:rPr lang="en-US" altLang="en-US" sz="2000"/>
              <a:t>element acts as a container for any section of a page that could stand alone</a:t>
            </a:r>
          </a:p>
          <a:p>
            <a:pPr marL="107950" indent="0"/>
            <a:endParaRPr lang="ru-RU" altLang="en-US" sz="2000"/>
          </a:p>
          <a:p>
            <a:pPr marL="107950" indent="0"/>
            <a:r>
              <a:rPr lang="en-US" altLang="en-US" sz="2000"/>
              <a:t>This could be an individual article or blog entry, a comment or forum post, or any other independent piece of content.</a:t>
            </a:r>
          </a:p>
          <a:p>
            <a:pPr marL="107950" indent="0"/>
            <a:endParaRPr lang="ru-RU" altLang="en-US" sz="2000"/>
          </a:p>
          <a:p>
            <a:pPr marL="107950" indent="0"/>
            <a:r>
              <a:rPr lang="en-US" altLang="en-US" sz="2000"/>
              <a:t>If a page contains several articles (or even summaries of several articles), then each individual article would live inside its own &lt;article&gt; element</a:t>
            </a:r>
          </a:p>
          <a:p>
            <a:pPr marL="107950" indent="0"/>
            <a:endParaRPr lang="ru-RU" altLang="en-US" sz="2000"/>
          </a:p>
          <a:p>
            <a:pPr marL="107950" indent="0"/>
            <a:r>
              <a:rPr lang="en-US" altLang="en-US" sz="2000"/>
              <a:t>The </a:t>
            </a:r>
            <a:r>
              <a:rPr lang="en-US" altLang="en-US" sz="2000" b="1"/>
              <a:t>&lt;article&gt; </a:t>
            </a:r>
            <a:r>
              <a:rPr lang="en-US" altLang="en-US" sz="2000"/>
              <a:t>elements can even be nested</a:t>
            </a:r>
          </a:p>
          <a:p>
            <a:pPr marL="107950" indent="0" eaLnBrk="1" hangingPunct="1">
              <a:buFont typeface="Wingdings 3" panose="05040102010807070707" pitchFamily="18" charset="2"/>
              <a:buNone/>
            </a:pPr>
            <a:endParaRPr lang="en-US" altLang="en-US" sz="160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r>
              <a:rPr lang="en-US" altLang="en-US" sz="1600"/>
              <a:t> </a:t>
            </a:r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/>
          </a:p>
        </p:txBody>
      </p:sp>
      <p:sp>
        <p:nvSpPr>
          <p:cNvPr id="2100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/>
              <a:t>Navigation, Articles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104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800600"/>
          </a:xfrm>
          <a:ln/>
        </p:spPr>
        <p:txBody>
          <a:bodyPr/>
          <a:lstStyle/>
          <a:p>
            <a:pPr marL="107950" indent="0"/>
            <a:r>
              <a:rPr lang="en-US" altLang="en-US" sz="2000"/>
              <a:t>The </a:t>
            </a:r>
            <a:r>
              <a:rPr lang="en-US" altLang="en-US" sz="2000" b="1"/>
              <a:t>&lt;aside&gt; </a:t>
            </a:r>
            <a:r>
              <a:rPr lang="en-US" altLang="en-US" sz="2000"/>
              <a:t>element has two purposes, depending on whether it is inside an </a:t>
            </a:r>
            <a:r>
              <a:rPr lang="en-US" altLang="en-US" sz="2000" b="1"/>
              <a:t>&lt;article&gt; </a:t>
            </a:r>
            <a:r>
              <a:rPr lang="en-US" altLang="en-US" sz="2000"/>
              <a:t>element or not</a:t>
            </a:r>
          </a:p>
          <a:p>
            <a:pPr marL="107950" indent="0"/>
            <a:endParaRPr lang="ru-RU" altLang="en-US" sz="2000"/>
          </a:p>
          <a:p>
            <a:pPr marL="107950" indent="0"/>
            <a:r>
              <a:rPr lang="en-US" altLang="en-US" sz="2000"/>
              <a:t>When the </a:t>
            </a:r>
            <a:r>
              <a:rPr lang="en-US" altLang="en-US" sz="2000" b="1"/>
              <a:t>&lt;aside&gt; </a:t>
            </a:r>
            <a:r>
              <a:rPr lang="en-US" altLang="en-US" sz="2000"/>
              <a:t>element is used inside an </a:t>
            </a:r>
            <a:r>
              <a:rPr lang="en-US" altLang="en-US" sz="2000" b="1"/>
              <a:t>&lt;article&gt; </a:t>
            </a:r>
            <a:r>
              <a:rPr lang="en-US" altLang="en-US" sz="2000"/>
              <a:t>element, it should contain information that is related to the article but not essential to its overall meaning. For example, a pullquote or glossary</a:t>
            </a:r>
          </a:p>
          <a:p>
            <a:pPr marL="107950" indent="0"/>
            <a:endParaRPr lang="ru-RU" altLang="en-US" sz="2000"/>
          </a:p>
          <a:p>
            <a:pPr marL="107950" indent="0"/>
            <a:r>
              <a:rPr lang="en-US" altLang="en-US" sz="2000"/>
              <a:t>When the </a:t>
            </a:r>
            <a:r>
              <a:rPr lang="en-US" altLang="en-US" sz="2000" b="1"/>
              <a:t>&lt;aside&gt; </a:t>
            </a:r>
            <a:r>
              <a:rPr lang="en-US" altLang="en-US" sz="2000"/>
              <a:t>element is used outside of an </a:t>
            </a:r>
            <a:r>
              <a:rPr lang="en-US" altLang="en-US" sz="2000" b="1"/>
              <a:t>&lt;article&gt; </a:t>
            </a:r>
            <a:r>
              <a:rPr lang="en-US" altLang="en-US" sz="2000"/>
              <a:t>element, it acts as a container for content that is related to the entire page</a:t>
            </a:r>
          </a:p>
          <a:p>
            <a:pPr marL="107950" indent="0"/>
            <a:endParaRPr lang="ru-RU" altLang="en-US" sz="2000"/>
          </a:p>
          <a:p>
            <a:pPr marL="107950" indent="0"/>
            <a:r>
              <a:rPr lang="en-US" altLang="en-US" sz="2000"/>
              <a:t>For example, it might contain links to other sections of the site, a list of recent posts, a search box, or recent tweets by the author</a:t>
            </a:r>
            <a:endParaRPr lang="ru-RU" altLang="en-US" sz="2000"/>
          </a:p>
          <a:p>
            <a:pPr marL="107950" indent="0" eaLnBrk="1" hangingPunct="1">
              <a:buFont typeface="Wingdings 3" panose="05040102010807070707" pitchFamily="18" charset="2"/>
              <a:buNone/>
            </a:pPr>
            <a:endParaRPr lang="en-US" altLang="en-US" sz="160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r>
              <a:rPr lang="en-US" altLang="en-US" sz="1600"/>
              <a:t> </a:t>
            </a:r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/>
          </a:p>
          <a:p>
            <a:pPr marL="366713" lvl="1" indent="-1588" eaLnBrk="1" hangingPunct="1">
              <a:buFont typeface="Verdana" panose="020B0604030504040204" pitchFamily="34" charset="0"/>
              <a:buNone/>
            </a:pPr>
            <a:endParaRPr lang="en-US" altLang="en-US" sz="1600"/>
          </a:p>
        </p:txBody>
      </p:sp>
      <p:sp>
        <p:nvSpPr>
          <p:cNvPr id="2105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>
                <a:solidFill>
                  <a:schemeClr val="tx1"/>
                </a:solidFill>
                <a:latin typeface="Arial" panose="020B0604020202020204" pitchFamily="34" charset="0"/>
              </a:rPr>
              <a:t>ASIDE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109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</p:spPr>
        <p:txBody>
          <a:bodyPr/>
          <a:lstStyle/>
          <a:p>
            <a:r>
              <a:rPr lang="en-US" altLang="en-US" sz="2000" dirty="0"/>
              <a:t>The </a:t>
            </a:r>
            <a:r>
              <a:rPr lang="en-US" altLang="en-US" sz="2000" b="1" dirty="0"/>
              <a:t>&lt;section&gt; </a:t>
            </a:r>
            <a:r>
              <a:rPr lang="en-US" altLang="en-US" sz="2000" dirty="0"/>
              <a:t>element groups related content together, and typically each section would have its own heading</a:t>
            </a:r>
          </a:p>
          <a:p>
            <a:endParaRPr lang="ru-RU" altLang="en-US" sz="2000" dirty="0"/>
          </a:p>
          <a:p>
            <a:r>
              <a:rPr lang="en-US" altLang="en-US" sz="2000" dirty="0"/>
              <a:t>For example, on a homepage there may be several </a:t>
            </a:r>
            <a:r>
              <a:rPr lang="en-US" altLang="en-US" sz="2000" b="1" dirty="0"/>
              <a:t>&lt;section&gt; </a:t>
            </a:r>
            <a:r>
              <a:rPr lang="en-US" altLang="en-US" sz="2000" dirty="0"/>
              <a:t>elements to contain different sections of the page, such as latest news, top products, and newsletter signup</a:t>
            </a:r>
          </a:p>
          <a:p>
            <a:endParaRPr lang="ru-RU" altLang="en-US" sz="2000" dirty="0"/>
          </a:p>
          <a:p>
            <a:r>
              <a:rPr lang="en-US" altLang="en-US" sz="2000" dirty="0"/>
              <a:t>Because the </a:t>
            </a:r>
            <a:r>
              <a:rPr lang="en-US" altLang="en-US" sz="2000" b="1" dirty="0"/>
              <a:t>&lt;section&gt; </a:t>
            </a:r>
            <a:r>
              <a:rPr lang="en-US" altLang="en-US" sz="2000" dirty="0"/>
              <a:t>element groups related items together, it may contain several distinct </a:t>
            </a:r>
            <a:r>
              <a:rPr lang="en-US" altLang="en-US" sz="2000" b="1" dirty="0"/>
              <a:t>&lt;article&gt; </a:t>
            </a:r>
            <a:r>
              <a:rPr lang="en-US" altLang="en-US" sz="2000" dirty="0"/>
              <a:t>elements that have a common theme or purpose</a:t>
            </a:r>
          </a:p>
          <a:p>
            <a:endParaRPr lang="ru-RU" altLang="en-US" sz="2000" dirty="0"/>
          </a:p>
          <a:p>
            <a:r>
              <a:rPr lang="en-US" altLang="en-US" sz="2000" dirty="0"/>
              <a:t>The </a:t>
            </a:r>
            <a:r>
              <a:rPr lang="en-US" altLang="en-US" sz="2000" b="1" dirty="0"/>
              <a:t>&lt;section&gt; </a:t>
            </a:r>
            <a:r>
              <a:rPr lang="en-US" altLang="en-US" sz="2000" dirty="0"/>
              <a:t>element should not be used as a wrapper for the entire page. If you want a containing element for the entire page, that job is still best left to the </a:t>
            </a:r>
            <a:r>
              <a:rPr lang="en-US" altLang="en-US" sz="2000" b="1" dirty="0"/>
              <a:t>&lt;div&gt; </a:t>
            </a:r>
            <a:r>
              <a:rPr lang="en-US" altLang="en-US" sz="2000" dirty="0"/>
              <a:t>element.</a:t>
            </a:r>
          </a:p>
        </p:txBody>
      </p:sp>
      <p:sp>
        <p:nvSpPr>
          <p:cNvPr id="2110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Sections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114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</p:spPr>
        <p:txBody>
          <a:bodyPr/>
          <a:lstStyle/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The purpose of the </a:t>
            </a:r>
            <a:r>
              <a:rPr lang="en-US" altLang="en-US" sz="2000" b="1" dirty="0"/>
              <a:t>&lt;</a:t>
            </a:r>
            <a:r>
              <a:rPr lang="en-US" altLang="en-US" sz="2000" b="1" dirty="0" err="1"/>
              <a:t>hgroup</a:t>
            </a:r>
            <a:r>
              <a:rPr lang="en-US" altLang="en-US" sz="2000" b="1" dirty="0"/>
              <a:t>&gt; </a:t>
            </a:r>
            <a:r>
              <a:rPr lang="en-US" altLang="en-US" sz="2000" dirty="0"/>
              <a:t>element is to group together a set of one or more </a:t>
            </a:r>
            <a:r>
              <a:rPr lang="en-US" altLang="en-US" sz="2000" b="1" dirty="0"/>
              <a:t>&lt;h1&gt; </a:t>
            </a:r>
            <a:r>
              <a:rPr lang="en-US" altLang="en-US" sz="2000" dirty="0"/>
              <a:t>through </a:t>
            </a:r>
            <a:r>
              <a:rPr lang="en-US" altLang="en-US" sz="2000" b="1" dirty="0"/>
              <a:t>&lt;h6&gt; </a:t>
            </a:r>
            <a:r>
              <a:rPr lang="en-US" altLang="en-US" sz="2000" dirty="0"/>
              <a:t>elements so that they are treated as one single heading</a:t>
            </a:r>
          </a:p>
          <a:p>
            <a:endParaRPr lang="ru-RU" altLang="en-US" sz="2000" dirty="0"/>
          </a:p>
          <a:p>
            <a:r>
              <a:rPr lang="en-US" altLang="en-US" sz="2000" dirty="0"/>
              <a:t>For example, the </a:t>
            </a:r>
            <a:r>
              <a:rPr lang="en-US" altLang="en-US" sz="2000" b="1" dirty="0"/>
              <a:t>&lt;</a:t>
            </a:r>
            <a:r>
              <a:rPr lang="en-US" altLang="en-US" sz="2000" b="1" dirty="0" err="1"/>
              <a:t>hgroup</a:t>
            </a:r>
            <a:r>
              <a:rPr lang="en-US" altLang="en-US" sz="2000" b="1" dirty="0"/>
              <a:t>&gt; </a:t>
            </a:r>
            <a:r>
              <a:rPr lang="en-US" altLang="en-US" sz="2000" dirty="0"/>
              <a:t>element could be used to contain both a title inside an </a:t>
            </a:r>
            <a:r>
              <a:rPr lang="en-US" altLang="en-US" sz="2000" b="1" dirty="0"/>
              <a:t>&lt;h2&gt; </a:t>
            </a:r>
            <a:r>
              <a:rPr lang="en-US" altLang="en-US" sz="2000" dirty="0"/>
              <a:t>element and a subtitle within an </a:t>
            </a:r>
            <a:r>
              <a:rPr lang="en-US" altLang="en-US" sz="2000" b="1" dirty="0"/>
              <a:t>&lt;h3&gt; </a:t>
            </a:r>
            <a:r>
              <a:rPr lang="en-US" altLang="en-US" sz="2000" dirty="0"/>
              <a:t>element.</a:t>
            </a:r>
          </a:p>
          <a:p>
            <a:endParaRPr lang="en-US" altLang="en-US" sz="2000" dirty="0"/>
          </a:p>
          <a:p>
            <a:r>
              <a:rPr lang="en-US" altLang="en-US" sz="2000" dirty="0"/>
              <a:t>it is useful to group together the primary heading and the subheading</a:t>
            </a:r>
          </a:p>
        </p:txBody>
      </p:sp>
      <p:sp>
        <p:nvSpPr>
          <p:cNvPr id="2115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/>
              <a:t>Heading Groups</a:t>
            </a:r>
            <a:endParaRPr lang="en-US" altLang="en-US" sz="28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119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</p:spPr>
        <p:txBody>
          <a:bodyPr/>
          <a:lstStyle/>
          <a:p>
            <a:r>
              <a:rPr lang="en-US" altLang="en-US" sz="1800" dirty="0"/>
              <a:t>You already met the </a:t>
            </a:r>
            <a:r>
              <a:rPr lang="en-US" altLang="en-US" sz="1800" b="1" dirty="0"/>
              <a:t>&lt;figure&gt; </a:t>
            </a:r>
            <a:r>
              <a:rPr lang="en-US" altLang="en-US" sz="1800" dirty="0"/>
              <a:t>element when we looked at images</a:t>
            </a:r>
          </a:p>
          <a:p>
            <a:endParaRPr lang="ru-RU" altLang="en-US" sz="1800" dirty="0"/>
          </a:p>
          <a:p>
            <a:r>
              <a:rPr lang="en-US" altLang="en-US" sz="1800" dirty="0"/>
              <a:t>It can be used to contain any content that is referenced from the main flow of an article</a:t>
            </a:r>
          </a:p>
          <a:p>
            <a:endParaRPr lang="ru-RU" altLang="en-US" sz="1800" dirty="0"/>
          </a:p>
          <a:p>
            <a:r>
              <a:rPr lang="en-US" altLang="en-US" sz="1800" dirty="0"/>
              <a:t>Examples of usage include:</a:t>
            </a:r>
          </a:p>
          <a:p>
            <a:pPr lvl="1"/>
            <a:r>
              <a:rPr lang="en-US" altLang="en-US" sz="1400" dirty="0"/>
              <a:t>Images</a:t>
            </a:r>
          </a:p>
          <a:p>
            <a:pPr lvl="1"/>
            <a:r>
              <a:rPr lang="en-US" altLang="en-US" sz="1400" dirty="0"/>
              <a:t>Videos</a:t>
            </a:r>
          </a:p>
          <a:p>
            <a:pPr lvl="1"/>
            <a:r>
              <a:rPr lang="en-US" altLang="en-US" sz="1400" dirty="0"/>
              <a:t>Graphs</a:t>
            </a:r>
          </a:p>
          <a:p>
            <a:pPr lvl="1"/>
            <a:r>
              <a:rPr lang="en-US" altLang="en-US" sz="1400" dirty="0"/>
              <a:t>Diagrams</a:t>
            </a:r>
          </a:p>
          <a:p>
            <a:pPr lvl="1"/>
            <a:r>
              <a:rPr lang="en-US" altLang="en-US" sz="1400" dirty="0"/>
              <a:t>Code samples</a:t>
            </a:r>
          </a:p>
          <a:p>
            <a:pPr lvl="1"/>
            <a:r>
              <a:rPr lang="en-US" altLang="en-US" sz="1400" dirty="0"/>
              <a:t>Text that supports the main</a:t>
            </a:r>
          </a:p>
          <a:p>
            <a:pPr lvl="1"/>
            <a:r>
              <a:rPr lang="en-US" altLang="en-US" sz="1400" dirty="0"/>
              <a:t>body of an article</a:t>
            </a:r>
            <a:endParaRPr lang="ru-RU" altLang="en-US" sz="1400" dirty="0"/>
          </a:p>
          <a:p>
            <a:endParaRPr lang="en-US" altLang="en-US" sz="1800" dirty="0"/>
          </a:p>
          <a:p>
            <a:r>
              <a:rPr lang="en-US" altLang="en-US" sz="1800" dirty="0"/>
              <a:t>The </a:t>
            </a:r>
            <a:r>
              <a:rPr lang="en-US" altLang="en-US" sz="1800" b="1" dirty="0"/>
              <a:t>&lt;figure&gt; </a:t>
            </a:r>
            <a:r>
              <a:rPr lang="en-US" altLang="en-US" sz="1800" dirty="0"/>
              <a:t>element should also contain a </a:t>
            </a:r>
            <a:r>
              <a:rPr lang="en-US" altLang="en-US" sz="1800" b="1" dirty="0"/>
              <a:t>&lt;</a:t>
            </a:r>
            <a:r>
              <a:rPr lang="en-US" altLang="en-US" sz="1800" b="1" dirty="0" err="1"/>
              <a:t>figcaption</a:t>
            </a:r>
            <a:r>
              <a:rPr lang="en-US" altLang="en-US" sz="1800" b="1" dirty="0"/>
              <a:t>&gt; </a:t>
            </a:r>
            <a:r>
              <a:rPr lang="en-US" altLang="en-US" sz="1800" dirty="0"/>
              <a:t>element which provides a text </a:t>
            </a:r>
            <a:r>
              <a:rPr lang="en-US" altLang="en-US" sz="1800" dirty="0" err="1"/>
              <a:t>decription</a:t>
            </a:r>
            <a:r>
              <a:rPr lang="en-US" altLang="en-US" sz="1800" dirty="0"/>
              <a:t> for the content of the </a:t>
            </a:r>
            <a:r>
              <a:rPr lang="en-US" altLang="en-US" sz="1800" b="1" dirty="0"/>
              <a:t>&lt;figure&gt; </a:t>
            </a:r>
            <a:r>
              <a:rPr lang="en-US" altLang="en-US" sz="1800" dirty="0"/>
              <a:t>element</a:t>
            </a:r>
            <a:endParaRPr lang="ru-RU" altLang="en-US" sz="1800" dirty="0"/>
          </a:p>
          <a:p>
            <a:endParaRPr lang="en-US" altLang="en-US" sz="2000" dirty="0"/>
          </a:p>
        </p:txBody>
      </p:sp>
      <p:sp>
        <p:nvSpPr>
          <p:cNvPr id="2120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/>
              <a:t>Figures</a:t>
            </a:r>
            <a:endParaRPr lang="en-US" altLang="en-US" sz="28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124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>
                <a:solidFill>
                  <a:schemeClr val="tx1"/>
                </a:solidFill>
                <a:latin typeface="Arial" panose="020B0604020202020204" pitchFamily="34" charset="0"/>
              </a:rPr>
              <a:t>Sectioning Elements &lt;div&gt;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26" name="Content Placeholder 4"/>
          <p:cNvSpPr>
            <a:spLocks noGrp="1" noChangeArrowheads="1"/>
          </p:cNvSpPr>
          <p:nvPr>
            <p:ph idx="4294967295"/>
          </p:nvPr>
        </p:nvSpPr>
        <p:spPr>
          <a:ln/>
        </p:spPr>
        <p:txBody>
          <a:bodyPr/>
          <a:lstStyle/>
          <a:p>
            <a:endParaRPr lang="en-US" altLang="en-US" sz="2000" b="1"/>
          </a:p>
          <a:p>
            <a:r>
              <a:rPr lang="en-US" altLang="en-US" sz="2000"/>
              <a:t>The </a:t>
            </a:r>
            <a:r>
              <a:rPr lang="en-US" altLang="en-US" sz="2000" b="1"/>
              <a:t>&lt;div&gt; </a:t>
            </a:r>
            <a:r>
              <a:rPr lang="en-US" altLang="en-US" sz="2000"/>
              <a:t>element will remain an important way to group together related elements</a:t>
            </a:r>
          </a:p>
          <a:p>
            <a:endParaRPr lang="ru-RU" altLang="en-US" sz="2000"/>
          </a:p>
          <a:p>
            <a:r>
              <a:rPr lang="en-US" altLang="en-US" sz="2000"/>
              <a:t>you should not be using these new elements that you have just met for purposes other than those explicitly stated</a:t>
            </a:r>
          </a:p>
          <a:p>
            <a:endParaRPr lang="ru-RU" altLang="en-US" sz="2000"/>
          </a:p>
          <a:p>
            <a:r>
              <a:rPr lang="en-US" altLang="en-US" sz="2000"/>
              <a:t>Where there is no suitable element to group a set of elements, the </a:t>
            </a:r>
            <a:r>
              <a:rPr lang="en-US" altLang="en-US" sz="2000" b="1"/>
              <a:t>&lt;div&gt; </a:t>
            </a:r>
            <a:r>
              <a:rPr lang="en-US" altLang="en-US" sz="2000"/>
              <a:t>element will still be used</a:t>
            </a:r>
          </a:p>
          <a:p>
            <a:endParaRPr lang="ru-RU" altLang="en-US" sz="2000"/>
          </a:p>
          <a:p>
            <a:r>
              <a:rPr lang="ru-RU" altLang="en-US" sz="2000"/>
              <a:t>A good example is to use the </a:t>
            </a:r>
            <a:r>
              <a:rPr lang="ru-RU" altLang="en-US" sz="2000" b="1"/>
              <a:t>&lt;div&gt; </a:t>
            </a:r>
            <a:r>
              <a:rPr lang="ru-RU" altLang="en-US" sz="2000"/>
              <a:t>element as a wrapper for the whole page</a:t>
            </a:r>
          </a:p>
          <a:p>
            <a:endParaRPr lang="en-US" altLang="en-US" sz="20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129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>
                <a:solidFill>
                  <a:schemeClr val="tx1"/>
                </a:solidFill>
                <a:latin typeface="Arial" panose="020B0604020202020204" pitchFamily="34" charset="0"/>
              </a:rPr>
              <a:t>Linking Around Block Level Elements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31" name="Content Placeholder 4"/>
          <p:cNvSpPr>
            <a:spLocks noGrp="1" noChangeArrowheads="1"/>
          </p:cNvSpPr>
          <p:nvPr>
            <p:ph idx="4294967295"/>
          </p:nvPr>
        </p:nvSpPr>
        <p:spPr>
          <a:ln/>
        </p:spPr>
        <p:txBody>
          <a:bodyPr/>
          <a:lstStyle/>
          <a:p>
            <a:endParaRPr lang="en-US" altLang="en-US" sz="2000" b="1"/>
          </a:p>
          <a:p>
            <a:endParaRPr lang="en-US" altLang="en-US" sz="2000"/>
          </a:p>
          <a:p>
            <a:r>
              <a:rPr lang="en-US" altLang="en-US" sz="2000"/>
              <a:t>HTML5 allows web page authors to place an </a:t>
            </a:r>
            <a:r>
              <a:rPr lang="en-US" altLang="en-US" sz="2000" b="1"/>
              <a:t>&lt;a&gt; </a:t>
            </a:r>
            <a:r>
              <a:rPr lang="en-US" altLang="en-US" sz="2000"/>
              <a:t>element around a block level element that contains child elements.</a:t>
            </a:r>
          </a:p>
          <a:p>
            <a:endParaRPr lang="ru-RU" altLang="en-US" sz="2000"/>
          </a:p>
          <a:p>
            <a:r>
              <a:rPr lang="en-US" altLang="en-US" sz="2000"/>
              <a:t>This allows you to turn an entire block into a link.</a:t>
            </a:r>
          </a:p>
          <a:p>
            <a:endParaRPr lang="ru-RU" altLang="en-US" sz="2000"/>
          </a:p>
          <a:p>
            <a:endParaRPr lang="en-US" altLang="en-US" sz="200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134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>
                <a:solidFill>
                  <a:schemeClr val="tx1"/>
                </a:solidFill>
                <a:latin typeface="Arial" panose="020B0604020202020204" pitchFamily="34" charset="0"/>
              </a:rPr>
              <a:t>Putting it all together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36" name="Content Placeholder 4"/>
          <p:cNvSpPr>
            <a:spLocks noGrp="1" noChangeArrowheads="1"/>
          </p:cNvSpPr>
          <p:nvPr>
            <p:ph idx="4294967295"/>
          </p:nvPr>
        </p:nvSpPr>
        <p:spPr>
          <a:ln/>
        </p:spPr>
        <p:txBody>
          <a:bodyPr/>
          <a:lstStyle/>
          <a:p>
            <a:r>
              <a:rPr lang="en-US" altLang="en-US" sz="1600" dirty="0"/>
              <a:t>This example shows a cooking site built using new HTML5 elements to describe the structure of the page</a:t>
            </a:r>
          </a:p>
          <a:p>
            <a:endParaRPr lang="ru-RU" altLang="en-US" sz="1600" dirty="0"/>
          </a:p>
          <a:p>
            <a:r>
              <a:rPr lang="en-US" altLang="en-US" sz="1600" dirty="0"/>
              <a:t>The header and footer of the page sit inside </a:t>
            </a:r>
            <a:r>
              <a:rPr lang="en-US" altLang="en-US" sz="1600" b="1" dirty="0"/>
              <a:t>&lt;header&gt; </a:t>
            </a:r>
            <a:r>
              <a:rPr lang="en-US" altLang="en-US" sz="1600" dirty="0"/>
              <a:t>and </a:t>
            </a:r>
            <a:r>
              <a:rPr lang="en-US" altLang="en-US" sz="1600" b="1" dirty="0"/>
              <a:t>&lt;footer&gt; </a:t>
            </a:r>
            <a:r>
              <a:rPr lang="en-US" altLang="en-US" sz="1600" dirty="0"/>
              <a:t>elements. The courses are grouped together inside a </a:t>
            </a:r>
            <a:r>
              <a:rPr lang="en-US" altLang="en-US" sz="1600" b="1" dirty="0"/>
              <a:t>&lt;section&gt; </a:t>
            </a:r>
            <a:r>
              <a:rPr lang="en-US" altLang="en-US" sz="1600" dirty="0"/>
              <a:t>element that has a </a:t>
            </a:r>
            <a:r>
              <a:rPr lang="en-US" altLang="en-US" sz="1600" b="1" dirty="0"/>
              <a:t>class </a:t>
            </a:r>
            <a:r>
              <a:rPr lang="en-US" altLang="en-US" sz="1600" dirty="0"/>
              <a:t>attribute whose value is </a:t>
            </a:r>
            <a:r>
              <a:rPr lang="en-US" altLang="en-US" sz="1600" b="1" dirty="0"/>
              <a:t>courses. </a:t>
            </a:r>
            <a:r>
              <a:rPr lang="en-US" altLang="en-US" sz="1600" dirty="0"/>
              <a:t>The sidebar sits inside an </a:t>
            </a:r>
            <a:r>
              <a:rPr lang="en-US" altLang="en-US" sz="1600" b="1" dirty="0"/>
              <a:t>&lt;aside&gt; </a:t>
            </a:r>
            <a:r>
              <a:rPr lang="en-US" altLang="en-US" sz="1600" dirty="0"/>
              <a:t>element.</a:t>
            </a:r>
            <a:endParaRPr lang="en-US" altLang="en-US" sz="1600" b="1" dirty="0"/>
          </a:p>
          <a:p>
            <a:endParaRPr lang="ru-RU" altLang="en-US" sz="1600" dirty="0"/>
          </a:p>
          <a:p>
            <a:r>
              <a:rPr lang="en-US" altLang="en-US" sz="1600" dirty="0"/>
              <a:t>Each of the courses lives inside an </a:t>
            </a:r>
            <a:r>
              <a:rPr lang="en-US" altLang="en-US" sz="1600" b="1" dirty="0"/>
              <a:t>&lt;article&gt; </a:t>
            </a:r>
            <a:r>
              <a:rPr lang="en-US" altLang="en-US" sz="1600" dirty="0"/>
              <a:t>element, and use the </a:t>
            </a:r>
            <a:r>
              <a:rPr lang="en-US" altLang="en-US" sz="1600" b="1" dirty="0"/>
              <a:t>&lt;figure&gt; </a:t>
            </a:r>
            <a:r>
              <a:rPr lang="en-US" altLang="en-US" sz="1600" dirty="0"/>
              <a:t>and </a:t>
            </a:r>
            <a:r>
              <a:rPr lang="en-US" altLang="en-US" sz="1600" b="1" dirty="0"/>
              <a:t>&lt;</a:t>
            </a:r>
            <a:r>
              <a:rPr lang="en-US" altLang="en-US" sz="1600" b="1" dirty="0" err="1"/>
              <a:t>figcaption</a:t>
            </a:r>
            <a:r>
              <a:rPr lang="en-US" altLang="en-US" sz="1600" b="1" dirty="0"/>
              <a:t>&gt; </a:t>
            </a:r>
            <a:r>
              <a:rPr lang="en-US" altLang="en-US" sz="1600" dirty="0"/>
              <a:t>elements to contain an image</a:t>
            </a:r>
          </a:p>
          <a:p>
            <a:endParaRPr lang="ru-RU" altLang="en-US" sz="1600" dirty="0"/>
          </a:p>
          <a:p>
            <a:r>
              <a:rPr lang="en-US" altLang="en-US" sz="1600" dirty="0"/>
              <a:t>The headings for the courses have subheadings, so these are grouped inside an </a:t>
            </a:r>
            <a:r>
              <a:rPr lang="en-US" altLang="en-US" sz="1600" b="1" dirty="0"/>
              <a:t>&lt;</a:t>
            </a:r>
            <a:r>
              <a:rPr lang="en-US" altLang="en-US" sz="1600" b="1" dirty="0" err="1"/>
              <a:t>hgroup</a:t>
            </a:r>
            <a:r>
              <a:rPr lang="en-US" altLang="en-US" sz="1600" b="1" dirty="0"/>
              <a:t>&gt; </a:t>
            </a:r>
            <a:r>
              <a:rPr lang="en-US" altLang="en-US" sz="1600" dirty="0"/>
              <a:t>element.</a:t>
            </a:r>
          </a:p>
          <a:p>
            <a:endParaRPr lang="ru-RU" alt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139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ru-RU" altLang="en-US" sz="2800">
                <a:solidFill>
                  <a:schemeClr val="tx1"/>
                </a:solidFill>
                <a:latin typeface="Arial" panose="020B0604020202020204" pitchFamily="34" charset="0"/>
              </a:rPr>
              <a:t>Summary</a:t>
            </a: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41" name="Content Placeholder 3"/>
          <p:cNvSpPr>
            <a:spLocks noGrp="1" noChangeArrowheads="1"/>
          </p:cNvSpPr>
          <p:nvPr>
            <p:ph idx="4294967295"/>
          </p:nvPr>
        </p:nvSpPr>
        <p:spPr>
          <a:ln/>
        </p:spPr>
        <p:txBody>
          <a:bodyPr/>
          <a:lstStyle/>
          <a:p>
            <a:r>
              <a:rPr lang="en-US" altLang="en-US" sz="2000"/>
              <a:t>The new HTML5 elements indicate the purpose of different parts of a web page and help to describe its structure.</a:t>
            </a:r>
          </a:p>
          <a:p>
            <a:endParaRPr lang="en-US" altLang="en-US" sz="2000"/>
          </a:p>
          <a:p>
            <a:r>
              <a:rPr lang="en-US" altLang="en-US" sz="2000"/>
              <a:t>The new elements provide clearer code (compared with using multiple </a:t>
            </a:r>
            <a:r>
              <a:rPr lang="en-US" altLang="en-US" sz="2000" b="1"/>
              <a:t>&lt;div&gt; </a:t>
            </a:r>
            <a:r>
              <a:rPr lang="en-US" altLang="en-US" sz="2000"/>
              <a:t>elements).</a:t>
            </a:r>
          </a:p>
          <a:p>
            <a:endParaRPr lang="en-US" altLang="en-US" sz="2000"/>
          </a:p>
          <a:p>
            <a:r>
              <a:rPr lang="en-US" altLang="en-US" sz="2000"/>
              <a:t>Older browsers that do not understand HTML5 elements need to be told which elements are block-level elements.</a:t>
            </a:r>
          </a:p>
          <a:p>
            <a:endParaRPr lang="en-US" altLang="en-US" sz="2000"/>
          </a:p>
          <a:p>
            <a:r>
              <a:rPr lang="en-US" altLang="en-US" sz="2000"/>
              <a:t>To make HTML5 elements work in Internet Explorer 8 (and older versions of IE), extra JavaScript is needed, which is available free from Google.</a:t>
            </a:r>
            <a:endParaRPr lang="en-US" alt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K. Lorenc - Last updated 2016/08/01 </a:t>
            </a:r>
          </a:p>
        </p:txBody>
      </p:sp>
      <p:sp>
        <p:nvSpPr>
          <p:cNvPr id="2144" name="Content Placeholder 1"/>
          <p:cNvSpPr>
            <a:spLocks noGrp="1" noChangeArrowheads="1"/>
          </p:cNvSpPr>
          <p:nvPr>
            <p:ph idx="4294967295"/>
          </p:nvPr>
        </p:nvSpPr>
        <p:spPr>
          <a:xfrm>
            <a:off x="457200" y="1066800"/>
            <a:ext cx="8229600" cy="4940300"/>
          </a:xfrm>
          <a:ln/>
        </p:spPr>
        <p:txBody>
          <a:bodyPr/>
          <a:lstStyle/>
          <a:p>
            <a:pPr marL="107950" indent="0"/>
            <a:endParaRPr lang="en-US" altLang="en-US" sz="2000"/>
          </a:p>
          <a:p>
            <a:pPr marL="107950" indent="0"/>
            <a:r>
              <a:rPr lang="en-US" altLang="en-US" sz="2000"/>
              <a:t>HTML and CSS Design and Build Websites (Jon Duckett)</a:t>
            </a:r>
          </a:p>
          <a:p>
            <a:pPr marL="107950" indent="0"/>
            <a:endParaRPr lang="en-US" altLang="en-US" sz="2000"/>
          </a:p>
          <a:p>
            <a:pPr marL="107950" indent="0"/>
            <a:r>
              <a:rPr lang="en-US" altLang="en-US" sz="2000">
                <a:hlinkClick r:id="rId3"/>
              </a:rPr>
              <a:t>http://www.w3schools.com</a:t>
            </a:r>
            <a:endParaRPr lang="en-US" altLang="en-US" sz="2000"/>
          </a:p>
          <a:p>
            <a:pPr marL="107950" indent="0"/>
            <a:endParaRPr lang="en-US" altLang="en-US" sz="2000"/>
          </a:p>
          <a:p>
            <a:pPr marL="107950" indent="0">
              <a:buFont typeface="Wingdings 3" panose="05040102010807070707" pitchFamily="18" charset="2"/>
              <a:buNone/>
            </a:pPr>
            <a:endParaRPr lang="en-US" altLang="en-US" sz="2000"/>
          </a:p>
          <a:p>
            <a:pPr marL="107950" indent="0"/>
            <a:endParaRPr lang="en-US" altLang="en-US" sz="2000"/>
          </a:p>
          <a:p>
            <a:pPr marL="107950" indent="0">
              <a:buFont typeface="Wingdings 3" panose="05040102010807070707" pitchFamily="18" charset="2"/>
              <a:buNone/>
            </a:pPr>
            <a:endParaRPr lang="en-US" altLang="en-US" sz="2000"/>
          </a:p>
          <a:p>
            <a:pPr marL="107950" indent="0"/>
            <a:endParaRPr lang="en-US" altLang="en-US" sz="2000"/>
          </a:p>
          <a:p>
            <a:pPr marL="107950" indent="0"/>
            <a:endParaRPr lang="en-US" altLang="en-US" sz="2000"/>
          </a:p>
          <a:p>
            <a:pPr marL="107950" indent="0"/>
            <a:endParaRPr lang="en-US" altLang="en-US" sz="2000"/>
          </a:p>
          <a:p>
            <a:pPr marL="107950" indent="0">
              <a:buFont typeface="Wingdings 3" panose="05040102010807070707" pitchFamily="18" charset="2"/>
              <a:buNone/>
            </a:pPr>
            <a:endParaRPr lang="en-US" altLang="en-US" sz="2000"/>
          </a:p>
        </p:txBody>
      </p:sp>
      <p:sp>
        <p:nvSpPr>
          <p:cNvPr id="2145" name="Tit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792162"/>
          </a:xfrm>
          <a:ln/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tx1"/>
                </a:solidFill>
                <a:latin typeface="Arial" panose="020B0604020202020204" pitchFamily="34" charset="0"/>
              </a:rPr>
              <a:t>References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7.01.25"/>
  <p:tag name="AS_TITLE" val="Aspose.Slides for .NET 2.0"/>
  <p:tag name="AS_VERSION" val="17.1"/>
</p:tagLst>
</file>

<file path=ppt/theme/theme1.xml><?xml version="1.0" encoding="utf-8"?>
<a:theme xmlns:a="http://schemas.openxmlformats.org/drawingml/2006/main" name="Concourse">
  <a:themeElements>
    <a:clrScheme name="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FFFFFF"/>
      </a:accent3>
      <a:accent4>
        <a:srgbClr val="000000"/>
      </a:accent4>
      <a:accent5>
        <a:srgbClr val="ADCEDC"/>
      </a:accent5>
      <a:accent6>
        <a:srgbClr val="C51B23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Arial"/>
      </a:majorFont>
      <a:minorFont>
        <a:latin typeface="Lucida Sans Unicod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29367</TotalTime>
  <Words>1328</Words>
  <Application>Microsoft Office PowerPoint</Application>
  <PresentationFormat>On-screen Show (4:3)</PresentationFormat>
  <Paragraphs>189</Paragraphs>
  <Slides>17</Slides>
  <Notes>17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Lucida Sans Unicode</vt:lpstr>
      <vt:lpstr>Verdana</vt:lpstr>
      <vt:lpstr>Wingdings 2</vt:lpstr>
      <vt:lpstr>Wingdings 3</vt:lpstr>
      <vt:lpstr>Concourse</vt:lpstr>
      <vt:lpstr>HTML5 Layout </vt:lpstr>
      <vt:lpstr>What will be covered in this section</vt:lpstr>
      <vt:lpstr>Traditional HTML Layouts</vt:lpstr>
      <vt:lpstr>Traditional HTML Layouts</vt:lpstr>
      <vt:lpstr>New HTML5 Layout Elements</vt:lpstr>
      <vt:lpstr>New HTML5 Layout Elements</vt:lpstr>
      <vt:lpstr>Headers and Footers</vt:lpstr>
      <vt:lpstr>Navigation, Articles</vt:lpstr>
      <vt:lpstr>ASIDE</vt:lpstr>
      <vt:lpstr>Sections</vt:lpstr>
      <vt:lpstr>Heading Groups</vt:lpstr>
      <vt:lpstr>Figures</vt:lpstr>
      <vt:lpstr>Sectioning Elements &lt;div&gt;</vt:lpstr>
      <vt:lpstr>Linking Around Block Level Elements</vt:lpstr>
      <vt:lpstr>Putting it all together</vt:lpstr>
      <vt:lpstr>Summary</vt:lpstr>
      <vt:lpstr>References</vt:lpstr>
    </vt:vector>
  </TitlesOfParts>
  <Manager/>
  <Company>McGill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McGILL UNIVERSITY PENSION PLAN  AMENDMENT 24: PENSIONABILITY OF STIPENDS</dc:title>
  <dc:subject/>
  <dc:creator>Administrative Desktop</dc:creator>
  <cp:keywords/>
  <dc:description/>
  <cp:lastModifiedBy>Ronald Raphael</cp:lastModifiedBy>
  <cp:revision>782</cp:revision>
  <cp:lastPrinted>2012-03-19T20:51:41Z</cp:lastPrinted>
  <dcterms:created xsi:type="dcterms:W3CDTF">2011-11-25T20:15:34Z</dcterms:created>
  <dcterms:modified xsi:type="dcterms:W3CDTF">2021-02-01T20:54:45Z</dcterms:modified>
  <cp:category/>
</cp:coreProperties>
</file>