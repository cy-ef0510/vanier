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8"/>
  </p:notesMasterIdLst>
  <p:handoutMasterIdLst>
    <p:handoutMasterId r:id="rId39"/>
  </p:handoutMasterIdLst>
  <p:sldIdLst>
    <p:sldId id="256" r:id="rId2"/>
    <p:sldId id="360" r:id="rId3"/>
    <p:sldId id="257" r:id="rId4"/>
    <p:sldId id="308" r:id="rId5"/>
    <p:sldId id="309" r:id="rId6"/>
    <p:sldId id="310" r:id="rId7"/>
    <p:sldId id="320" r:id="rId8"/>
    <p:sldId id="321" r:id="rId9"/>
    <p:sldId id="322" r:id="rId10"/>
    <p:sldId id="361" r:id="rId11"/>
    <p:sldId id="323" r:id="rId12"/>
    <p:sldId id="367" r:id="rId13"/>
    <p:sldId id="368" r:id="rId14"/>
    <p:sldId id="369" r:id="rId15"/>
    <p:sldId id="362" r:id="rId16"/>
    <p:sldId id="370" r:id="rId17"/>
    <p:sldId id="371" r:id="rId18"/>
    <p:sldId id="324" r:id="rId19"/>
    <p:sldId id="325" r:id="rId20"/>
    <p:sldId id="372" r:id="rId21"/>
    <p:sldId id="363" r:id="rId22"/>
    <p:sldId id="373" r:id="rId23"/>
    <p:sldId id="374" r:id="rId24"/>
    <p:sldId id="375" r:id="rId25"/>
    <p:sldId id="376" r:id="rId26"/>
    <p:sldId id="377" r:id="rId27"/>
    <p:sldId id="379" r:id="rId28"/>
    <p:sldId id="364" r:id="rId29"/>
    <p:sldId id="380" r:id="rId30"/>
    <p:sldId id="326" r:id="rId31"/>
    <p:sldId id="381" r:id="rId32"/>
    <p:sldId id="382" r:id="rId33"/>
    <p:sldId id="365" r:id="rId34"/>
    <p:sldId id="383" r:id="rId35"/>
    <p:sldId id="384" r:id="rId36"/>
    <p:sldId id="300" r:id="rId37"/>
  </p:sldIdLst>
  <p:sldSz cx="9144000" cy="6858000" type="screen4x3"/>
  <p:notesSz cx="7010400" cy="9236075"/>
  <p:custDataLst>
    <p:tags r:id="rId40"/>
  </p:custDataLst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18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CA" altLang="en-US"/>
          </a:p>
        </p:txBody>
      </p:sp>
      <p:sp>
        <p:nvSpPr>
          <p:cNvPr id="5123" name="Date Placeholder 2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B6058D-58C3-4B68-ABE4-6634A72B54F1}" type="datetime1">
              <a:rPr lang="en-US" altLang="en-US"/>
              <a:pPr/>
              <a:t>3/8/2021</a:t>
            </a:fld>
            <a:endParaRPr lang="en-US" altLang="en-US"/>
          </a:p>
        </p:txBody>
      </p:sp>
      <p:sp>
        <p:nvSpPr>
          <p:cNvPr id="5124" name="Footer Placeholder 3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CA" altLang="en-US"/>
          </a:p>
        </p:txBody>
      </p:sp>
      <p:sp>
        <p:nvSpPr>
          <p:cNvPr id="5125" name="Slide Number Placeholder 4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C01AC1-4A4A-4A30-A725-BF464AF3EC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CA" altLang="en-US"/>
          </a:p>
        </p:txBody>
      </p:sp>
      <p:sp>
        <p:nvSpPr>
          <p:cNvPr id="4099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F599AF67-52F0-4EFD-B9A8-77341851D17F}" type="datetime1">
              <a:rPr lang="en-US" altLang="en-US"/>
              <a:pPr/>
              <a:t>3/8/2021</a:t>
            </a:fld>
            <a:endParaRPr lang="en-US" altLang="en-US"/>
          </a:p>
        </p:txBody>
      </p:sp>
      <p:sp>
        <p:nvSpPr>
          <p:cNvPr id="4100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Notes Placeholder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2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CA" altLang="en-US"/>
          </a:p>
        </p:txBody>
      </p:sp>
      <p:sp>
        <p:nvSpPr>
          <p:cNvPr id="4103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8AE492AF-9A39-4A0F-88A5-75278A94C76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410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8C65D24B-E4CE-442A-8951-0A111EFE5CE2}" type="slidenum">
              <a:rPr lang="en-US" altLang="en-US"/>
              <a:pPr eaLnBrk="0" hangingPunct="0"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12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4113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A15783F8-7043-4BB5-93BB-9F20AD4C8892}" type="slidenum">
              <a:rPr lang="en-US" altLang="en-US"/>
              <a:pPr eaLnBrk="0" hangingPunct="0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1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411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67FB7047-54E2-445B-A840-6BA92F017788}" type="slidenum">
              <a:rPr lang="en-US" altLang="en-US"/>
              <a:pPr eaLnBrk="0" hangingPunct="0"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4339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4340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5351EDCA-A2DF-411D-85ED-F0775BE74A6D}" type="slidenum">
              <a:rPr lang="en-US" altLang="en-US"/>
              <a:pPr eaLnBrk="0" hangingPunct="0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6387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638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0646D6F7-263E-42B7-96E0-402D04531C3A}" type="slidenum">
              <a:rPr lang="en-US" altLang="en-US"/>
              <a:pPr eaLnBrk="0" hangingPunct="0"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36867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3686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70DEBAB6-EAEF-451A-B868-C3B13A66B60D}" type="slidenum">
              <a:rPr lang="en-US" altLang="en-US"/>
              <a:pPr eaLnBrk="0" hangingPunct="0"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38915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38916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6908BD67-BA17-44AD-8434-FA7CAFC73624}" type="slidenum">
              <a:rPr lang="en-US" altLang="en-US"/>
              <a:pPr eaLnBrk="0" hangingPunct="0"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40963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40964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75087B31-FA2E-433A-96E1-50DB258D1699}" type="slidenum">
              <a:rPr lang="en-US" altLang="en-US"/>
              <a:pPr eaLnBrk="0" hangingPunct="0"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43011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43012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34018E58-0CDE-46E0-B953-AD210ADE2FF4}" type="slidenum">
              <a:rPr lang="en-US" altLang="en-US"/>
              <a:pPr eaLnBrk="0" hangingPunct="0"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26979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26980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4D2B733A-25E5-4393-910E-0D8DF8A2BE83}" type="slidenum">
              <a:rPr lang="en-US" altLang="en-US"/>
              <a:pPr eaLnBrk="0" hangingPunct="0"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29027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2902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DE1737FC-FA41-4E03-AE6B-9D60278C058D}" type="slidenum">
              <a:rPr lang="en-US" altLang="en-US"/>
              <a:pPr eaLnBrk="0" hangingPunct="0"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31075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31076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D1122DF4-0FCD-4CF8-88E1-A120E5647C94}" type="slidenum">
              <a:rPr lang="en-US" altLang="en-US"/>
              <a:pPr eaLnBrk="0" hangingPunct="0"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33123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33124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AA754BA3-0C05-46FB-81A5-D239F7457E8B}" type="slidenum">
              <a:rPr lang="en-US" altLang="en-US"/>
              <a:pPr eaLnBrk="0" hangingPunct="0"/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35171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35172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18B099EC-3AFF-4507-9D7A-2B8FC024594B}" type="slidenum">
              <a:rPr lang="en-US" altLang="en-US"/>
              <a:pPr eaLnBrk="0" hangingPunct="0"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45059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45060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93EDCB3F-C226-47CA-B34E-B2657CB0E53D}" type="slidenum">
              <a:rPr lang="en-US" altLang="en-US"/>
              <a:pPr eaLnBrk="0" hangingPunct="0"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47107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4710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77B7831E-498A-469C-8B8B-CD3161A8863C}" type="slidenum">
              <a:rPr lang="en-US" altLang="en-US"/>
              <a:pPr eaLnBrk="0" hangingPunct="0"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37219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37220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85288288-81BF-4D58-8072-17D5A772210B}" type="slidenum">
              <a:rPr lang="en-US" altLang="en-US"/>
              <a:pPr eaLnBrk="0" hangingPunct="0"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39267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3926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7CBF5A6F-881B-4E81-8557-4FF8F6256430}" type="slidenum">
              <a:rPr lang="en-US" altLang="en-US"/>
              <a:pPr eaLnBrk="0" hangingPunct="0"/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41315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41316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9F67D149-FEDC-48C1-957F-9D1F529D64AA}" type="slidenum">
              <a:rPr lang="en-US" altLang="en-US"/>
              <a:pPr eaLnBrk="0" hangingPunct="0"/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43363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43364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64832A4E-043E-4328-993B-FEC58E892DB7}" type="slidenum">
              <a:rPr lang="en-US" altLang="en-US"/>
              <a:pPr eaLnBrk="0" hangingPunct="0"/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45411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45412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6F2F6667-E906-4738-A871-49C4FE220BDC}" type="slidenum">
              <a:rPr lang="en-US" altLang="en-US"/>
              <a:pPr eaLnBrk="0" hangingPunct="0"/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47459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47460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CC0E30E1-8FEB-422E-B1AF-7EF5D7DFD27C}" type="slidenum">
              <a:rPr lang="en-US" altLang="en-US"/>
              <a:pPr eaLnBrk="0" hangingPunct="0"/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51555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51556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3EB99418-C0B9-478E-8B5A-FE9BECA08D32}" type="slidenum">
              <a:rPr lang="en-US" altLang="en-US"/>
              <a:pPr eaLnBrk="0" hangingPunct="0"/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53603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53604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E2BF966A-7A67-40B6-AE4F-B396187BE130}" type="slidenum">
              <a:rPr lang="en-US" altLang="en-US"/>
              <a:pPr eaLnBrk="0" hangingPunct="0"/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49155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49156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DD9C7F1B-9CCA-49D5-9B60-5EA91A9CD7A9}" type="slidenum">
              <a:rPr lang="en-US" altLang="en-US"/>
              <a:pPr eaLnBrk="0" hangingPunct="0"/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55651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55652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53301FC0-A0FA-4A2A-96A8-E9B5DF6AB0D9}" type="slidenum">
              <a:rPr lang="en-US" altLang="en-US"/>
              <a:pPr eaLnBrk="0" hangingPunct="0"/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57699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57700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A71A4B63-C5D5-428C-BE7E-548D03E68907}" type="slidenum">
              <a:rPr lang="en-US" altLang="en-US"/>
              <a:pPr eaLnBrk="0" hangingPunct="0"/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65891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65892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5971AB3B-F819-422D-A617-0CF66C7718E3}" type="slidenum">
              <a:rPr lang="en-US" altLang="en-US"/>
              <a:pPr eaLnBrk="0" hangingPunct="0"/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headEnd type="none" w="med" len="med"/>
            <a:tailEnd type="none" w="med" len="med"/>
          </a:ln>
        </p:spPr>
      </p:sp>
      <p:sp>
        <p:nvSpPr>
          <p:cNvPr id="167939" name="Notes Placeholder 2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167940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E2C2A951-B06C-46C9-9359-0B9E0CF70F25}" type="slidenum">
              <a:rPr lang="en-US" altLang="en-US"/>
              <a:pPr eaLnBrk="0" hangingPunct="0"/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1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22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 altLang="en-US"/>
          </a:p>
        </p:txBody>
      </p:sp>
      <p:sp>
        <p:nvSpPr>
          <p:cNvPr id="4123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EADC878E-B902-4D8C-9C76-04B2075D9731}" type="slidenum">
              <a:rPr lang="en-US" altLang="en-US"/>
              <a:pPr eaLnBrk="0" hangingPunct="0"/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ight Triangle 3"/>
          <p:cNvSpPr>
            <a:spLocks noChangeArrowheads="1"/>
          </p:cNvSpPr>
          <p:nvPr/>
        </p:nvSpPr>
        <p:spPr bwMode="auto">
          <a:xfrm>
            <a:off x="0" y="4664075"/>
            <a:ext cx="9150350" cy="0"/>
          </a:xfrm>
          <a:prstGeom prst="rtTriangle">
            <a:avLst/>
          </a:prstGeom>
          <a:gradFill rotWithShape="1">
            <a:gsLst>
              <a:gs pos="0">
                <a:srgbClr val="007897"/>
              </a:gs>
              <a:gs pos="54999">
                <a:srgbClr val="4ABBE0"/>
              </a:gs>
              <a:gs pos="100000">
                <a:srgbClr val="007897"/>
              </a:gs>
            </a:gsLst>
            <a:lin ang="300000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thickThin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/>
            <a:endParaRPr lang="en-CA" altLang="en-US"/>
          </a:p>
        </p:txBody>
      </p:sp>
      <p:grpSp>
        <p:nvGrpSpPr>
          <p:cNvPr id="2051" name="Group 3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2052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/>
              <a:gdLst>
                <a:gd name="T0" fmla="*/ 4697 w 4697"/>
                <a:gd name="T1" fmla="*/ 0 h 367"/>
                <a:gd name="T2" fmla="*/ 4697 w 4697"/>
                <a:gd name="T3" fmla="*/ 367 h 367"/>
                <a:gd name="T4" fmla="*/ 0 w 4697"/>
                <a:gd name="T5" fmla="*/ 218 h 367"/>
                <a:gd name="T6" fmla="*/ 4697 w 4697"/>
                <a:gd name="T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3999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/>
              <a:endParaRPr lang="en-CA" altLang="en-US">
                <a:latin typeface="Lucida Sans Unicode" panose="020B0602030504020204" pitchFamily="34" charset="0"/>
              </a:endParaRPr>
            </a:p>
          </p:txBody>
        </p:sp>
        <p:sp>
          <p:nvSpPr>
            <p:cNvPr id="2053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/>
              <a:endParaRPr lang="en-CA" altLang="en-US">
                <a:latin typeface="Lucida Sans Unicode" panose="020B0602030504020204" pitchFamily="34" charset="0"/>
              </a:endParaRPr>
            </a:p>
          </p:txBody>
        </p:sp>
        <p:sp>
          <p:nvSpPr>
            <p:cNvPr id="2054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/>
              <a:gdLst>
                <a:gd name="T0" fmla="*/ 0 w 5760"/>
                <a:gd name="T1" fmla="*/ 0 h 1248"/>
                <a:gd name="T2" fmla="*/ 0 w 5760"/>
                <a:gd name="T3" fmla="*/ 1248 h 1248"/>
                <a:gd name="T4" fmla="*/ 5760 w 5760"/>
                <a:gd name="T5" fmla="*/ 1248 h 1248"/>
                <a:gd name="T6" fmla="*/ 5760 w 5760"/>
                <a:gd name="T7" fmla="*/ 528 h 1248"/>
                <a:gd name="T8" fmla="*/ 0 w 5760"/>
                <a:gd name="T9" fmla="*/ 0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>
                <a:alphaModFix amt="50000"/>
              </a:blip>
              <a:srcRect/>
              <a:tile tx="0" ty="0" sx="100000" sy="100000" flip="none" algn="tl"/>
            </a:blip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12700" cap="rnd" cmpd="thickThin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anchor="ctr"/>
            <a:lstStyle/>
            <a:p>
              <a:pPr algn="ctr" eaLnBrk="0" hangingPunct="0"/>
              <a:endParaRPr lang="en-CA" altLang="en-US"/>
            </a:p>
          </p:txBody>
        </p:sp>
        <p:sp>
          <p:nvSpPr>
            <p:cNvPr id="2055" name="Straight Connector 9"/>
            <p:cNvSpPr>
              <a:spLocks noChangeShapeType="1"/>
            </p:cNvSpPr>
            <p:nvPr/>
          </p:nvSpPr>
          <p:spPr bwMode="auto">
            <a:xfrm>
              <a:off x="-3765" y="4880373"/>
              <a:ext cx="9147765" cy="83994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06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56" name="Title 8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830388"/>
          </a:xfrm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b"/>
          <a:lstStyle>
            <a:lvl1pPr algn="r"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057" name="Subtitle 16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45720" rIns="45720"/>
          <a:lstStyle>
            <a:lvl1pPr marL="0" indent="0" algn="r">
              <a:buFont typeface="Wingdings 3" panose="05040102010807070707" pitchFamily="18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58" name="Footer Placeholder 18"/>
          <p:cNvSpPr>
            <a:spLocks noGrp="1" noChangeArrowheads="1"/>
          </p:cNvSpPr>
          <p:nvPr>
            <p:ph type="ftr" sz="quarter" idx="2"/>
          </p:nvPr>
        </p:nvSpPr>
        <p:spPr>
          <a:xfrm>
            <a:off x="6270625" y="6408738"/>
            <a:ext cx="2351088" cy="365125"/>
          </a:xfrm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t"/>
          <a:lstStyle>
            <a:lvl1pPr algn="l" eaLnBrk="0" hangingPunct="0">
              <a:defRPr sz="1800"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2059" name="Slide Number Placeholder 26"/>
          <p:cNvSpPr>
            <a:spLocks noGrp="1" noChangeArrowheads="1"/>
          </p:cNvSpPr>
          <p:nvPr>
            <p:ph type="sldNum" sz="quarter" idx="3"/>
          </p:nvPr>
        </p:nvSpPr>
        <p:spPr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t"/>
          <a:lstStyle>
            <a:lvl1pPr algn="l" eaLnBrk="0" hangingPunct="0">
              <a:defRPr sz="18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fld id="{4722560B-59D9-4FBD-B610-233C65B1D5B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0BBE97-22DC-4BD2-BD20-0FFD2F6524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934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672653-9256-41DE-947A-EC838E0289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795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138"/>
            <a:ext cx="4038600" cy="4525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138"/>
            <a:ext cx="4038600" cy="4525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7D2681-5DA8-4369-84B3-08D0DFFB88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643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A2DFA-6B3F-4D00-8AA7-4B7F015503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816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D321E1-3384-4275-A808-E338DC505E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362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2CC653-3AE1-42D8-B2F6-2C3DAAFAA9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034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044EFB-9E9B-472E-BACE-E79F59D165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150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F33BE8-3E2C-4227-A790-01CFA93939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909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9F91FD-2741-49BF-A0D6-E877CF2FDA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108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732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7324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2B6583-800C-41F4-BD04-08BDF49EC4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237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/>
            <a:gdLst>
              <a:gd name="T0" fmla="*/ 0 w 7485"/>
              <a:gd name="T1" fmla="*/ 2 h 337"/>
              <a:gd name="T2" fmla="*/ 7485 w 7485"/>
              <a:gd name="T3" fmla="*/ 337 h 337"/>
              <a:gd name="T4" fmla="*/ 5558 w 7485"/>
              <a:gd name="T5" fmla="*/ 337 h 337"/>
              <a:gd name="T6" fmla="*/ 1 w 7485"/>
              <a:gd name="T7" fmla="*/ 0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CA" altLang="en-US">
              <a:latin typeface="Lucida Sans Unicode" panose="020B0602030504020204" pitchFamily="34" charset="0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591 w 5591"/>
              <a:gd name="T3" fmla="*/ 585 h 588"/>
              <a:gd name="T4" fmla="*/ 4415 w 5591"/>
              <a:gd name="T5" fmla="*/ 588 h 588"/>
              <a:gd name="T6" fmla="*/ 12 w 5591"/>
              <a:gd name="T7" fmla="*/ 4 h 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CA" altLang="en-US">
              <a:latin typeface="Lucida Sans Unicode" panose="020B0602030504020204" pitchFamily="34" charset="0"/>
            </a:endParaRPr>
          </a:p>
        </p:txBody>
      </p:sp>
      <p:sp>
        <p:nvSpPr>
          <p:cNvPr id="1028" name="Right Triangle 13"/>
          <p:cNvSpPr>
            <a:spLocks noChangeArrowheads="1"/>
          </p:cNvSpPr>
          <p:nvPr/>
        </p:nvSpPr>
        <p:spPr bwMode="auto">
          <a:xfrm>
            <a:off x="-6350" y="5791200"/>
            <a:ext cx="3402013" cy="1081088"/>
          </a:xfrm>
          <a:prstGeom prst="rtTriangle">
            <a:avLst/>
          </a:prstGeom>
          <a:blipFill dpi="0" rotWithShape="0">
            <a:blip r:embed="rId13">
              <a:alphaModFix amt="50000"/>
            </a:blip>
            <a:srcRect/>
            <a:tile tx="0" ty="0" sx="100000" sy="100000" flip="none" algn="tl"/>
          </a:blip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 cap="rnd" cmpd="thickThin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en-CA" altLang="en-US"/>
          </a:p>
        </p:txBody>
      </p:sp>
      <p:sp>
        <p:nvSpPr>
          <p:cNvPr id="1029" name="Straight Connector 14"/>
          <p:cNvSpPr>
            <a:spLocks noChangeShapeType="1"/>
          </p:cNvSpPr>
          <p:nvPr/>
        </p:nvSpPr>
        <p:spPr bwMode="auto">
          <a:xfrm>
            <a:off x="-9525" y="5788025"/>
            <a:ext cx="3405188" cy="108426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06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" name="Title Placeholder 8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Text Placeholder 2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2" name="Date Placeholder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727825" y="6408738"/>
            <a:ext cx="19192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+mn-lt"/>
              </a:defRPr>
            </a:lvl1pPr>
          </a:lstStyle>
          <a:p>
            <a:r>
              <a:rPr lang="en-US" altLang="en-US"/>
              <a:t>Last Updated: /13/2017</a:t>
            </a:r>
          </a:p>
        </p:txBody>
      </p:sp>
      <p:sp>
        <p:nvSpPr>
          <p:cNvPr id="1033" name="Footer Placeholder 2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9913" y="6408738"/>
            <a:ext cx="2351087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en-US"/>
              <a:t>K. Lorenc - Last updated 2016/08/01</a:t>
            </a:r>
          </a:p>
        </p:txBody>
      </p:sp>
      <p:sp>
        <p:nvSpPr>
          <p:cNvPr id="1034" name="Slide Number Placeholder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27375229-3624-4373-9FC3-BD8610B5993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9pPr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SzPct val="68000"/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Title 1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533400"/>
            <a:ext cx="7772400" cy="35814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t"/>
          <a:lstStyle/>
          <a:p>
            <a:pPr algn="ctr" eaLnBrk="1" hangingPunct="1"/>
            <a:r>
              <a:rPr lang="en-US" altLang="en-US" sz="4800">
                <a:solidFill>
                  <a:schemeClr val="tx1"/>
                </a:solidFill>
                <a:latin typeface="Arial" panose="020B0604020202020204" pitchFamily="34" charset="0"/>
              </a:rPr>
              <a:t>HTML Graphics (Canvas)</a:t>
            </a:r>
          </a:p>
        </p:txBody>
      </p:sp>
      <p:sp>
        <p:nvSpPr>
          <p:cNvPr id="2063" name="Subtit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685800" y="4267200"/>
            <a:ext cx="7772400" cy="544513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marL="0" indent="0" algn="r"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endParaRPr lang="en-US" altLang="en-US" sz="19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indent="0" algn="r"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endParaRPr lang="en-US" altLang="en-US" sz="19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CA" altLang="en-US"/>
              <a:t>Canvas Basics</a:t>
            </a:r>
          </a:p>
        </p:txBody>
      </p:sp>
      <p:sp>
        <p:nvSpPr>
          <p:cNvPr id="11776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CA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2067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marL="508000" indent="-400050"/>
            <a:endParaRPr lang="en-US" altLang="en-US" sz="2400" dirty="0">
              <a:latin typeface="Arial" panose="020B0604020202020204" pitchFamily="34" charset="0"/>
            </a:endParaRPr>
          </a:p>
          <a:p>
            <a:pPr marL="508000" indent="-400050"/>
            <a:endParaRPr lang="en-US" altLang="en-US" sz="2400" dirty="0">
              <a:latin typeface="Arial" panose="020B0604020202020204" pitchFamily="34" charset="0"/>
            </a:endParaRPr>
          </a:p>
          <a:p>
            <a:pPr marL="508000" indent="-400050"/>
            <a:r>
              <a:rPr lang="en-CA" altLang="en-US" sz="2400" dirty="0">
                <a:latin typeface="Arial" panose="020B0604020202020204" pitchFamily="34" charset="0"/>
              </a:rPr>
              <a:t>What is HTML Canvas</a:t>
            </a:r>
          </a:p>
          <a:p>
            <a:pPr marL="508000" indent="-400050"/>
            <a:r>
              <a:rPr lang="en-US" altLang="en-US" sz="2400" dirty="0">
                <a:latin typeface="Arial" panose="020B0604020202020204" pitchFamily="34" charset="0"/>
              </a:rPr>
              <a:t>Browser Support</a:t>
            </a:r>
          </a:p>
          <a:p>
            <a:pPr marL="508000" indent="-400050"/>
            <a:r>
              <a:rPr lang="en-US" altLang="en-US" sz="2400" dirty="0">
                <a:latin typeface="Arial" panose="020B0604020202020204" pitchFamily="34" charset="0"/>
              </a:rPr>
              <a:t>Draw Text</a:t>
            </a:r>
          </a:p>
          <a:p>
            <a:pPr marL="508000" indent="-400050"/>
            <a:r>
              <a:rPr lang="en-US" altLang="en-US" sz="2400" dirty="0">
                <a:latin typeface="Arial" panose="020B0604020202020204" pitchFamily="34" charset="0"/>
              </a:rPr>
              <a:t>Draw Graphics</a:t>
            </a:r>
          </a:p>
          <a:p>
            <a:pPr marL="508000" indent="-400050"/>
            <a:endParaRPr lang="en-US" altLang="en-US" sz="2400" dirty="0">
              <a:latin typeface="Arial" panose="020B0604020202020204" pitchFamily="34" charset="0"/>
            </a:endParaRPr>
          </a:p>
          <a:p>
            <a:pPr marL="508000" indent="-400050"/>
            <a:r>
              <a:rPr lang="en-US" altLang="en-US" sz="2400" dirty="0">
                <a:latin typeface="Arial" panose="020B0604020202020204" pitchFamily="34" charset="0"/>
              </a:rPr>
              <a:t>Example</a:t>
            </a:r>
          </a:p>
        </p:txBody>
      </p:sp>
      <p:sp>
        <p:nvSpPr>
          <p:cNvPr id="2068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What will be covered in this 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2072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2400"/>
          </a:p>
          <a:p>
            <a:r>
              <a:rPr lang="en-CA" altLang="en-US" sz="2400"/>
              <a:t>The HTML &lt;canvas&gt; element is used to draw graphics, on the fly, via scripting (usually JavaScript).</a:t>
            </a:r>
          </a:p>
          <a:p>
            <a:r>
              <a:rPr lang="en-CA" altLang="en-US" sz="2400"/>
              <a:t>The &lt;canvas&gt; element is only a container for graphics. You must use a script to actually draw the graphics.</a:t>
            </a:r>
          </a:p>
          <a:p>
            <a:r>
              <a:rPr lang="en-CA" altLang="en-US" sz="2400"/>
              <a:t>Canvas has several methods for drawing paths, boxes, circles, text, and adding images</a:t>
            </a:r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</p:txBody>
      </p:sp>
      <p:sp>
        <p:nvSpPr>
          <p:cNvPr id="2073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HTML5 Canvas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331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331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HTML5 Canvas (Browser Support)</a:t>
            </a:r>
          </a:p>
        </p:txBody>
      </p:sp>
      <p:graphicFrame>
        <p:nvGraphicFramePr>
          <p:cNvPr id="13317" name="Group 5"/>
          <p:cNvGraphicFramePr>
            <a:graphicFrameLocks noGrp="1"/>
          </p:cNvGraphicFramePr>
          <p:nvPr/>
        </p:nvGraphicFramePr>
        <p:xfrm>
          <a:off x="395288" y="2636838"/>
          <a:ext cx="8497887" cy="1152526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:a16="http://schemas.microsoft.com/office/drawing/2014/main" val="3002435678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641925934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1130909909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461318715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 marL="109538"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1pPr>
                      <a:lvl2pPr marL="392113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SzPct val="68000"/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2pPr>
                      <a:lvl3pPr marL="630238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3pPr>
                      <a:lvl4pPr marL="9144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4pPr>
                      <a:lvl5pPr marL="11430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5pPr>
                      <a:lvl6pPr marL="16002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6pPr>
                      <a:lvl7pPr marL="20574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7pPr>
                      <a:lvl8pPr marL="2514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8pPr>
                      <a:lvl9pPr marL="29718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09538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CA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cs typeface="Arial" panose="020B0604020202020204" pitchFamily="34" charset="0"/>
                        </a:rPr>
                        <a:t>Chrome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09538"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1pPr>
                      <a:lvl2pPr marL="392113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SzPct val="68000"/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2pPr>
                      <a:lvl3pPr marL="630238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3pPr>
                      <a:lvl4pPr marL="9144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4pPr>
                      <a:lvl5pPr marL="11430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5pPr>
                      <a:lvl6pPr marL="16002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6pPr>
                      <a:lvl7pPr marL="20574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7pPr>
                      <a:lvl8pPr marL="2514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8pPr>
                      <a:lvl9pPr marL="29718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09538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CA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cs typeface="Arial" panose="020B0604020202020204" pitchFamily="34" charset="0"/>
                        </a:rPr>
                        <a:t>Internet Explorer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09538"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1pPr>
                      <a:lvl2pPr marL="392113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SzPct val="68000"/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2pPr>
                      <a:lvl3pPr marL="630238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3pPr>
                      <a:lvl4pPr marL="9144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4pPr>
                      <a:lvl5pPr marL="11430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5pPr>
                      <a:lvl6pPr marL="16002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6pPr>
                      <a:lvl7pPr marL="20574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7pPr>
                      <a:lvl8pPr marL="2514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8pPr>
                      <a:lvl9pPr marL="29718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09538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CA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cs typeface="Arial" panose="020B0604020202020204" pitchFamily="34" charset="0"/>
                        </a:rPr>
                        <a:t>Firefox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09538"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1pPr>
                      <a:lvl2pPr marL="392113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SzPct val="68000"/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2pPr>
                      <a:lvl3pPr marL="630238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3pPr>
                      <a:lvl4pPr marL="9144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4pPr>
                      <a:lvl5pPr marL="11430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5pPr>
                      <a:lvl6pPr marL="16002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6pPr>
                      <a:lvl7pPr marL="20574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7pPr>
                      <a:lvl8pPr marL="2514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8pPr>
                      <a:lvl9pPr marL="29718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09538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CA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cs typeface="Arial" panose="020B0604020202020204" pitchFamily="34" charset="0"/>
                        </a:rPr>
                        <a:t>Safari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230566"/>
                  </a:ext>
                </a:extLst>
              </a:tr>
              <a:tr h="576263">
                <a:tc>
                  <a:txBody>
                    <a:bodyPr/>
                    <a:lstStyle>
                      <a:lvl1pPr marL="109538"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1pPr>
                      <a:lvl2pPr marL="392113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SzPct val="68000"/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2pPr>
                      <a:lvl3pPr marL="630238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3pPr>
                      <a:lvl4pPr marL="9144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4pPr>
                      <a:lvl5pPr marL="11430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5pPr>
                      <a:lvl6pPr marL="16002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6pPr>
                      <a:lvl7pPr marL="20574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7pPr>
                      <a:lvl8pPr marL="2514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8pPr>
                      <a:lvl9pPr marL="29718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09538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CA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cs typeface="Arial" panose="020B0604020202020204" pitchFamily="34" charset="0"/>
                        </a:rPr>
                        <a:t>4.0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09538"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1pPr>
                      <a:lvl2pPr marL="392113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SzPct val="68000"/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2pPr>
                      <a:lvl3pPr marL="630238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3pPr>
                      <a:lvl4pPr marL="9144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4pPr>
                      <a:lvl5pPr marL="11430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5pPr>
                      <a:lvl6pPr marL="16002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6pPr>
                      <a:lvl7pPr marL="20574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7pPr>
                      <a:lvl8pPr marL="2514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8pPr>
                      <a:lvl9pPr marL="29718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09538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CA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cs typeface="Arial" panose="020B060402020202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09538"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1pPr>
                      <a:lvl2pPr marL="392113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SzPct val="68000"/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2pPr>
                      <a:lvl3pPr marL="630238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3pPr>
                      <a:lvl4pPr marL="9144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4pPr>
                      <a:lvl5pPr marL="11430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5pPr>
                      <a:lvl6pPr marL="16002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6pPr>
                      <a:lvl7pPr marL="20574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7pPr>
                      <a:lvl8pPr marL="2514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8pPr>
                      <a:lvl9pPr marL="29718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09538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CA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cs typeface="Arial" panose="020B0604020202020204" pitchFamily="34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09538"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1pPr>
                      <a:lvl2pPr marL="392113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SzPct val="68000"/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2pPr>
                      <a:lvl3pPr marL="630238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3pPr>
                      <a:lvl4pPr marL="9144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4pPr>
                      <a:lvl5pPr marL="11430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5pPr>
                      <a:lvl6pPr marL="16002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6pPr>
                      <a:lvl7pPr marL="20574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7pPr>
                      <a:lvl8pPr marL="2514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8pPr>
                      <a:lvl9pPr marL="29718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109538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None/>
                        <a:tabLst/>
                      </a:pPr>
                      <a:r>
                        <a:rPr kumimoji="0" lang="en-CA" alt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cs typeface="Arial" panose="020B0604020202020204" pitchFamily="34" charset="0"/>
                        </a:rPr>
                        <a:t>3.1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2408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5362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Canvas can draw colourful text, with or without animation </a:t>
            </a:r>
          </a:p>
          <a:p>
            <a:r>
              <a:rPr lang="en-CA" altLang="en-US"/>
              <a:t>Canvas has great features for graphical data presentation with an imagery of graphs and charts </a:t>
            </a:r>
          </a:p>
          <a:p>
            <a:r>
              <a:rPr lang="en-CA" altLang="en-US"/>
              <a:t>Canvas objects can move. Everything is possible: from simple bouncing balls to complex animations </a:t>
            </a: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5363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HTML5 Canvas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35842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Canvas can respond to JavaScript events.</a:t>
            </a:r>
          </a:p>
          <a:p>
            <a:r>
              <a:rPr lang="en-CA" altLang="en-US"/>
              <a:t>Canvas can respond to any user action (key clicks, mouse clicks, button clicks, …)</a:t>
            </a: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35843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37890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 dirty="0"/>
          </a:p>
          <a:p>
            <a:r>
              <a:rPr lang="en-CA" altLang="en-US" dirty="0"/>
              <a:t>In HTML, a &lt;canvas&gt; element looks like this: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CA" altLang="en-US" sz="2000" dirty="0"/>
              <a:t>&lt;canvas id="</a:t>
            </a:r>
            <a:r>
              <a:rPr lang="en-CA" altLang="en-US" sz="2000" dirty="0" err="1"/>
              <a:t>myCanvas</a:t>
            </a:r>
            <a:r>
              <a:rPr lang="en-CA" altLang="en-US" sz="2000" dirty="0"/>
              <a:t>" width="200" height="100"&gt;&lt;/canvas&gt;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CA" altLang="en-US" dirty="0"/>
              <a:t>The &lt;canvas&gt; element must have an id attribute so it can be referred to by JavaScript.</a:t>
            </a:r>
          </a:p>
          <a:p>
            <a:r>
              <a:rPr lang="en-CA" altLang="en-US" dirty="0"/>
              <a:t>The width and height attribute is necessary to define the size of the canvas.</a:t>
            </a:r>
            <a:endParaRPr lang="en-CA" altLang="en-US" b="1" dirty="0"/>
          </a:p>
          <a:p>
            <a:pPr lvl="1"/>
            <a:r>
              <a:rPr lang="en-CA" altLang="en-US" dirty="0"/>
              <a:t>You can have multiple &lt;canvas&gt; elements on one HTML page</a:t>
            </a:r>
          </a:p>
          <a:p>
            <a:pPr lvl="1"/>
            <a:endParaRPr lang="en-US" altLang="en-US" sz="1800" dirty="0"/>
          </a:p>
          <a:p>
            <a:endParaRPr lang="en-US" altLang="en-US" sz="1800" dirty="0"/>
          </a:p>
        </p:txBody>
      </p:sp>
      <p:sp>
        <p:nvSpPr>
          <p:cNvPr id="37891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(Example)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39938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By default, the &lt;canvas&gt; element has no border and no content.</a:t>
            </a:r>
          </a:p>
          <a:p>
            <a:r>
              <a:rPr lang="en-CA" altLang="en-US"/>
              <a:t>To add a border, use a style attribute: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CA" altLang="en-US" sz="2000"/>
              <a:t>&lt;canvas id="myCanvas" width="200" height="100"</a:t>
            </a:r>
            <a:br>
              <a:rPr lang="en-CA" altLang="en-US" sz="2000"/>
            </a:br>
            <a:r>
              <a:rPr lang="en-CA" altLang="en-US" sz="2000"/>
              <a:t>style="border:1px solid #000000;"&gt;</a:t>
            </a:r>
            <a:br>
              <a:rPr lang="en-CA" altLang="en-US" sz="2000"/>
            </a:br>
            <a:r>
              <a:rPr lang="en-CA" altLang="en-US" sz="2000"/>
              <a:t>&lt;/canvas&gt;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1800"/>
          </a:p>
        </p:txBody>
      </p:sp>
      <p:sp>
        <p:nvSpPr>
          <p:cNvPr id="39939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CA" altLang="en-US"/>
              <a:t>Canvas Drawing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CA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41986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 dirty="0"/>
          </a:p>
          <a:p>
            <a:r>
              <a:rPr lang="en-CA" altLang="en-US" dirty="0"/>
              <a:t>All drawing on the HTML canvas must be done with JavaScript:</a:t>
            </a:r>
          </a:p>
          <a:p>
            <a:endParaRPr lang="en-CA" altLang="en-US" dirty="0"/>
          </a:p>
          <a:p>
            <a:pPr>
              <a:buFont typeface="Wingdings 3" panose="05040102010807070707" pitchFamily="18" charset="2"/>
              <a:buNone/>
            </a:pPr>
            <a:r>
              <a:rPr lang="en-CA" altLang="en-US" dirty="0"/>
              <a:t>	</a:t>
            </a:r>
            <a:r>
              <a:rPr lang="en-CA" altLang="en-US" sz="2200" dirty="0"/>
              <a:t>&lt;script&gt;</a:t>
            </a:r>
            <a:br>
              <a:rPr lang="en-CA" altLang="en-US" sz="2200" dirty="0"/>
            </a:br>
            <a:r>
              <a:rPr lang="en-CA" altLang="en-US" sz="2200" dirty="0"/>
              <a:t>var canvas = </a:t>
            </a:r>
            <a:r>
              <a:rPr lang="en-CA" altLang="en-US" sz="2200" dirty="0" err="1"/>
              <a:t>document.getElementById</a:t>
            </a:r>
            <a:r>
              <a:rPr lang="en-CA" altLang="en-US" sz="2200" dirty="0"/>
              <a:t>("</a:t>
            </a:r>
            <a:r>
              <a:rPr lang="en-CA" altLang="en-US" sz="2200" dirty="0" err="1"/>
              <a:t>myCanvas</a:t>
            </a:r>
            <a:r>
              <a:rPr lang="en-CA" altLang="en-US" sz="2200" dirty="0"/>
              <a:t>");</a:t>
            </a:r>
            <a:br>
              <a:rPr lang="en-CA" altLang="en-US" sz="2200" dirty="0"/>
            </a:br>
            <a:r>
              <a:rPr lang="en-CA" altLang="en-US" sz="2200" dirty="0"/>
              <a:t>var </a:t>
            </a:r>
            <a:r>
              <a:rPr lang="en-CA" altLang="en-US" sz="2200" dirty="0" err="1"/>
              <a:t>ctx</a:t>
            </a:r>
            <a:r>
              <a:rPr lang="en-CA" altLang="en-US" sz="2200" dirty="0"/>
              <a:t> = </a:t>
            </a:r>
            <a:r>
              <a:rPr lang="en-CA" altLang="en-US" sz="2200" dirty="0" err="1"/>
              <a:t>canvas.getContext</a:t>
            </a:r>
            <a:r>
              <a:rPr lang="en-CA" altLang="en-US" sz="2200" dirty="0"/>
              <a:t>("2d");</a:t>
            </a:r>
            <a:br>
              <a:rPr lang="en-CA" altLang="en-US" sz="2200" dirty="0"/>
            </a:br>
            <a:r>
              <a:rPr lang="en-CA" altLang="en-US" sz="2200" dirty="0" err="1"/>
              <a:t>ctx.fillStyle</a:t>
            </a:r>
            <a:r>
              <a:rPr lang="en-CA" altLang="en-US" sz="2200" dirty="0"/>
              <a:t> = "#FF0000";</a:t>
            </a:r>
            <a:br>
              <a:rPr lang="en-CA" altLang="en-US" sz="2200" dirty="0"/>
            </a:br>
            <a:r>
              <a:rPr lang="en-CA" altLang="en-US" sz="2200" dirty="0" err="1"/>
              <a:t>ctx.fillRect</a:t>
            </a:r>
            <a:r>
              <a:rPr lang="en-CA" altLang="en-US" sz="2200" dirty="0"/>
              <a:t>(0,0,150,75);</a:t>
            </a:r>
            <a:br>
              <a:rPr lang="en-CA" altLang="en-US" sz="2200" dirty="0"/>
            </a:br>
            <a:r>
              <a:rPr lang="en-CA" altLang="en-US" sz="2200" dirty="0"/>
              <a:t>&lt;/script&gt;</a:t>
            </a:r>
            <a:endParaRPr lang="en-US" altLang="en-US" sz="2200" dirty="0"/>
          </a:p>
          <a:p>
            <a:endParaRPr lang="en-US" altLang="en-US" sz="1800" dirty="0"/>
          </a:p>
          <a:p>
            <a:endParaRPr lang="en-US" altLang="en-US" sz="1800" dirty="0"/>
          </a:p>
        </p:txBody>
      </p:sp>
      <p:sp>
        <p:nvSpPr>
          <p:cNvPr id="41987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Drawing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2595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Step 1: Find the Canvas Element</a:t>
            </a:r>
          </a:p>
          <a:p>
            <a:pPr lvl="1"/>
            <a:r>
              <a:rPr lang="en-CA" altLang="en-US"/>
              <a:t>First of all, you must find the &lt;canvas&gt; element.</a:t>
            </a:r>
          </a:p>
          <a:p>
            <a:r>
              <a:rPr lang="en-CA" altLang="en-US"/>
              <a:t>This is done by using the HTML DOM method getElementById():</a:t>
            </a:r>
          </a:p>
          <a:p>
            <a:r>
              <a:rPr lang="en-CA" altLang="en-US"/>
              <a:t>var canvas = document.getElementById("myCanvas");</a:t>
            </a: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2595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Drawing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28002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Step 2: Create a Drawing Object</a:t>
            </a:r>
          </a:p>
          <a:p>
            <a:pPr lvl="1"/>
            <a:r>
              <a:rPr lang="en-CA" altLang="en-US"/>
              <a:t>Secondly, you need a drawing object for the canvas.</a:t>
            </a:r>
          </a:p>
          <a:p>
            <a:r>
              <a:rPr lang="en-CA" altLang="en-US"/>
              <a:t>The getContext() is a built-in HTML object, with properties and methods for drawing:</a:t>
            </a:r>
          </a:p>
          <a:p>
            <a:pPr lvl="1"/>
            <a:r>
              <a:rPr lang="en-CA" altLang="en-US"/>
              <a:t>var ctx = canvas.getContext("2d");</a:t>
            </a:r>
            <a:endParaRPr lang="en-US" altLang="en-US" sz="16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28003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Drawing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30050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r>
              <a:rPr lang="en-CA" altLang="en-US"/>
              <a:t>Step 3: Draw on the Canvas</a:t>
            </a:r>
          </a:p>
          <a:p>
            <a:pPr lvl="1"/>
            <a:r>
              <a:rPr lang="en-CA" altLang="en-US"/>
              <a:t>Finally, you can draw on the canvas.</a:t>
            </a:r>
          </a:p>
          <a:p>
            <a:r>
              <a:rPr lang="en-CA" altLang="en-US"/>
              <a:t>Set the fill style of the drawing object to the color red:</a:t>
            </a:r>
          </a:p>
          <a:p>
            <a:pPr lvl="1"/>
            <a:r>
              <a:rPr lang="en-CA" altLang="en-US"/>
              <a:t>ctx.fillStyle = "#FF0000";</a:t>
            </a:r>
          </a:p>
          <a:p>
            <a:r>
              <a:rPr lang="en-CA" altLang="en-US"/>
              <a:t>The fillStyle property can be a CSS color, a gradient, or a pattern. The default fillStyle is black</a:t>
            </a:r>
          </a:p>
          <a:p>
            <a:r>
              <a:rPr lang="en-CA" altLang="en-US"/>
              <a:t>The fillRect(</a:t>
            </a:r>
            <a:r>
              <a:rPr lang="en-CA" altLang="en-US" i="1"/>
              <a:t>x,y,width,height</a:t>
            </a:r>
            <a:r>
              <a:rPr lang="en-CA" altLang="en-US"/>
              <a:t>) method draws a rectangle, filled with the fill style, on the canvas:</a:t>
            </a:r>
          </a:p>
          <a:p>
            <a:pPr lvl="1"/>
            <a:r>
              <a:rPr lang="en-CA" altLang="en-US"/>
              <a:t>ctx.fillRect(0,0,150,75);</a:t>
            </a:r>
            <a:endParaRPr lang="en-US" altLang="en-US" sz="1600"/>
          </a:p>
        </p:txBody>
      </p:sp>
      <p:sp>
        <p:nvSpPr>
          <p:cNvPr id="130051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Drawing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CA" altLang="en-US"/>
              <a:t>Canvas Co-ordinates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CA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32098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The HTML canvas is a two-dimensional grid.</a:t>
            </a:r>
          </a:p>
          <a:p>
            <a:r>
              <a:rPr lang="en-CA" altLang="en-US"/>
              <a:t>The upper-left corner of the canvas has the coordinates (0,0)</a:t>
            </a:r>
          </a:p>
          <a:p>
            <a:r>
              <a:rPr lang="en-CA" altLang="en-US"/>
              <a:t>In the previous section, you saw the following method used: </a:t>
            </a:r>
          </a:p>
          <a:p>
            <a:pPr lvl="1"/>
            <a:r>
              <a:rPr lang="en-CA" altLang="en-US"/>
              <a:t>fillRect(0,0,150,75)</a:t>
            </a:r>
          </a:p>
          <a:p>
            <a:pPr lvl="1"/>
            <a:r>
              <a:rPr lang="en-CA" altLang="en-US"/>
              <a:t>fillRect(startPosHor, startPosVer, width, height)</a:t>
            </a:r>
          </a:p>
          <a:p>
            <a:r>
              <a:rPr lang="en-CA" altLang="en-US"/>
              <a:t>This means: Start at the upper-left corner (0,0) and draw a 150x75 pixels rectangle</a:t>
            </a: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32099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Co-ordinates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34146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To draw a straight line on a canvas, use the following methods:</a:t>
            </a:r>
          </a:p>
          <a:p>
            <a:pPr lvl="1"/>
            <a:r>
              <a:rPr lang="en-CA" altLang="en-US"/>
              <a:t>moveTo(</a:t>
            </a:r>
            <a:r>
              <a:rPr lang="en-CA" altLang="en-US" i="1"/>
              <a:t>x,y</a:t>
            </a:r>
            <a:r>
              <a:rPr lang="en-CA" altLang="en-US"/>
              <a:t>) - defines the starting point of the line</a:t>
            </a:r>
          </a:p>
          <a:p>
            <a:pPr lvl="1"/>
            <a:r>
              <a:rPr lang="en-CA" altLang="en-US"/>
              <a:t>lineTo(</a:t>
            </a:r>
            <a:r>
              <a:rPr lang="en-CA" altLang="en-US" i="1"/>
              <a:t>x,y</a:t>
            </a:r>
            <a:r>
              <a:rPr lang="en-CA" altLang="en-US"/>
              <a:t>) - defines the ending point of the line</a:t>
            </a:r>
          </a:p>
          <a:p>
            <a:r>
              <a:rPr lang="en-CA" altLang="en-US"/>
              <a:t>To actually draw the line, you must use one of the "ink" methods, like stroke()</a:t>
            </a: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34147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Co-ordinates (</a:t>
            </a:r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Draw a Line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4403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 dirty="0"/>
          </a:p>
          <a:p>
            <a:r>
              <a:rPr lang="en-CA" altLang="en-US" dirty="0"/>
              <a:t>Define a starting point in position (0,0), and an ending point in position (200,100). Then use the stroke() method to actually draw the line: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dirty="0"/>
              <a:t>var canvas = </a:t>
            </a:r>
            <a:r>
              <a:rPr lang="en-CA" altLang="en-US" dirty="0" err="1"/>
              <a:t>document.getElementById</a:t>
            </a:r>
            <a:r>
              <a:rPr lang="en-CA" altLang="en-US" dirty="0"/>
              <a:t>("</a:t>
            </a:r>
            <a:r>
              <a:rPr lang="en-CA" altLang="en-US" dirty="0" err="1"/>
              <a:t>myCanvas</a:t>
            </a:r>
            <a:r>
              <a:rPr lang="en-CA" altLang="en-US" dirty="0"/>
              <a:t>");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dirty="0"/>
              <a:t>var </a:t>
            </a:r>
            <a:r>
              <a:rPr lang="en-CA" altLang="en-US" dirty="0" err="1"/>
              <a:t>ctx</a:t>
            </a:r>
            <a:r>
              <a:rPr lang="en-CA" altLang="en-US" dirty="0"/>
              <a:t> = </a:t>
            </a:r>
            <a:r>
              <a:rPr lang="en-CA" altLang="en-US" dirty="0" err="1"/>
              <a:t>canvas.getContext</a:t>
            </a:r>
            <a:r>
              <a:rPr lang="en-CA" altLang="en-US" dirty="0"/>
              <a:t>("2d");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dirty="0" err="1"/>
              <a:t>ctx.moveTo</a:t>
            </a:r>
            <a:r>
              <a:rPr lang="en-CA" altLang="en-US" dirty="0"/>
              <a:t>(0,0);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dirty="0" err="1"/>
              <a:t>ctx.lineTo</a:t>
            </a:r>
            <a:r>
              <a:rPr lang="en-CA" altLang="en-US" dirty="0"/>
              <a:t>(200,100);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dirty="0" err="1"/>
              <a:t>ctx.stroke</a:t>
            </a:r>
            <a:r>
              <a:rPr lang="en-CA" altLang="en-US" dirty="0"/>
              <a:t>();</a:t>
            </a:r>
            <a:endParaRPr lang="en-US" altLang="en-US" sz="1600" dirty="0"/>
          </a:p>
          <a:p>
            <a:endParaRPr lang="en-US" altLang="en-US" sz="1800" dirty="0"/>
          </a:p>
          <a:p>
            <a:endParaRPr lang="en-US" altLang="en-US" sz="1800" dirty="0"/>
          </a:p>
        </p:txBody>
      </p:sp>
      <p:sp>
        <p:nvSpPr>
          <p:cNvPr id="4403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Co-ordinates (Example)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46082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To draw a circle on a canvas, use the following methods:</a:t>
            </a:r>
          </a:p>
          <a:p>
            <a:pPr lvl="1"/>
            <a:r>
              <a:rPr lang="en-CA" altLang="en-US"/>
              <a:t>beginPath() - begins a path</a:t>
            </a:r>
          </a:p>
          <a:p>
            <a:pPr lvl="1"/>
            <a:r>
              <a:rPr lang="en-CA" altLang="en-US"/>
              <a:t>arc(x,y,r,startangle,endangle) - creates an arc/curve. </a:t>
            </a:r>
          </a:p>
          <a:p>
            <a:r>
              <a:rPr lang="en-CA" altLang="en-US"/>
              <a:t>To create a circle with arc(): </a:t>
            </a:r>
          </a:p>
          <a:p>
            <a:pPr lvl="1"/>
            <a:r>
              <a:rPr lang="en-CA" altLang="en-US"/>
              <a:t>Set start angle to 0 and end angle to 2*Math.PI</a:t>
            </a:r>
          </a:p>
          <a:p>
            <a:pPr lvl="1"/>
            <a:r>
              <a:rPr lang="en-CA" altLang="en-US"/>
              <a:t>The x and y parameters define the x- and y-coordinates of the center of the circle</a:t>
            </a:r>
          </a:p>
          <a:p>
            <a:pPr lvl="1"/>
            <a:r>
              <a:rPr lang="en-CA" altLang="en-US"/>
              <a:t>The r parameter defines the radius of the circle</a:t>
            </a:r>
          </a:p>
          <a:p>
            <a:pPr>
              <a:buFont typeface="Wingdings 3" panose="05040102010807070707" pitchFamily="18" charset="2"/>
              <a:buChar char="•"/>
            </a:pP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46083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Co-ordinates (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Draw a Circle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3619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3619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Co-ordinates (Example)</a:t>
            </a:r>
          </a:p>
        </p:txBody>
      </p:sp>
      <p:sp>
        <p:nvSpPr>
          <p:cNvPr id="136197" name="Content Placeholder 1"/>
          <p:cNvSpPr>
            <a:spLocks noChangeArrowheads="1"/>
          </p:cNvSpPr>
          <p:nvPr/>
        </p:nvSpPr>
        <p:spPr bwMode="auto">
          <a:xfrm>
            <a:off x="673100" y="1282700"/>
            <a:ext cx="8229600" cy="494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1pPr>
            <a:lvl2pPr marL="620713" indent="-228600" eaLnBrk="0" hangingPunct="0">
              <a:spcBef>
                <a:spcPts val="325"/>
              </a:spcBef>
              <a:buClr>
                <a:schemeClr val="accent1"/>
              </a:buClr>
              <a:buSzPct val="68000"/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2pPr>
            <a:lvl3pPr marL="858838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3pPr>
            <a:lvl4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4pPr>
            <a:lvl5pPr marL="13716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5pPr>
            <a:lvl6pPr marL="1828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6pPr>
            <a:lvl7pPr marL="2286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7pPr>
            <a:lvl8pPr marL="2743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8pPr>
            <a:lvl9pPr marL="32004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800" dirty="0"/>
          </a:p>
          <a:p>
            <a:r>
              <a:rPr lang="en-CA" altLang="en-US" dirty="0"/>
              <a:t>Define a circle with the arc() method. Then use the stroke() method to actually draw the circle: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dirty="0"/>
              <a:t>var canvas = </a:t>
            </a:r>
            <a:r>
              <a:rPr lang="en-CA" altLang="en-US" dirty="0" err="1"/>
              <a:t>document.getElementById</a:t>
            </a:r>
            <a:r>
              <a:rPr lang="en-CA" altLang="en-US" dirty="0"/>
              <a:t>("</a:t>
            </a:r>
            <a:r>
              <a:rPr lang="en-CA" altLang="en-US" dirty="0" err="1"/>
              <a:t>myCanvas</a:t>
            </a:r>
            <a:r>
              <a:rPr lang="en-CA" altLang="en-US" dirty="0"/>
              <a:t>");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dirty="0"/>
              <a:t>var </a:t>
            </a:r>
            <a:r>
              <a:rPr lang="en-CA" altLang="en-US" dirty="0" err="1"/>
              <a:t>ctx</a:t>
            </a:r>
            <a:r>
              <a:rPr lang="en-CA" altLang="en-US" dirty="0"/>
              <a:t> = </a:t>
            </a:r>
            <a:r>
              <a:rPr lang="en-CA" altLang="en-US" dirty="0" err="1"/>
              <a:t>canvas.getContext</a:t>
            </a:r>
            <a:r>
              <a:rPr lang="en-CA" altLang="en-US" dirty="0"/>
              <a:t>("2d");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dirty="0" err="1"/>
              <a:t>ctx.beginPath</a:t>
            </a:r>
            <a:r>
              <a:rPr lang="en-CA" altLang="en-US" dirty="0"/>
              <a:t>();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dirty="0"/>
              <a:t>ctx.arc(95,50,40,0,2*</a:t>
            </a:r>
            <a:r>
              <a:rPr lang="en-CA" altLang="en-US" dirty="0" err="1"/>
              <a:t>Math.PI</a:t>
            </a:r>
            <a:r>
              <a:rPr lang="en-CA" altLang="en-US" dirty="0"/>
              <a:t>);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dirty="0" err="1"/>
              <a:t>ctx.stroke</a:t>
            </a:r>
            <a:r>
              <a:rPr lang="en-CA" altLang="en-US" dirty="0"/>
              <a:t>();</a:t>
            </a:r>
            <a:endParaRPr lang="en-US" altLang="en-US" sz="1600" dirty="0"/>
          </a:p>
          <a:p>
            <a:endParaRPr lang="en-US" alt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CA" altLang="en-US"/>
              <a:t>Canvas Gradients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CA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38242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2400"/>
          </a:p>
          <a:p>
            <a:r>
              <a:rPr lang="en-CA" altLang="en-US" sz="2400"/>
              <a:t>Gradients can be used to fill rectangles, circles, lines, text, etc. Shapes on the canvas are not limited to solid colors</a:t>
            </a:r>
          </a:p>
          <a:p>
            <a:r>
              <a:rPr lang="en-CA" altLang="en-US" sz="2400"/>
              <a:t>There are two different types of gradients:</a:t>
            </a:r>
          </a:p>
          <a:p>
            <a:pPr lvl="1"/>
            <a:r>
              <a:rPr lang="en-CA" altLang="en-US" sz="2000"/>
              <a:t>createLinearGradient(</a:t>
            </a:r>
            <a:r>
              <a:rPr lang="en-CA" altLang="en-US" sz="2000" i="1"/>
              <a:t>x,y,x1,y1</a:t>
            </a:r>
            <a:r>
              <a:rPr lang="en-CA" altLang="en-US" sz="2000"/>
              <a:t>) - creates a linear gradient</a:t>
            </a:r>
          </a:p>
          <a:p>
            <a:pPr lvl="1"/>
            <a:r>
              <a:rPr lang="en-CA" altLang="en-US" sz="2000"/>
              <a:t>createRadialGradient(</a:t>
            </a:r>
            <a:r>
              <a:rPr lang="en-CA" altLang="en-US" sz="2000" i="1"/>
              <a:t>x,y,r,x1,y1,r1</a:t>
            </a:r>
            <a:r>
              <a:rPr lang="en-CA" altLang="en-US" sz="2000"/>
              <a:t>) - creates a radial/circular gradient</a:t>
            </a:r>
          </a:p>
          <a:p>
            <a:r>
              <a:rPr lang="en-CA" altLang="en-US" sz="2400"/>
              <a:t>Once we have a gradient object, we must add two or more color stops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</p:txBody>
      </p:sp>
      <p:sp>
        <p:nvSpPr>
          <p:cNvPr id="138243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Gradients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40290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 sz="2400"/>
              <a:t>The addColorStop() method specifies the color stops, and its position along the gradient. Gradient positions can be anywhere between 0 to 1.</a:t>
            </a:r>
          </a:p>
          <a:p>
            <a:r>
              <a:rPr lang="en-CA" altLang="en-US" sz="2400"/>
              <a:t>To use the gradient, set the fillStyle or strokeStyle property to the gradient, then draw the shape (rectangle, text, or a line)</a:t>
            </a: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40291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Gradients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42338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Create a linear gradient. Fill rectangle with the gradient:</a:t>
            </a:r>
          </a:p>
          <a:p>
            <a:r>
              <a:rPr lang="en-CA" altLang="en-US"/>
              <a:t>JavaScript:</a:t>
            </a:r>
          </a:p>
          <a:p>
            <a:pPr lvl="1"/>
            <a:r>
              <a:rPr lang="en-CA" altLang="en-US" sz="2000"/>
              <a:t>var c=document.getElementById("myCanvas");</a:t>
            </a:r>
            <a:br>
              <a:rPr lang="en-CA" altLang="en-US" sz="2000"/>
            </a:br>
            <a:r>
              <a:rPr lang="en-CA" altLang="en-US" sz="2000"/>
              <a:t>var ctx=c.getContext("2d");</a:t>
            </a:r>
            <a:br>
              <a:rPr lang="en-CA" altLang="en-US" sz="2000"/>
            </a:br>
            <a:br>
              <a:rPr lang="en-CA" altLang="en-US" sz="2000"/>
            </a:br>
            <a:r>
              <a:rPr lang="en-CA" altLang="en-US" sz="2000"/>
              <a:t>// Create gradient</a:t>
            </a:r>
            <a:br>
              <a:rPr lang="en-CA" altLang="en-US" sz="2000"/>
            </a:br>
            <a:r>
              <a:rPr lang="en-CA" altLang="en-US" sz="2000" b="1"/>
              <a:t>var grd=ctx.createLinearGradient(0,0,200,0);</a:t>
            </a:r>
            <a:br>
              <a:rPr lang="en-CA" altLang="en-US" sz="2000"/>
            </a:br>
            <a:r>
              <a:rPr lang="en-CA" altLang="en-US" sz="2000"/>
              <a:t>grd.addColorStop(0,"red");</a:t>
            </a:r>
            <a:br>
              <a:rPr lang="en-CA" altLang="en-US" sz="2000"/>
            </a:br>
            <a:r>
              <a:rPr lang="en-CA" altLang="en-US" sz="2000"/>
              <a:t>grd.addColorStop(1,“blue");</a:t>
            </a:r>
            <a:br>
              <a:rPr lang="en-CA" altLang="en-US" sz="2000"/>
            </a:br>
            <a:br>
              <a:rPr lang="en-CA" altLang="en-US" sz="2000"/>
            </a:br>
            <a:r>
              <a:rPr lang="en-CA" altLang="en-US" sz="2000"/>
              <a:t>// Fill with gradient</a:t>
            </a:r>
            <a:br>
              <a:rPr lang="en-CA" altLang="en-US" sz="2000"/>
            </a:br>
            <a:r>
              <a:rPr lang="en-CA" altLang="en-US" sz="2000"/>
              <a:t>ctx.fillStyle=grd;</a:t>
            </a:r>
            <a:br>
              <a:rPr lang="en-CA" altLang="en-US" sz="2000"/>
            </a:br>
            <a:r>
              <a:rPr lang="en-CA" altLang="en-US" sz="2000"/>
              <a:t>ctx.fillRect(10,10,150,80);</a:t>
            </a:r>
            <a:endParaRPr lang="en-US" altLang="en-US" sz="1800"/>
          </a:p>
          <a:p>
            <a:endParaRPr lang="en-US" altLang="en-US" sz="1800"/>
          </a:p>
        </p:txBody>
      </p:sp>
      <p:sp>
        <p:nvSpPr>
          <p:cNvPr id="142339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</a:rPr>
              <a:t>HTML5 Canvas Gradients </a:t>
            </a:r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CA" altLang="en-US" sz="2800" b="0">
                <a:latin typeface="Arial" panose="020B0604020202020204" pitchFamily="34" charset="0"/>
              </a:rPr>
              <a:t>createLinearGradient - Example</a:t>
            </a:r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44386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341438"/>
            <a:ext cx="8229600" cy="46656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r>
              <a:rPr lang="en-CA" altLang="en-US"/>
              <a:t>Create a radial/circular gradient. Fill rectangle with the gradient:</a:t>
            </a:r>
          </a:p>
          <a:p>
            <a:r>
              <a:rPr lang="en-CA" altLang="en-US"/>
              <a:t>JavaScript:</a:t>
            </a:r>
          </a:p>
          <a:p>
            <a:pPr lvl="1"/>
            <a:r>
              <a:rPr lang="en-CA" altLang="en-US" sz="2000"/>
              <a:t>var c=document.getElementById("myCanvas");</a:t>
            </a:r>
            <a:br>
              <a:rPr lang="en-CA" altLang="en-US" sz="2000"/>
            </a:br>
            <a:r>
              <a:rPr lang="en-CA" altLang="en-US" sz="2000"/>
              <a:t>var ctx=c.getContext("2d");</a:t>
            </a:r>
            <a:br>
              <a:rPr lang="en-CA" altLang="en-US" sz="2000"/>
            </a:br>
            <a:br>
              <a:rPr lang="en-CA" altLang="en-US" sz="2000"/>
            </a:br>
            <a:r>
              <a:rPr lang="en-CA" altLang="en-US" sz="2000"/>
              <a:t>// Create gradient</a:t>
            </a:r>
            <a:br>
              <a:rPr lang="en-CA" altLang="en-US" sz="2000"/>
            </a:br>
            <a:r>
              <a:rPr lang="en-CA" altLang="en-US" sz="2000" b="1"/>
              <a:t>var grd=ctx.createRadialGradient(75,50,5,90,60,100);</a:t>
            </a:r>
            <a:br>
              <a:rPr lang="en-CA" altLang="en-US" sz="2000"/>
            </a:br>
            <a:r>
              <a:rPr lang="en-CA" altLang="en-US" sz="2000"/>
              <a:t>grd.addColorStop(0,"red");</a:t>
            </a:r>
            <a:br>
              <a:rPr lang="en-CA" altLang="en-US" sz="2000"/>
            </a:br>
            <a:r>
              <a:rPr lang="en-CA" altLang="en-US" sz="2000"/>
              <a:t>grd.addColorStop(1,“blue");</a:t>
            </a:r>
            <a:br>
              <a:rPr lang="en-CA" altLang="en-US" sz="2000"/>
            </a:br>
            <a:br>
              <a:rPr lang="en-CA" altLang="en-US" sz="2000"/>
            </a:br>
            <a:r>
              <a:rPr lang="en-CA" altLang="en-US" sz="2000"/>
              <a:t>// Fill with gradient</a:t>
            </a:r>
            <a:br>
              <a:rPr lang="en-CA" altLang="en-US" sz="2000"/>
            </a:br>
            <a:r>
              <a:rPr lang="en-CA" altLang="en-US" sz="2000"/>
              <a:t>ctx.fillStyle = grd;</a:t>
            </a:r>
            <a:br>
              <a:rPr lang="en-CA" altLang="en-US" sz="2000"/>
            </a:br>
            <a:r>
              <a:rPr lang="en-CA" altLang="en-US" sz="2000"/>
              <a:t>ctx.fillRect(10,10,150,80);</a:t>
            </a:r>
            <a:endParaRPr lang="en-US" altLang="en-US" sz="1600"/>
          </a:p>
        </p:txBody>
      </p:sp>
      <p:sp>
        <p:nvSpPr>
          <p:cNvPr id="144387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</a:rPr>
              <a:t>HTML5 Canvas Gradients </a:t>
            </a:r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CA" altLang="en-US" sz="2800" b="0">
                <a:latin typeface="Arial" panose="020B0604020202020204" pitchFamily="34" charset="0"/>
              </a:rPr>
              <a:t>createRadialGradient - Example</a:t>
            </a:r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4643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341438"/>
            <a:ext cx="8229600" cy="46656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r>
              <a:rPr lang="en-CA" altLang="en-US" sz="2600">
                <a:latin typeface="Arial" panose="020B0604020202020204" pitchFamily="34" charset="0"/>
              </a:rPr>
              <a:t>The createLinearGradient() method creates a linear gradient object </a:t>
            </a:r>
          </a:p>
          <a:p>
            <a:r>
              <a:rPr lang="en-CA" altLang="en-US" sz="2600">
                <a:latin typeface="Arial" panose="020B0604020202020204" pitchFamily="34" charset="0"/>
              </a:rPr>
              <a:t>JavaScript syntax:</a:t>
            </a:r>
          </a:p>
          <a:p>
            <a:pPr lvl="1"/>
            <a:r>
              <a:rPr lang="en-CA" altLang="en-US" sz="2600" i="1">
                <a:latin typeface="Arial" panose="020B0604020202020204" pitchFamily="34" charset="0"/>
              </a:rPr>
              <a:t>context</a:t>
            </a:r>
            <a:r>
              <a:rPr lang="en-CA" altLang="en-US" sz="2600">
                <a:latin typeface="Arial" panose="020B0604020202020204" pitchFamily="34" charset="0"/>
              </a:rPr>
              <a:t>.createLinearGradient(</a:t>
            </a:r>
            <a:r>
              <a:rPr lang="en-CA" altLang="en-US" sz="2600" i="1">
                <a:latin typeface="Arial" panose="020B0604020202020204" pitchFamily="34" charset="0"/>
              </a:rPr>
              <a:t>x0,y0,x1,y1</a:t>
            </a:r>
            <a:r>
              <a:rPr lang="en-CA" altLang="en-US" sz="2600">
                <a:latin typeface="Arial" panose="020B0604020202020204" pitchFamily="34" charset="0"/>
              </a:rPr>
              <a:t>);</a:t>
            </a:r>
            <a:endParaRPr lang="en-US" altLang="en-US" sz="2600">
              <a:latin typeface="Arial" panose="020B0604020202020204" pitchFamily="34" charset="0"/>
            </a:endParaRPr>
          </a:p>
          <a:p>
            <a:r>
              <a:rPr lang="en-CA" altLang="en-US" sz="2600" i="1">
                <a:latin typeface="Arial" panose="020B0604020202020204" pitchFamily="34" charset="0"/>
              </a:rPr>
              <a:t>x0: </a:t>
            </a:r>
            <a:r>
              <a:rPr lang="en-CA" altLang="en-US" sz="2600">
                <a:latin typeface="Arial" panose="020B0604020202020204" pitchFamily="34" charset="0"/>
              </a:rPr>
              <a:t>The x-coordinate of the start point of the gradient</a:t>
            </a:r>
          </a:p>
          <a:p>
            <a:r>
              <a:rPr lang="en-CA" altLang="en-US" sz="2600" i="1">
                <a:latin typeface="Arial" panose="020B0604020202020204" pitchFamily="34" charset="0"/>
              </a:rPr>
              <a:t>y0: </a:t>
            </a:r>
            <a:r>
              <a:rPr lang="en-CA" altLang="en-US" sz="2600">
                <a:latin typeface="Arial" panose="020B0604020202020204" pitchFamily="34" charset="0"/>
              </a:rPr>
              <a:t>The y-coordinate of the start point of the gradient</a:t>
            </a:r>
          </a:p>
          <a:p>
            <a:r>
              <a:rPr lang="en-CA" altLang="en-US" sz="2600" i="1">
                <a:latin typeface="Arial" panose="020B0604020202020204" pitchFamily="34" charset="0"/>
              </a:rPr>
              <a:t>x1: </a:t>
            </a:r>
            <a:r>
              <a:rPr lang="en-CA" altLang="en-US" sz="2600">
                <a:latin typeface="Arial" panose="020B0604020202020204" pitchFamily="34" charset="0"/>
              </a:rPr>
              <a:t>The x-coordinate of the end point of the gradient</a:t>
            </a:r>
          </a:p>
          <a:p>
            <a:r>
              <a:rPr lang="en-CA" altLang="en-US" sz="2600" i="1">
                <a:latin typeface="Arial" panose="020B0604020202020204" pitchFamily="34" charset="0"/>
              </a:rPr>
              <a:t>y1: </a:t>
            </a:r>
            <a:r>
              <a:rPr lang="en-CA" altLang="en-US" sz="2600">
                <a:latin typeface="Arial" panose="020B0604020202020204" pitchFamily="34" charset="0"/>
              </a:rPr>
              <a:t>The y-coordinate of the end point of the gradient</a:t>
            </a:r>
            <a:endParaRPr lang="en-US" altLang="en-US" sz="2600">
              <a:latin typeface="Arial" panose="020B0604020202020204" pitchFamily="34" charset="0"/>
            </a:endParaRPr>
          </a:p>
        </p:txBody>
      </p:sp>
      <p:sp>
        <p:nvSpPr>
          <p:cNvPr id="14643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60350"/>
            <a:ext cx="8229600" cy="792163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</a:t>
            </a: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</a:rPr>
              <a:t>Gradients </a:t>
            </a:r>
            <a:b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</a:rPr>
              <a:t>(Examples Explained)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50530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CA" altLang="en-US"/>
          </a:p>
          <a:p>
            <a:r>
              <a:rPr lang="en-CA" altLang="en-US"/>
              <a:t>The createRadialGradient() method creates a radial/circular gradient object </a:t>
            </a:r>
          </a:p>
          <a:p>
            <a:r>
              <a:rPr lang="en-CA" altLang="en-US"/>
              <a:t>JavaScript syntax:</a:t>
            </a:r>
          </a:p>
          <a:p>
            <a:pPr lvl="1"/>
            <a:r>
              <a:rPr lang="en-CA" altLang="en-US" sz="2100" i="1"/>
              <a:t>context</a:t>
            </a:r>
            <a:r>
              <a:rPr lang="en-CA" altLang="en-US" sz="2100"/>
              <a:t>.createRadialGradient(</a:t>
            </a:r>
            <a:r>
              <a:rPr lang="en-CA" altLang="en-US" sz="2100" i="1"/>
              <a:t>x0,y0,r0,x1,y1,r1</a:t>
            </a:r>
            <a:r>
              <a:rPr lang="en-CA" altLang="en-US" sz="2100"/>
              <a:t>);</a:t>
            </a:r>
            <a:endParaRPr lang="en-US" altLang="en-US" sz="2100"/>
          </a:p>
          <a:p>
            <a:pPr lvl="1"/>
            <a:r>
              <a:rPr lang="en-CA" altLang="en-US" sz="2100" i="1"/>
              <a:t>x0: </a:t>
            </a:r>
            <a:r>
              <a:rPr lang="en-CA" altLang="en-US" sz="2100"/>
              <a:t>The x-coordinate of the starting circle of the gradient</a:t>
            </a:r>
          </a:p>
          <a:p>
            <a:pPr lvl="1"/>
            <a:r>
              <a:rPr lang="en-CA" altLang="en-US" sz="2100" i="1"/>
              <a:t>y0: </a:t>
            </a:r>
            <a:r>
              <a:rPr lang="en-CA" altLang="en-US" sz="2100"/>
              <a:t>The y-coordinate of the starting circle of the gradient</a:t>
            </a:r>
          </a:p>
          <a:p>
            <a:pPr lvl="1"/>
            <a:r>
              <a:rPr lang="en-CA" altLang="en-US" sz="2100" i="1"/>
              <a:t>r0: </a:t>
            </a:r>
            <a:r>
              <a:rPr lang="en-CA" altLang="en-US" sz="2100"/>
              <a:t>The radius of the starting circle</a:t>
            </a:r>
          </a:p>
          <a:p>
            <a:pPr lvl="1"/>
            <a:r>
              <a:rPr lang="en-CA" altLang="en-US" sz="2100" i="1"/>
              <a:t>x1: </a:t>
            </a:r>
            <a:r>
              <a:rPr lang="en-CA" altLang="en-US" sz="2100"/>
              <a:t>The x-coordinate of the ending circle of the gradient</a:t>
            </a:r>
          </a:p>
          <a:p>
            <a:pPr lvl="1"/>
            <a:r>
              <a:rPr lang="en-CA" altLang="en-US" sz="2100" i="1"/>
              <a:t>y1: </a:t>
            </a:r>
            <a:r>
              <a:rPr lang="en-CA" altLang="en-US" sz="2100"/>
              <a:t>The y-coordinate of the ending circle of the gradient</a:t>
            </a:r>
          </a:p>
          <a:p>
            <a:pPr lvl="1"/>
            <a:r>
              <a:rPr lang="en-CA" altLang="en-US" sz="2100" i="1"/>
              <a:t>r1: </a:t>
            </a:r>
            <a:r>
              <a:rPr lang="en-CA" altLang="en-US" sz="2100"/>
              <a:t>The radius of the ending circle</a:t>
            </a:r>
            <a:endParaRPr lang="en-US" altLang="en-US" sz="2100"/>
          </a:p>
        </p:txBody>
      </p:sp>
      <p:sp>
        <p:nvSpPr>
          <p:cNvPr id="150531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</a:t>
            </a: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</a:rPr>
              <a:t>Gradients </a:t>
            </a:r>
            <a:b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</a:rPr>
              <a:t>(Example Explained)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CA" altLang="en-US"/>
              <a:t>Canvas Text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CA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52578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To draw text on a canvas, the most important property and methods are:</a:t>
            </a:r>
          </a:p>
          <a:p>
            <a:pPr lvl="1"/>
            <a:r>
              <a:rPr lang="en-CA" altLang="en-US"/>
              <a:t>font - defines the font properties for the text</a:t>
            </a:r>
          </a:p>
          <a:p>
            <a:pPr lvl="1"/>
            <a:r>
              <a:rPr lang="en-CA" altLang="en-US"/>
              <a:t>fillText(</a:t>
            </a:r>
            <a:r>
              <a:rPr lang="en-CA" altLang="en-US" i="1"/>
              <a:t>text,x,y</a:t>
            </a:r>
            <a:r>
              <a:rPr lang="en-CA" altLang="en-US"/>
              <a:t>) - draws "filled" text on the canvas</a:t>
            </a:r>
          </a:p>
          <a:p>
            <a:pPr lvl="1"/>
            <a:r>
              <a:rPr lang="en-CA" altLang="en-US"/>
              <a:t>strokeText(</a:t>
            </a:r>
            <a:r>
              <a:rPr lang="en-CA" altLang="en-US" i="1"/>
              <a:t>text,x,y</a:t>
            </a:r>
            <a:r>
              <a:rPr lang="en-CA" altLang="en-US"/>
              <a:t>) - draws text on the canvas (no fill)</a:t>
            </a:r>
          </a:p>
          <a:p>
            <a:br>
              <a:rPr lang="en-CA" altLang="en-US"/>
            </a:b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52579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Text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48130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Example</a:t>
            </a:r>
          </a:p>
          <a:p>
            <a:pPr lvl="1"/>
            <a:r>
              <a:rPr lang="en-CA" altLang="en-US"/>
              <a:t>Set font to 30px "Arial" and write a filled text on the canvas:</a:t>
            </a:r>
          </a:p>
          <a:p>
            <a:pPr lvl="1"/>
            <a:r>
              <a:rPr lang="en-CA" altLang="en-US"/>
              <a:t>JavaScript:</a:t>
            </a:r>
          </a:p>
          <a:p>
            <a:pPr lvl="2"/>
            <a:r>
              <a:rPr lang="en-CA" altLang="en-US"/>
              <a:t>var canvas = document.getElementById("myCanvas");</a:t>
            </a:r>
            <a:br>
              <a:rPr lang="en-CA" altLang="en-US"/>
            </a:br>
            <a:r>
              <a:rPr lang="en-CA" altLang="en-US"/>
              <a:t>var ctx = canvas.getContext("2d");</a:t>
            </a:r>
            <a:br>
              <a:rPr lang="en-CA" altLang="en-US"/>
            </a:br>
            <a:r>
              <a:rPr lang="en-CA" altLang="en-US"/>
              <a:t>ctx.font = "30px Arial";</a:t>
            </a:r>
            <a:br>
              <a:rPr lang="en-CA" altLang="en-US"/>
            </a:br>
            <a:r>
              <a:rPr lang="en-CA" altLang="en-US" b="1"/>
              <a:t>ctx.fillText("Hello World",10,50);</a:t>
            </a:r>
            <a:endParaRPr lang="en-US" altLang="en-US" sz="1500" b="1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48131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Text (</a:t>
            </a:r>
            <a:r>
              <a:rPr lang="en-CA" altLang="en-US" sz="2800">
                <a:latin typeface="Arial" panose="020B0604020202020204" pitchFamily="34" charset="0"/>
              </a:rPr>
              <a:t>Using fillText()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54626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Example</a:t>
            </a:r>
          </a:p>
          <a:p>
            <a:pPr lvl="1"/>
            <a:r>
              <a:rPr lang="en-CA" altLang="en-US"/>
              <a:t>Set font to 30px "Arial" and write a text, with no fill, on the canvas:</a:t>
            </a:r>
          </a:p>
          <a:p>
            <a:pPr lvl="1"/>
            <a:r>
              <a:rPr lang="en-CA" altLang="en-US"/>
              <a:t>JavaScript:</a:t>
            </a:r>
          </a:p>
          <a:p>
            <a:pPr lvl="2"/>
            <a:r>
              <a:rPr lang="en-CA" altLang="en-US"/>
              <a:t>var canvas = document.getElementById("myCanvas");</a:t>
            </a:r>
            <a:br>
              <a:rPr lang="en-CA" altLang="en-US"/>
            </a:br>
            <a:r>
              <a:rPr lang="en-CA" altLang="en-US"/>
              <a:t>var ctx = canvas.getContext("2d");</a:t>
            </a:r>
            <a:br>
              <a:rPr lang="en-CA" altLang="en-US"/>
            </a:br>
            <a:r>
              <a:rPr lang="en-CA" altLang="en-US"/>
              <a:t>ctx.font = "30px Arial";</a:t>
            </a:r>
            <a:br>
              <a:rPr lang="en-CA" altLang="en-US"/>
            </a:br>
            <a:r>
              <a:rPr lang="en-CA" altLang="en-US" b="1"/>
              <a:t>ctx.strokeText("Hello World",10,50);</a:t>
            </a:r>
            <a:endParaRPr lang="en-US" altLang="en-US" sz="1500" b="1"/>
          </a:p>
          <a:p>
            <a:endParaRPr lang="en-US" altLang="en-US" sz="1800" b="1"/>
          </a:p>
          <a:p>
            <a:endParaRPr lang="en-US" altLang="en-US" sz="1800"/>
          </a:p>
        </p:txBody>
      </p:sp>
      <p:sp>
        <p:nvSpPr>
          <p:cNvPr id="154627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Text (</a:t>
            </a:r>
            <a:r>
              <a:rPr lang="en-CA" altLang="en-US" sz="2800">
                <a:latin typeface="Arial" panose="020B0604020202020204" pitchFamily="34" charset="0"/>
              </a:rPr>
              <a:t>Using strokeText()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5667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2800">
              <a:latin typeface="Arial" panose="020B0604020202020204" pitchFamily="34" charset="0"/>
            </a:endParaRPr>
          </a:p>
          <a:p>
            <a:r>
              <a:rPr lang="en-CA" altLang="en-US" sz="2800">
                <a:latin typeface="Arial" panose="020B0604020202020204" pitchFamily="34" charset="0"/>
              </a:rPr>
              <a:t>Example</a:t>
            </a:r>
          </a:p>
          <a:p>
            <a:pPr lvl="1"/>
            <a:r>
              <a:rPr lang="en-CA" altLang="en-US" sz="2500">
                <a:latin typeface="Arial" panose="020B0604020202020204" pitchFamily="34" charset="0"/>
              </a:rPr>
              <a:t>Set font to 30px "Comic Sans MS" and write a filled red text in the center of the canvas:</a:t>
            </a:r>
          </a:p>
          <a:p>
            <a:pPr lvl="1"/>
            <a:r>
              <a:rPr lang="en-CA" altLang="en-US" sz="2500">
                <a:latin typeface="Arial" panose="020B0604020202020204" pitchFamily="34" charset="0"/>
              </a:rPr>
              <a:t>JavaScript:</a:t>
            </a:r>
          </a:p>
          <a:p>
            <a:pPr lvl="2"/>
            <a:r>
              <a:rPr lang="en-CA" altLang="en-US" sz="2200">
                <a:latin typeface="Arial" panose="020B0604020202020204" pitchFamily="34" charset="0"/>
              </a:rPr>
              <a:t>var canvas = document.getElementById("myCanvas");</a:t>
            </a:r>
            <a:br>
              <a:rPr lang="en-CA" altLang="en-US" sz="2200">
                <a:latin typeface="Arial" panose="020B0604020202020204" pitchFamily="34" charset="0"/>
              </a:rPr>
            </a:br>
            <a:r>
              <a:rPr lang="en-CA" altLang="en-US" sz="2200">
                <a:latin typeface="Arial" panose="020B0604020202020204" pitchFamily="34" charset="0"/>
              </a:rPr>
              <a:t>var ctx = canvas.getContext("2d");</a:t>
            </a:r>
            <a:br>
              <a:rPr lang="en-CA" altLang="en-US" sz="2200">
                <a:latin typeface="Arial" panose="020B0604020202020204" pitchFamily="34" charset="0"/>
              </a:rPr>
            </a:br>
            <a:r>
              <a:rPr lang="en-CA" altLang="en-US" sz="2200">
                <a:latin typeface="Arial" panose="020B0604020202020204" pitchFamily="34" charset="0"/>
              </a:rPr>
              <a:t>ctx.font = "30px Comic Sans MS";</a:t>
            </a:r>
            <a:br>
              <a:rPr lang="en-CA" altLang="en-US" sz="2200">
                <a:latin typeface="Arial" panose="020B0604020202020204" pitchFamily="34" charset="0"/>
              </a:rPr>
            </a:br>
            <a:r>
              <a:rPr lang="en-CA" altLang="en-US" sz="2200" b="1">
                <a:latin typeface="Arial" panose="020B0604020202020204" pitchFamily="34" charset="0"/>
              </a:rPr>
              <a:t>ctx.fillStyle = "red";</a:t>
            </a:r>
            <a:br>
              <a:rPr lang="en-CA" altLang="en-US" sz="2200" b="1">
                <a:latin typeface="Arial" panose="020B0604020202020204" pitchFamily="34" charset="0"/>
              </a:rPr>
            </a:br>
            <a:r>
              <a:rPr lang="en-CA" altLang="en-US" sz="2200" b="1">
                <a:latin typeface="Arial" panose="020B0604020202020204" pitchFamily="34" charset="0"/>
              </a:rPr>
              <a:t>ctx.textAlign = "center";</a:t>
            </a:r>
            <a:br>
              <a:rPr lang="en-CA" altLang="en-US" sz="2200">
                <a:latin typeface="Arial" panose="020B0604020202020204" pitchFamily="34" charset="0"/>
              </a:rPr>
            </a:br>
            <a:r>
              <a:rPr lang="en-CA" altLang="en-US" sz="2200">
                <a:latin typeface="Arial" panose="020B0604020202020204" pitchFamily="34" charset="0"/>
              </a:rPr>
              <a:t>ctx.fillText("Hello World", canvas.width/2, canvas.height/2);</a:t>
            </a:r>
            <a:endParaRPr lang="en-US" altLang="en-US" sz="2200">
              <a:latin typeface="Arial" panose="020B0604020202020204" pitchFamily="34" charset="0"/>
            </a:endParaRPr>
          </a:p>
        </p:txBody>
      </p:sp>
      <p:sp>
        <p:nvSpPr>
          <p:cNvPr id="15667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Text (</a:t>
            </a:r>
            <a:r>
              <a:rPr lang="en-CA" altLang="en-US" sz="2400" b="0">
                <a:latin typeface="Arial" panose="020B0604020202020204" pitchFamily="34" charset="0"/>
              </a:rPr>
              <a:t>Add Color and Center Text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CA" altLang="en-US"/>
              <a:t>Canvas Images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CA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64866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r>
              <a:rPr lang="en-CA" altLang="en-US"/>
              <a:t>To draw an image on a canvas, use the following method:</a:t>
            </a:r>
          </a:p>
          <a:p>
            <a:pPr lvl="1"/>
            <a:r>
              <a:rPr lang="en-CA" altLang="en-US"/>
              <a:t>drawImage(</a:t>
            </a:r>
            <a:r>
              <a:rPr lang="en-CA" altLang="en-US" i="1"/>
              <a:t>image,x,y</a:t>
            </a:r>
            <a:r>
              <a:rPr lang="en-CA" altLang="en-US"/>
              <a:t>)</a:t>
            </a:r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64867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Images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16691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altLang="en-US" sz="1800"/>
          </a:p>
          <a:p>
            <a:endParaRPr lang="en-CA" altLang="en-US"/>
          </a:p>
          <a:p>
            <a:r>
              <a:rPr lang="en-CA" altLang="en-US"/>
              <a:t>JavaScript: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/>
              <a:t>window.onload = function() {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/>
              <a:t>var canvas = document.getElementById("myCanvas");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/>
              <a:t>var ctx = canvas.getContext("2d");</a:t>
            </a:r>
            <a:br>
              <a:rPr lang="en-CA" altLang="en-US"/>
            </a:br>
            <a:endParaRPr lang="en-CA" altLang="en-US"/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/>
              <a:t>//Get the image from the &lt;img&gt; tag called “scream”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/>
              <a:t>var img = document.getElementById("scream");</a:t>
            </a:r>
          </a:p>
          <a:p>
            <a:pPr lvl="1">
              <a:buFont typeface="Verdana" panose="020B0604030504040204" pitchFamily="34" charset="0"/>
              <a:buNone/>
            </a:pPr>
            <a:endParaRPr lang="en-CA" altLang="en-US"/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 b="1"/>
              <a:t>ctx.drawImage(img, 10, 10);</a:t>
            </a:r>
            <a:endParaRPr lang="en-CA" altLang="en-US"/>
          </a:p>
          <a:p>
            <a:pPr lvl="1">
              <a:buFont typeface="Verdana" panose="020B0604030504040204" pitchFamily="34" charset="0"/>
              <a:buNone/>
            </a:pPr>
            <a:r>
              <a:rPr lang="en-CA" altLang="en-US"/>
              <a:t>};</a:t>
            </a:r>
            <a:endParaRPr lang="en-US" altLang="en-US" sz="1600"/>
          </a:p>
          <a:p>
            <a:pPr lvl="2"/>
            <a:endParaRPr lang="en-US" altLang="en-US" sz="1500"/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16691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HTML5 Canvas Images (</a:t>
            </a:r>
            <a:r>
              <a:rPr lang="en-CA" altLang="en-US" sz="2800">
                <a:latin typeface="Arial" panose="020B0604020202020204" pitchFamily="34" charset="0"/>
              </a:rPr>
              <a:t>Example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K. Lorenc - Last updated 2016/08/01</a:t>
            </a:r>
          </a:p>
        </p:txBody>
      </p:sp>
      <p:sp>
        <p:nvSpPr>
          <p:cNvPr id="2077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marL="107950" indent="0"/>
            <a:endParaRPr lang="en-US" altLang="en-US" sz="2000"/>
          </a:p>
          <a:p>
            <a:pPr marL="107950" indent="0"/>
            <a:r>
              <a:rPr lang="en-US" altLang="en-US" sz="2000"/>
              <a:t>W3schools.com</a:t>
            </a:r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 sz="2000"/>
          </a:p>
          <a:p>
            <a:pPr marL="107950" indent="0"/>
            <a:endParaRPr lang="en-US" altLang="en-US" sz="2000"/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 sz="2000"/>
          </a:p>
          <a:p>
            <a:pPr marL="107950" indent="0"/>
            <a:endParaRPr lang="en-US" altLang="en-US" sz="2000"/>
          </a:p>
          <a:p>
            <a:pPr marL="107950" indent="0"/>
            <a:endParaRPr lang="en-US" altLang="en-US" sz="2000"/>
          </a:p>
          <a:p>
            <a:pPr marL="107950" indent="0"/>
            <a:endParaRPr lang="en-US" altLang="en-US" sz="2000"/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 sz="2000"/>
          </a:p>
        </p:txBody>
      </p:sp>
      <p:sp>
        <p:nvSpPr>
          <p:cNvPr id="2078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References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7.01.25"/>
  <p:tag name="AS_TITLE" val="Aspose.Slides for .NET 2.0"/>
  <p:tag name="AS_VERSION" val="17.1"/>
</p:tagLst>
</file>

<file path=ppt/theme/theme1.xml><?xml version="1.0" encoding="utf-8"?>
<a:theme xmlns:a="http://schemas.openxmlformats.org/drawingml/2006/main" name="Concourse">
  <a:themeElements>
    <a:clrScheme name="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FFFFFF"/>
      </a:accent3>
      <a:accent4>
        <a:srgbClr val="000000"/>
      </a:accent4>
      <a:accent5>
        <a:srgbClr val="ADCEDC"/>
      </a:accent5>
      <a:accent6>
        <a:srgbClr val="C51B23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Arial"/>
      </a:majorFont>
      <a:minorFont>
        <a:latin typeface="Lucida Sans Unicod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29691</TotalTime>
  <Words>2052</Words>
  <Application>Microsoft Office PowerPoint</Application>
  <PresentationFormat>On-screen Show (4:3)</PresentationFormat>
  <Paragraphs>269</Paragraphs>
  <Slides>36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Lucida Sans Unicode</vt:lpstr>
      <vt:lpstr>Verdana</vt:lpstr>
      <vt:lpstr>Wingdings 2</vt:lpstr>
      <vt:lpstr>Wingdings 3</vt:lpstr>
      <vt:lpstr>Concourse</vt:lpstr>
      <vt:lpstr>HTML Graphics (Canvas)</vt:lpstr>
      <vt:lpstr>Canvas Basics</vt:lpstr>
      <vt:lpstr>What will be covered in this Section</vt:lpstr>
      <vt:lpstr>HTML5 Canvas</vt:lpstr>
      <vt:lpstr>HTML5 Canvas (Browser Support)</vt:lpstr>
      <vt:lpstr>HTML5 Canvas</vt:lpstr>
      <vt:lpstr>HTML5 Canvas</vt:lpstr>
      <vt:lpstr>HTML5 Canvas (Example)</vt:lpstr>
      <vt:lpstr>HTML5 Canvas</vt:lpstr>
      <vt:lpstr>Canvas Drawing</vt:lpstr>
      <vt:lpstr>HTML5 Canvas Drawing</vt:lpstr>
      <vt:lpstr>HTML5 Canvas Drawing</vt:lpstr>
      <vt:lpstr>HTML5 Canvas Drawing</vt:lpstr>
      <vt:lpstr>HTML5 Canvas Drawing</vt:lpstr>
      <vt:lpstr>Canvas Co-ordinates</vt:lpstr>
      <vt:lpstr>HTML5 Canvas Co-ordinates</vt:lpstr>
      <vt:lpstr>HTML5 Canvas Co-ordinates (Draw a Line)</vt:lpstr>
      <vt:lpstr>HTML5 Canvas Co-ordinates (Example)</vt:lpstr>
      <vt:lpstr>HTML5 Canvas Co-ordinates (Draw a Circle)</vt:lpstr>
      <vt:lpstr>HTML5 Canvas Co-ordinates (Example)</vt:lpstr>
      <vt:lpstr>Canvas Gradients</vt:lpstr>
      <vt:lpstr>HTML5 Canvas Gradients</vt:lpstr>
      <vt:lpstr>HTML5 Canvas Gradients</vt:lpstr>
      <vt:lpstr>HTML5 Canvas Gradients (createLinearGradient - Example)</vt:lpstr>
      <vt:lpstr>HTML5 Canvas Gradients (createRadialGradient - Example)</vt:lpstr>
      <vt:lpstr>HTML5 Canvas Gradients  (Examples Explained)</vt:lpstr>
      <vt:lpstr>HTML5 Canvas Gradients  (Example Explained)</vt:lpstr>
      <vt:lpstr>Canvas Text</vt:lpstr>
      <vt:lpstr>HTML5 Canvas Text</vt:lpstr>
      <vt:lpstr>HTML5 Canvas Text (Using fillText())</vt:lpstr>
      <vt:lpstr>HTML5 Canvas Text (Using strokeText())</vt:lpstr>
      <vt:lpstr>HTML5 Canvas Text (Add Color and Center Text)</vt:lpstr>
      <vt:lpstr>Canvas Images</vt:lpstr>
      <vt:lpstr>HTML5 Canvas Images</vt:lpstr>
      <vt:lpstr>HTML5 Canvas Images (Example)</vt:lpstr>
      <vt:lpstr>References</vt:lpstr>
    </vt:vector>
  </TitlesOfParts>
  <Manager/>
  <Company>McGill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McGILL UNIVERSITY PENSION PLAN  AMENDMENT 24: PENSIONABILITY OF STIPENDS</dc:title>
  <dc:subject/>
  <dc:creator>Administrative Desktop</dc:creator>
  <cp:keywords/>
  <dc:description/>
  <cp:lastModifiedBy>Ronald Raphael</cp:lastModifiedBy>
  <cp:revision>834</cp:revision>
  <cp:lastPrinted>2012-03-19T20:51:41Z</cp:lastPrinted>
  <dcterms:created xsi:type="dcterms:W3CDTF">2011-11-25T20:15:34Z</dcterms:created>
  <dcterms:modified xsi:type="dcterms:W3CDTF">2021-03-10T15:21:36Z</dcterms:modified>
  <cp:category/>
</cp:coreProperties>
</file>