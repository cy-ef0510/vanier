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70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gular Expressions for JavaScript" id="{6543F45C-8DDE-4B8E-8A9D-7BAA576D8413}">
          <p14:sldIdLst>
            <p14:sldId id="256"/>
          </p14:sldIdLst>
        </p14:section>
        <p14:section name="Why Regular Expressions?" id="{55606CAD-E9B4-4D20-8EEA-8A46BBA59A49}">
          <p14:sldIdLst>
            <p14:sldId id="257"/>
          </p14:sldIdLst>
        </p14:section>
        <p14:section name="Section 1: The ABCs and 123s" id="{4D7BDAC9-5E07-40F7-80A1-48EDB55D2572}">
          <p14:sldIdLst>
            <p14:sldId id="258"/>
            <p14:sldId id="259"/>
            <p14:sldId id="260"/>
          </p14:sldIdLst>
        </p14:section>
        <p14:section name="Section 2: The Dot" id="{686578B9-4DD9-4611-B125-D1567F05C01D}">
          <p14:sldIdLst>
            <p14:sldId id="261"/>
          </p14:sldIdLst>
        </p14:section>
        <p14:section name="Section 3: Matching specific characters" id="{D11F06AE-9FD7-44FD-B18C-C0D580CA182F}">
          <p14:sldIdLst>
            <p14:sldId id="262"/>
          </p14:sldIdLst>
        </p14:section>
        <p14:section name="Section 4: Excluding specific characters" id="{9BD13203-EB8E-4CBF-B11E-EBDAFC45A95E}">
          <p14:sldIdLst>
            <p14:sldId id="263"/>
          </p14:sldIdLst>
        </p14:section>
        <p14:section name="Section 5: Character ranges" id="{15ADEF11-7672-497A-B03E-ABDFCBDCCA61}">
          <p14:sldIdLst>
            <p14:sldId id="264"/>
            <p14:sldId id="266"/>
            <p14:sldId id="265"/>
          </p14:sldIdLst>
        </p14:section>
        <p14:section name="Section 6: Repetition syntax" id="{9E6F14FB-09DA-4E1E-A48D-8B00C3F6D5C4}">
          <p14:sldIdLst>
            <p14:sldId id="267"/>
            <p14:sldId id="268"/>
            <p14:sldId id="269"/>
          </p14:sldIdLst>
        </p14:section>
        <p14:section name="Section 7: Matching an arbitrary number of characters" id="{69641ABC-C5AE-4EBF-8000-BF8ED6CCE6BD}">
          <p14:sldIdLst>
            <p14:sldId id="271"/>
            <p14:sldId id="272"/>
          </p14:sldIdLst>
        </p14:section>
        <p14:section name="Section 8: Optional Characters" id="{BE444DC0-E170-4EC1-9854-2960430BC342}">
          <p14:sldIdLst>
            <p14:sldId id="273"/>
          </p14:sldIdLst>
        </p14:section>
        <p14:section name="Section 9: The whitespace" id="{9374AA9D-AF7A-411F-B2F0-A190DC410C58}">
          <p14:sldIdLst>
            <p14:sldId id="274"/>
            <p14:sldId id="275"/>
          </p14:sldIdLst>
        </p14:section>
        <p14:section name="Section 10: Starting and ending" id="{138D9EB7-C3D3-431C-B5B8-93C70F070D9F}">
          <p14:sldIdLst>
            <p14:sldId id="276"/>
            <p14:sldId id="277"/>
          </p14:sldIdLst>
        </p14:section>
        <p14:section name="Section 11: Match groups" id="{E8067610-00B6-42D6-B437-8AE324ED160A}">
          <p14:sldIdLst>
            <p14:sldId id="278"/>
            <p14:sldId id="279"/>
          </p14:sldIdLst>
        </p14:section>
        <p14:section name="Section 12: Nested groups" id="{E460A37E-8AB9-4B7C-AFBE-6DA1A9F4D310}">
          <p14:sldIdLst>
            <p14:sldId id="280"/>
            <p14:sldId id="281"/>
          </p14:sldIdLst>
        </p14:section>
        <p14:section name="Section 13: More group work" id="{F2FCD2C4-1367-4C2A-A82D-7F8343242CB4}">
          <p14:sldIdLst>
            <p14:sldId id="282"/>
          </p14:sldIdLst>
        </p14:section>
        <p14:section name="Section 14: It's all conditional" id="{952BBBA3-0A96-4B1C-81C4-53EB94F1E079}">
          <p14:sldIdLst>
            <p14:sldId id="283"/>
            <p14:sldId id="284"/>
            <p14:sldId id="285"/>
          </p14:sldIdLst>
        </p14:section>
        <p14:section name="Section 15: Other special characters" id="{3389BF8E-66C2-4850-9F7A-AADFD91221AC}">
          <p14:sldIdLst>
            <p14:sldId id="286"/>
            <p14:sldId id="287"/>
            <p14:sldId id="288"/>
            <p14:sldId id="28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32237"/>
            <a:ext cx="9144000" cy="19777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5102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9665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36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99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55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8153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047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4616"/>
            <a:ext cx="6172200" cy="42464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458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556951"/>
            <a:ext cx="6172200" cy="43040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079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877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515761"/>
            <a:ext cx="2628900" cy="46612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482016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870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3258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76D75-30F0-4CB5-800D-62335069C5CD}" type="datetimeFigureOut">
              <a:rPr lang="en-CA" smtClean="0"/>
              <a:t>2019-02-06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4088C-F373-4E74-B4DE-BFDE309C331F}" type="slidenum">
              <a:rPr lang="en-CA" smtClean="0"/>
              <a:t>‹#›</a:t>
            </a:fld>
            <a:endParaRPr lang="en-CA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050" y="365125"/>
            <a:ext cx="2952381" cy="11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3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ASCII#ASCII_printable_character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ref/jsref_obj_regexp.asp" TargetMode="External"/><Relationship Id="rId2" Type="http://schemas.openxmlformats.org/officeDocument/2006/relationships/hyperlink" Target="https://regexon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mozilla.org/en-US/docs/Web/JavaScript/Guide/Regular_Express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Regular Expressions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 smtClean="0"/>
              <a:t>For JavaScript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18736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Why Regular Expressions?</a:t>
            </a:r>
            <a:endParaRPr lang="en-C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b="1" dirty="0"/>
              <a:t>Regular expressions</a:t>
            </a:r>
            <a:r>
              <a:rPr lang="en-CA" dirty="0"/>
              <a:t> are extremely useful in extracting information from text such as code, log files, spreadsheets, or even documents. And while there is a lot of theory behind formal languages, the following lessons and examples will explore the more practical uses of regular expressions so that you can use them as quickly as possible.</a:t>
            </a:r>
          </a:p>
        </p:txBody>
      </p:sp>
    </p:spTree>
    <p:extLst>
      <p:ext uri="{BB962C8B-B14F-4D97-AF65-F5344CB8AC3E}">
        <p14:creationId xmlns:p14="http://schemas.microsoft.com/office/powerpoint/2010/main" val="1187608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An Introduction, and the ABCs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first thing to recognize when using regular expressions is that </a:t>
            </a:r>
            <a:r>
              <a:rPr lang="en-CA" b="1" dirty="0"/>
              <a:t>everything is essentially a character</a:t>
            </a:r>
            <a:r>
              <a:rPr lang="en-CA" dirty="0"/>
              <a:t>, and we are writing patterns to match a specific sequence of characters (also known as a string). </a:t>
            </a:r>
            <a:endParaRPr lang="en-CA" dirty="0" smtClean="0"/>
          </a:p>
          <a:p>
            <a:r>
              <a:rPr lang="en-CA" dirty="0" smtClean="0"/>
              <a:t>Most </a:t>
            </a:r>
            <a:r>
              <a:rPr lang="en-CA" dirty="0"/>
              <a:t>patterns use normal ASCII, which includes letters, digits, punctuation and other symbols on your keyboard like %#$@!, but </a:t>
            </a:r>
            <a:r>
              <a:rPr lang="en-CA" dirty="0" err="1"/>
              <a:t>unicode</a:t>
            </a:r>
            <a:r>
              <a:rPr lang="en-CA" dirty="0"/>
              <a:t> characters can also be used to match any type of international text.</a:t>
            </a:r>
          </a:p>
        </p:txBody>
      </p:sp>
    </p:spTree>
    <p:extLst>
      <p:ext uri="{BB962C8B-B14F-4D97-AF65-F5344CB8AC3E}">
        <p14:creationId xmlns:p14="http://schemas.microsoft.com/office/powerpoint/2010/main" val="2474565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123s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Characters include normal letters, but digits as well. In fact, numbers 0-9 are also just characters and if you look at an </a:t>
            </a:r>
            <a:r>
              <a:rPr lang="en-CA" dirty="0">
                <a:hlinkClick r:id="rId2" tooltip="ascii table"/>
              </a:rPr>
              <a:t>ASCII table</a:t>
            </a:r>
            <a:r>
              <a:rPr lang="en-CA" dirty="0"/>
              <a:t>, they are listed sequentially.</a:t>
            </a:r>
          </a:p>
          <a:p>
            <a:r>
              <a:rPr lang="en-CA" dirty="0" smtClean="0"/>
              <a:t>You </a:t>
            </a:r>
            <a:r>
              <a:rPr lang="en-CA" dirty="0"/>
              <a:t>will be introduced to a number of special </a:t>
            </a:r>
            <a:r>
              <a:rPr lang="en-CA" i="1" dirty="0" err="1"/>
              <a:t>metacharacters</a:t>
            </a:r>
            <a:r>
              <a:rPr lang="en-CA" dirty="0"/>
              <a:t> used in regular expressions that can be used to match a specific type of character. In this case, the character </a:t>
            </a:r>
            <a:r>
              <a:rPr lang="en-CA" b="1" dirty="0"/>
              <a:t>\d</a:t>
            </a:r>
            <a:r>
              <a:rPr lang="en-CA" dirty="0"/>
              <a:t> can be used in place of </a:t>
            </a:r>
            <a:r>
              <a:rPr lang="en-CA" b="1" dirty="0"/>
              <a:t>any digit from 0 to 9</a:t>
            </a:r>
            <a:r>
              <a:rPr lang="en-CA" dirty="0"/>
              <a:t>. The preceding slash distinguishes it from the simple </a:t>
            </a:r>
            <a:r>
              <a:rPr lang="en-CA" b="1" dirty="0"/>
              <a:t>d</a:t>
            </a:r>
            <a:r>
              <a:rPr lang="en-CA" dirty="0"/>
              <a:t> character and indicates that it is a </a:t>
            </a:r>
            <a:r>
              <a:rPr lang="en-CA" i="1" dirty="0" err="1"/>
              <a:t>metacharacter</a:t>
            </a:r>
            <a:r>
              <a:rPr lang="en-CA" dirty="0"/>
              <a:t>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058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Try writing a pattern that matches all the digits in </a:t>
            </a:r>
            <a:r>
              <a:rPr lang="en-CA" dirty="0" smtClean="0"/>
              <a:t>a string, </a:t>
            </a:r>
            <a:r>
              <a:rPr lang="en-CA" dirty="0"/>
              <a:t>and notice how your pattern matches </a:t>
            </a:r>
            <a:r>
              <a:rPr lang="en-CA" b="1" dirty="0"/>
              <a:t>anywhere within the string</a:t>
            </a:r>
            <a:r>
              <a:rPr lang="en-CA" dirty="0"/>
              <a:t>, not just starting at the first character. </a:t>
            </a:r>
            <a:endParaRPr lang="en-CA" dirty="0" smtClean="0"/>
          </a:p>
          <a:p>
            <a:r>
              <a:rPr lang="en-CA" dirty="0" smtClean="0"/>
              <a:t>We </a:t>
            </a:r>
            <a:r>
              <a:rPr lang="en-CA" dirty="0"/>
              <a:t>will learn how to control this in a later </a:t>
            </a:r>
            <a:r>
              <a:rPr lang="en-CA" dirty="0" smtClean="0"/>
              <a:t>section.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639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Dot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When using </a:t>
            </a:r>
            <a:r>
              <a:rPr lang="en-CA" dirty="0"/>
              <a:t>regular expressions, you are often matching pieces of text that you don't know the exact contents of, other than the fact that they share a common pattern or structure (</a:t>
            </a:r>
            <a:r>
              <a:rPr lang="en-CA" dirty="0" err="1"/>
              <a:t>eg</a:t>
            </a:r>
            <a:r>
              <a:rPr lang="en-CA" dirty="0"/>
              <a:t>. phone numbers or zip codes</a:t>
            </a:r>
            <a:r>
              <a:rPr lang="en-CA" dirty="0" smtClean="0"/>
              <a:t>).</a:t>
            </a:r>
          </a:p>
          <a:p>
            <a:r>
              <a:rPr lang="en-CA" dirty="0" smtClean="0"/>
              <a:t>There </a:t>
            </a:r>
            <a:r>
              <a:rPr lang="en-CA" dirty="0"/>
              <a:t>is the concept of a </a:t>
            </a:r>
            <a:r>
              <a:rPr lang="en-CA" b="1" dirty="0"/>
              <a:t>wildcard</a:t>
            </a:r>
            <a:r>
              <a:rPr lang="en-CA" dirty="0"/>
              <a:t>, which is represented by the </a:t>
            </a:r>
            <a:r>
              <a:rPr lang="en-CA" b="1" dirty="0"/>
              <a:t>.</a:t>
            </a:r>
            <a:r>
              <a:rPr lang="en-CA" dirty="0"/>
              <a:t> (dot) </a:t>
            </a:r>
            <a:r>
              <a:rPr lang="en-CA" i="1" dirty="0" err="1"/>
              <a:t>metacharacter</a:t>
            </a:r>
            <a:r>
              <a:rPr lang="en-CA" dirty="0"/>
              <a:t>, and can </a:t>
            </a:r>
            <a:r>
              <a:rPr lang="en-CA" b="1" dirty="0"/>
              <a:t>match any single character</a:t>
            </a:r>
            <a:r>
              <a:rPr lang="en-CA" dirty="0"/>
              <a:t> (letter, digit, whitespace, everything). </a:t>
            </a:r>
            <a:endParaRPr lang="en-CA" dirty="0" smtClean="0"/>
          </a:p>
          <a:p>
            <a:pPr lvl="1"/>
            <a:r>
              <a:rPr lang="en-CA" dirty="0" smtClean="0"/>
              <a:t>You </a:t>
            </a:r>
            <a:r>
              <a:rPr lang="en-CA" dirty="0"/>
              <a:t>may notice that this actually overrides the matching of the period character, so in order to specifically match a period, you need to escape the dot by using a slash </a:t>
            </a:r>
            <a:r>
              <a:rPr lang="en-CA" b="1" dirty="0"/>
              <a:t>\.</a:t>
            </a:r>
            <a:r>
              <a:rPr lang="en-CA" dirty="0"/>
              <a:t> accordingly.</a:t>
            </a:r>
          </a:p>
        </p:txBody>
      </p:sp>
    </p:spTree>
    <p:extLst>
      <p:ext uri="{BB962C8B-B14F-4D97-AF65-F5344CB8AC3E}">
        <p14:creationId xmlns:p14="http://schemas.microsoft.com/office/powerpoint/2010/main" val="164675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Matching specific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dot </a:t>
            </a:r>
            <a:r>
              <a:rPr lang="en-CA" i="1" dirty="0" err="1"/>
              <a:t>metacharacter</a:t>
            </a:r>
            <a:r>
              <a:rPr lang="en-CA" dirty="0"/>
              <a:t> </a:t>
            </a:r>
            <a:r>
              <a:rPr lang="en-CA" dirty="0" smtClean="0"/>
              <a:t>powerful</a:t>
            </a:r>
            <a:r>
              <a:rPr lang="en-CA" dirty="0"/>
              <a:t>, but sometimes </a:t>
            </a:r>
            <a:r>
              <a:rPr lang="en-CA" b="1" dirty="0"/>
              <a:t>too</a:t>
            </a:r>
            <a:r>
              <a:rPr lang="en-CA" dirty="0"/>
              <a:t> powerful. If we are matching phone numbers for example, we don't want to validate the letters "(</a:t>
            </a:r>
            <a:r>
              <a:rPr lang="en-CA" dirty="0" err="1"/>
              <a:t>abc</a:t>
            </a:r>
            <a:r>
              <a:rPr lang="en-CA" dirty="0"/>
              <a:t>) </a:t>
            </a:r>
            <a:r>
              <a:rPr lang="en-CA" dirty="0" err="1"/>
              <a:t>def-ghij</a:t>
            </a:r>
            <a:r>
              <a:rPr lang="en-CA" dirty="0"/>
              <a:t>" as being a valid number</a:t>
            </a:r>
            <a:r>
              <a:rPr lang="en-CA" dirty="0" smtClean="0"/>
              <a:t>!</a:t>
            </a:r>
          </a:p>
          <a:p>
            <a:r>
              <a:rPr lang="en-CA" dirty="0"/>
              <a:t>There is a method for </a:t>
            </a:r>
            <a:r>
              <a:rPr lang="en-CA" b="1" dirty="0"/>
              <a:t>matching specific characters</a:t>
            </a:r>
            <a:r>
              <a:rPr lang="en-CA" dirty="0"/>
              <a:t> using regular expressions, by defining them inside </a:t>
            </a:r>
            <a:r>
              <a:rPr lang="en-CA" b="1" dirty="0"/>
              <a:t>square brackets</a:t>
            </a:r>
            <a:r>
              <a:rPr lang="en-CA" dirty="0"/>
              <a:t>. </a:t>
            </a:r>
            <a:endParaRPr lang="en-CA" dirty="0" smtClean="0"/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 the pattern </a:t>
            </a:r>
            <a:r>
              <a:rPr lang="en-CA" b="1" dirty="0"/>
              <a:t>[</a:t>
            </a:r>
            <a:r>
              <a:rPr lang="en-CA" b="1" dirty="0" err="1"/>
              <a:t>abc</a:t>
            </a:r>
            <a:r>
              <a:rPr lang="en-CA" b="1" dirty="0"/>
              <a:t>]</a:t>
            </a:r>
            <a:r>
              <a:rPr lang="en-CA" dirty="0"/>
              <a:t> will only match a </a:t>
            </a:r>
            <a:r>
              <a:rPr lang="en-CA" b="1" dirty="0"/>
              <a:t>single</a:t>
            </a:r>
            <a:r>
              <a:rPr lang="en-CA" dirty="0"/>
              <a:t> a, b, or c letter and nothing else.</a:t>
            </a:r>
          </a:p>
        </p:txBody>
      </p:sp>
    </p:spTree>
    <p:extLst>
      <p:ext uri="{BB962C8B-B14F-4D97-AF65-F5344CB8AC3E}">
        <p14:creationId xmlns:p14="http://schemas.microsoft.com/office/powerpoint/2010/main" val="174421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Excluding specific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some cases, we might know that there are specific characters that we don't want to match too, for example, we might only want to match phone numbers that are </a:t>
            </a:r>
            <a:r>
              <a:rPr lang="en-CA" b="1" dirty="0"/>
              <a:t>not</a:t>
            </a:r>
            <a:r>
              <a:rPr lang="en-CA" dirty="0"/>
              <a:t> from the area code 650.</a:t>
            </a:r>
          </a:p>
          <a:p>
            <a:r>
              <a:rPr lang="en-CA" dirty="0"/>
              <a:t>To represent this, we use a similar expression that </a:t>
            </a:r>
            <a:r>
              <a:rPr lang="en-CA" b="1" dirty="0"/>
              <a:t>excludes specific characters</a:t>
            </a:r>
            <a:r>
              <a:rPr lang="en-CA" dirty="0"/>
              <a:t> using the </a:t>
            </a:r>
            <a:r>
              <a:rPr lang="en-CA" b="1" dirty="0"/>
              <a:t>square </a:t>
            </a:r>
            <a:r>
              <a:rPr lang="en-CA" b="1" dirty="0" smtClean="0"/>
              <a:t>brackets </a:t>
            </a:r>
            <a:r>
              <a:rPr lang="en-CA" dirty="0" smtClean="0"/>
              <a:t>and </a:t>
            </a:r>
            <a:r>
              <a:rPr lang="en-CA" dirty="0"/>
              <a:t>the </a:t>
            </a:r>
            <a:r>
              <a:rPr lang="en-CA" b="1" dirty="0"/>
              <a:t>^</a:t>
            </a:r>
            <a:r>
              <a:rPr lang="en-CA" dirty="0"/>
              <a:t> (</a:t>
            </a:r>
            <a:r>
              <a:rPr lang="en-CA" b="1" dirty="0"/>
              <a:t>hat</a:t>
            </a:r>
            <a:r>
              <a:rPr lang="en-CA" dirty="0"/>
              <a:t>). For example, the pattern </a:t>
            </a:r>
            <a:r>
              <a:rPr lang="en-CA" b="1" dirty="0"/>
              <a:t>[^</a:t>
            </a:r>
            <a:r>
              <a:rPr lang="en-CA" b="1" dirty="0" err="1"/>
              <a:t>abc</a:t>
            </a:r>
            <a:r>
              <a:rPr lang="en-CA" b="1" dirty="0"/>
              <a:t>]</a:t>
            </a:r>
            <a:r>
              <a:rPr lang="en-CA" dirty="0"/>
              <a:t> will match any </a:t>
            </a:r>
            <a:r>
              <a:rPr lang="en-CA" b="1" dirty="0"/>
              <a:t>single</a:t>
            </a:r>
            <a:r>
              <a:rPr lang="en-CA" dirty="0"/>
              <a:t> character </a:t>
            </a:r>
            <a:r>
              <a:rPr lang="en-CA" b="1" dirty="0"/>
              <a:t>except for</a:t>
            </a:r>
            <a:r>
              <a:rPr lang="en-CA" dirty="0"/>
              <a:t> the letters a, b, or c.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91142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Character ranges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We just learned how to create a pattern that matches or excludes specific characters -- but what if we want to match a character that can be in a sequential range characters? </a:t>
            </a:r>
            <a:endParaRPr lang="en-CA" dirty="0" smtClean="0"/>
          </a:p>
          <a:p>
            <a:pPr lvl="1"/>
            <a:r>
              <a:rPr lang="en-CA" dirty="0" smtClean="0"/>
              <a:t>Do </a:t>
            </a:r>
            <a:r>
              <a:rPr lang="en-CA" dirty="0"/>
              <a:t>we have no choice but to list them all out?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8181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Luckily, when using the square bracket notation, there is a shorthand for matching a character in a list of </a:t>
            </a:r>
            <a:r>
              <a:rPr lang="en-CA" b="1" dirty="0" smtClean="0"/>
              <a:t>sequential characters</a:t>
            </a:r>
            <a:r>
              <a:rPr lang="en-CA" dirty="0" smtClean="0"/>
              <a:t> by using the </a:t>
            </a:r>
            <a:r>
              <a:rPr lang="en-CA" b="1" dirty="0" smtClean="0"/>
              <a:t>dash (-)</a:t>
            </a:r>
            <a:r>
              <a:rPr lang="en-CA" dirty="0" smtClean="0"/>
              <a:t> to indicate a character range. </a:t>
            </a:r>
          </a:p>
          <a:p>
            <a:pPr lvl="1"/>
            <a:r>
              <a:rPr lang="en-CA" dirty="0" smtClean="0"/>
              <a:t>For example, the pattern </a:t>
            </a:r>
            <a:r>
              <a:rPr lang="en-CA" b="1" dirty="0" smtClean="0"/>
              <a:t>[0-6]</a:t>
            </a:r>
            <a:r>
              <a:rPr lang="en-CA" dirty="0" smtClean="0"/>
              <a:t> will only match any single digit character from zero to six, and nothing else. </a:t>
            </a:r>
          </a:p>
          <a:p>
            <a:pPr lvl="1"/>
            <a:r>
              <a:rPr lang="en-CA" dirty="0" smtClean="0"/>
              <a:t>Likewise, </a:t>
            </a:r>
            <a:r>
              <a:rPr lang="en-CA" b="1" dirty="0" smtClean="0"/>
              <a:t>[^n-p]</a:t>
            </a:r>
            <a:r>
              <a:rPr lang="en-CA" dirty="0" smtClean="0"/>
              <a:t> will only match any single character </a:t>
            </a:r>
            <a:r>
              <a:rPr lang="en-CA" b="1" dirty="0" smtClean="0"/>
              <a:t>except</a:t>
            </a:r>
            <a:r>
              <a:rPr lang="en-CA" dirty="0" smtClean="0"/>
              <a:t> for letters n to p.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7182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Multiple character ranges can also be used in the same set of brackets, along with individual characters. </a:t>
            </a:r>
          </a:p>
          <a:p>
            <a:r>
              <a:rPr lang="en-CA" dirty="0" smtClean="0"/>
              <a:t>An example of this is the alphanumeric </a:t>
            </a:r>
            <a:r>
              <a:rPr lang="en-CA" b="1" dirty="0" smtClean="0"/>
              <a:t>\w</a:t>
            </a:r>
            <a:r>
              <a:rPr lang="en-CA" dirty="0" smtClean="0"/>
              <a:t> </a:t>
            </a:r>
            <a:r>
              <a:rPr lang="en-CA" i="1" dirty="0" err="1" smtClean="0"/>
              <a:t>metacharacter</a:t>
            </a:r>
            <a:r>
              <a:rPr lang="en-CA" dirty="0" smtClean="0"/>
              <a:t> which is equivalent to the character range </a:t>
            </a:r>
            <a:r>
              <a:rPr lang="en-CA" b="1" dirty="0" smtClean="0"/>
              <a:t>[A-Za-z0-9_]</a:t>
            </a:r>
            <a:r>
              <a:rPr lang="en-CA" dirty="0" smtClean="0"/>
              <a:t> and often used to match characters in English text.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76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Repetition </a:t>
            </a:r>
            <a:r>
              <a:rPr lang="en-CA" dirty="0"/>
              <a:t>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We've so far learned how to specify the range of characters we want to match, but how about the number of </a:t>
            </a:r>
            <a:r>
              <a:rPr lang="en-CA" b="1" dirty="0"/>
              <a:t>repetitions</a:t>
            </a:r>
            <a:r>
              <a:rPr lang="en-CA" dirty="0"/>
              <a:t> of characters that we want to match? </a:t>
            </a:r>
            <a:endParaRPr lang="en-CA" dirty="0" smtClean="0"/>
          </a:p>
          <a:p>
            <a:r>
              <a:rPr lang="en-CA" dirty="0" smtClean="0"/>
              <a:t>One </a:t>
            </a:r>
            <a:r>
              <a:rPr lang="en-CA" dirty="0"/>
              <a:t>way that we can do this is to explicitly spell out exactly how many characters we want, </a:t>
            </a:r>
            <a:r>
              <a:rPr lang="en-CA" dirty="0" err="1"/>
              <a:t>eg</a:t>
            </a:r>
            <a:r>
              <a:rPr lang="en-CA" dirty="0"/>
              <a:t>. </a:t>
            </a:r>
            <a:r>
              <a:rPr lang="en-CA" b="1" dirty="0"/>
              <a:t>\d\d\d</a:t>
            </a:r>
            <a:r>
              <a:rPr lang="en-CA" dirty="0"/>
              <a:t> which would match exactly three digits.</a:t>
            </a:r>
          </a:p>
        </p:txBody>
      </p:sp>
    </p:spTree>
    <p:extLst>
      <p:ext uri="{BB962C8B-B14F-4D97-AF65-F5344CB8AC3E}">
        <p14:creationId xmlns:p14="http://schemas.microsoft.com/office/powerpoint/2010/main" val="1176425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more convenient way is to specify how many repetitions of each character we want using the </a:t>
            </a:r>
            <a:r>
              <a:rPr lang="en-CA" b="1" dirty="0"/>
              <a:t>curly braces</a:t>
            </a:r>
            <a:r>
              <a:rPr lang="en-CA" dirty="0"/>
              <a:t> notation. </a:t>
            </a:r>
            <a:endParaRPr lang="en-CA" dirty="0" smtClean="0"/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 </a:t>
            </a:r>
            <a:r>
              <a:rPr lang="en-CA" b="1" dirty="0"/>
              <a:t>a{3}</a:t>
            </a:r>
            <a:r>
              <a:rPr lang="en-CA" dirty="0"/>
              <a:t> will match the a character exactly three times. Certain regular expression engines will even allow you to specify a range for this repetition such that </a:t>
            </a:r>
            <a:r>
              <a:rPr lang="en-CA" b="1" dirty="0"/>
              <a:t>a{1,3}</a:t>
            </a:r>
            <a:r>
              <a:rPr lang="en-CA" dirty="0"/>
              <a:t> will match the a character no more than 3 times, but no less than once for example.</a:t>
            </a:r>
          </a:p>
        </p:txBody>
      </p:sp>
    </p:spTree>
    <p:extLst>
      <p:ext uri="{BB962C8B-B14F-4D97-AF65-F5344CB8AC3E}">
        <p14:creationId xmlns:p14="http://schemas.microsoft.com/office/powerpoint/2010/main" val="378608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This quantifier can be used with any character, or special </a:t>
            </a:r>
            <a:r>
              <a:rPr lang="en-CA" i="1" dirty="0" err="1"/>
              <a:t>metacharacters</a:t>
            </a:r>
            <a:r>
              <a:rPr lang="en-CA" dirty="0"/>
              <a:t>, for example </a:t>
            </a:r>
            <a:r>
              <a:rPr lang="en-CA" b="1" dirty="0"/>
              <a:t>w{3}</a:t>
            </a:r>
            <a:r>
              <a:rPr lang="en-CA" dirty="0"/>
              <a:t> (three w's), </a:t>
            </a:r>
            <a:r>
              <a:rPr lang="en-CA" b="1" dirty="0"/>
              <a:t>[</a:t>
            </a:r>
            <a:r>
              <a:rPr lang="en-CA" b="1" dirty="0" err="1"/>
              <a:t>wxy</a:t>
            </a:r>
            <a:r>
              <a:rPr lang="en-CA" b="1" dirty="0"/>
              <a:t>]{5}</a:t>
            </a:r>
            <a:r>
              <a:rPr lang="en-CA" dirty="0"/>
              <a:t> (five characters, each of which can be a w, x, or y) and </a:t>
            </a:r>
            <a:r>
              <a:rPr lang="en-CA" b="1" dirty="0"/>
              <a:t>.{2,6}</a:t>
            </a:r>
            <a:r>
              <a:rPr lang="en-CA" dirty="0"/>
              <a:t> (between two and six of </a:t>
            </a:r>
            <a:r>
              <a:rPr lang="en-CA" b="1" dirty="0" smtClean="0"/>
              <a:t>any </a:t>
            </a:r>
            <a:r>
              <a:rPr lang="en-CA" dirty="0" smtClean="0"/>
              <a:t>character</a:t>
            </a:r>
            <a:r>
              <a:rPr lang="en-CA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50398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Matching </a:t>
            </a:r>
            <a:r>
              <a:rPr lang="en-CA" dirty="0"/>
              <a:t>an arbitrary number of 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 powerful concept in regular expressions is the ability to match an arbitrary number of characters. </a:t>
            </a:r>
            <a:endParaRPr lang="en-CA" dirty="0" smtClean="0"/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 imagine that you wrote a form that has a donation field that takes a numerical value in dollars. </a:t>
            </a:r>
            <a:endParaRPr lang="en-CA" dirty="0" smtClean="0"/>
          </a:p>
          <a:p>
            <a:pPr lvl="1"/>
            <a:r>
              <a:rPr lang="en-CA" dirty="0" smtClean="0"/>
              <a:t>A </a:t>
            </a:r>
            <a:r>
              <a:rPr lang="en-CA" dirty="0"/>
              <a:t>wealthy user may drop by and want to donate $25,000, while a normal user may want to donate $25.</a:t>
            </a:r>
          </a:p>
        </p:txBody>
      </p:sp>
    </p:spTree>
    <p:extLst>
      <p:ext uri="{BB962C8B-B14F-4D97-AF65-F5344CB8AC3E}">
        <p14:creationId xmlns:p14="http://schemas.microsoft.com/office/powerpoint/2010/main" val="1908936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One way to express such a pattern would be to use what is known as the </a:t>
            </a:r>
            <a:r>
              <a:rPr lang="en-CA" b="1" dirty="0"/>
              <a:t>Kleene Star</a:t>
            </a:r>
            <a:r>
              <a:rPr lang="en-CA" dirty="0"/>
              <a:t> and the </a:t>
            </a:r>
            <a:r>
              <a:rPr lang="en-CA" b="1" dirty="0"/>
              <a:t>Kleene Plus</a:t>
            </a:r>
            <a:r>
              <a:rPr lang="en-CA" dirty="0"/>
              <a:t>, which essentially represents either </a:t>
            </a:r>
            <a:r>
              <a:rPr lang="en-CA" b="1" dirty="0"/>
              <a:t>0 or more</a:t>
            </a:r>
            <a:r>
              <a:rPr lang="en-CA" dirty="0"/>
              <a:t> or </a:t>
            </a:r>
            <a:r>
              <a:rPr lang="en-CA" b="1" dirty="0"/>
              <a:t>1 or more</a:t>
            </a:r>
            <a:r>
              <a:rPr lang="en-CA" dirty="0"/>
              <a:t> of the character that it follows (it always follows a character or group). </a:t>
            </a:r>
            <a:endParaRPr lang="en-CA" dirty="0" smtClean="0"/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 to match the donations above, we can use the pattern </a:t>
            </a:r>
            <a:r>
              <a:rPr lang="en-CA" b="1" dirty="0"/>
              <a:t>\d*</a:t>
            </a:r>
            <a:r>
              <a:rPr lang="en-CA" dirty="0"/>
              <a:t> </a:t>
            </a:r>
            <a:r>
              <a:rPr lang="en-CA" dirty="0" smtClean="0"/>
              <a:t>(zero or more) to </a:t>
            </a:r>
            <a:r>
              <a:rPr lang="en-CA" dirty="0"/>
              <a:t>match any number of digits, but a tighter regular expression would be </a:t>
            </a:r>
            <a:r>
              <a:rPr lang="en-CA" b="1" dirty="0"/>
              <a:t>\d+</a:t>
            </a:r>
            <a:r>
              <a:rPr lang="en-CA" dirty="0"/>
              <a:t> </a:t>
            </a:r>
            <a:r>
              <a:rPr lang="en-CA" dirty="0" smtClean="0"/>
              <a:t>(1 or more) which </a:t>
            </a:r>
            <a:r>
              <a:rPr lang="en-CA" dirty="0"/>
              <a:t>ensures that the input string has at least one digit</a:t>
            </a:r>
            <a:r>
              <a:rPr lang="en-CA" dirty="0" smtClean="0"/>
              <a:t>.</a:t>
            </a:r>
          </a:p>
          <a:p>
            <a:r>
              <a:rPr lang="en-CA" dirty="0"/>
              <a:t>These quantifiers can be used with any character or special </a:t>
            </a:r>
            <a:r>
              <a:rPr lang="en-CA" i="1" dirty="0" err="1" smtClean="0"/>
              <a:t>metacharacters</a:t>
            </a:r>
            <a:r>
              <a:rPr lang="en-CA" dirty="0" smtClean="0"/>
              <a:t>. </a:t>
            </a:r>
          </a:p>
          <a:p>
            <a:pPr lvl="1"/>
            <a:r>
              <a:rPr lang="en-CA" dirty="0"/>
              <a:t>F</a:t>
            </a:r>
            <a:r>
              <a:rPr lang="en-CA" dirty="0" smtClean="0"/>
              <a:t>or </a:t>
            </a:r>
            <a:r>
              <a:rPr lang="en-CA" dirty="0"/>
              <a:t>example </a:t>
            </a:r>
            <a:r>
              <a:rPr lang="en-CA" b="1" dirty="0"/>
              <a:t>a+</a:t>
            </a:r>
            <a:r>
              <a:rPr lang="en-CA" dirty="0"/>
              <a:t> (one or more a's), </a:t>
            </a:r>
            <a:r>
              <a:rPr lang="en-CA" b="1" dirty="0"/>
              <a:t>[</a:t>
            </a:r>
            <a:r>
              <a:rPr lang="en-CA" b="1" dirty="0" err="1"/>
              <a:t>abc</a:t>
            </a:r>
            <a:r>
              <a:rPr lang="en-CA" b="1" dirty="0"/>
              <a:t>]+</a:t>
            </a:r>
            <a:r>
              <a:rPr lang="en-CA" dirty="0"/>
              <a:t> (one or more of any a, b, or c character) and </a:t>
            </a:r>
            <a:r>
              <a:rPr lang="en-CA" b="1" dirty="0"/>
              <a:t>.*</a:t>
            </a:r>
            <a:r>
              <a:rPr lang="en-CA" dirty="0"/>
              <a:t> (zero or more of </a:t>
            </a:r>
            <a:r>
              <a:rPr lang="en-CA" b="1" dirty="0"/>
              <a:t>any</a:t>
            </a:r>
            <a:r>
              <a:rPr lang="en-CA" dirty="0"/>
              <a:t> character).</a:t>
            </a:r>
          </a:p>
        </p:txBody>
      </p:sp>
    </p:spTree>
    <p:extLst>
      <p:ext uri="{BB962C8B-B14F-4D97-AF65-F5344CB8AC3E}">
        <p14:creationId xmlns:p14="http://schemas.microsoft.com/office/powerpoint/2010/main" val="2977345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Optional </a:t>
            </a:r>
            <a:r>
              <a:rPr lang="en-CA" dirty="0" smtClean="0"/>
              <a:t>Characters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Another quantifier that is really common when matching and extracting text is the </a:t>
            </a:r>
            <a:r>
              <a:rPr lang="en-CA" b="1" dirty="0"/>
              <a:t>?</a:t>
            </a:r>
            <a:r>
              <a:rPr lang="en-CA" dirty="0"/>
              <a:t> (question mark) </a:t>
            </a:r>
            <a:r>
              <a:rPr lang="en-CA" i="1" dirty="0" err="1"/>
              <a:t>metacharacter</a:t>
            </a:r>
            <a:r>
              <a:rPr lang="en-CA" dirty="0"/>
              <a:t> which denotes </a:t>
            </a:r>
            <a:r>
              <a:rPr lang="en-CA" b="1" dirty="0"/>
              <a:t>optionality</a:t>
            </a:r>
            <a:r>
              <a:rPr lang="en-CA" dirty="0"/>
              <a:t>. </a:t>
            </a:r>
            <a:endParaRPr lang="en-CA" dirty="0" smtClean="0"/>
          </a:p>
          <a:p>
            <a:r>
              <a:rPr lang="en-CA" dirty="0" smtClean="0"/>
              <a:t>This </a:t>
            </a:r>
            <a:r>
              <a:rPr lang="en-CA" i="1" dirty="0" err="1"/>
              <a:t>metacharacter</a:t>
            </a:r>
            <a:r>
              <a:rPr lang="en-CA" i="1" dirty="0"/>
              <a:t> </a:t>
            </a:r>
            <a:r>
              <a:rPr lang="en-CA" dirty="0"/>
              <a:t>allows you to match either zero or one of the preceding character or group. </a:t>
            </a:r>
            <a:endParaRPr lang="en-CA" dirty="0" smtClean="0"/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 the pattern </a:t>
            </a:r>
            <a:r>
              <a:rPr lang="en-CA" b="1" dirty="0" err="1"/>
              <a:t>ab?c</a:t>
            </a:r>
            <a:r>
              <a:rPr lang="en-CA" dirty="0"/>
              <a:t> will match either the strings "</a:t>
            </a:r>
            <a:r>
              <a:rPr lang="en-CA" dirty="0" err="1"/>
              <a:t>abc</a:t>
            </a:r>
            <a:r>
              <a:rPr lang="en-CA" dirty="0"/>
              <a:t>" or "ac" because the b is considered optional</a:t>
            </a:r>
            <a:r>
              <a:rPr lang="en-CA" dirty="0" smtClean="0"/>
              <a:t>.</a:t>
            </a:r>
          </a:p>
          <a:p>
            <a:r>
              <a:rPr lang="en-CA" dirty="0"/>
              <a:t>Similar to the dot </a:t>
            </a:r>
            <a:r>
              <a:rPr lang="en-CA" i="1" dirty="0" err="1"/>
              <a:t>metacharacter</a:t>
            </a:r>
            <a:r>
              <a:rPr lang="en-CA" dirty="0"/>
              <a:t>, the question mark is a special character and you will have to escape it using a slash </a:t>
            </a:r>
            <a:r>
              <a:rPr lang="en-CA" b="1" dirty="0"/>
              <a:t>\?</a:t>
            </a:r>
            <a:r>
              <a:rPr lang="en-CA" dirty="0"/>
              <a:t> to match a plain question mark character in a string.</a:t>
            </a:r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378314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The </a:t>
            </a:r>
            <a:r>
              <a:rPr lang="en-CA" dirty="0"/>
              <a:t>whitespace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dealing with real-world input, such as log files and even user input, it's difficult not to encounter whitespace. </a:t>
            </a:r>
            <a:endParaRPr lang="en-CA" dirty="0" smtClean="0"/>
          </a:p>
          <a:p>
            <a:r>
              <a:rPr lang="en-CA" dirty="0" smtClean="0"/>
              <a:t>We </a:t>
            </a:r>
            <a:r>
              <a:rPr lang="en-CA" dirty="0"/>
              <a:t>use it to format pieces of information to make it easier to read and scan visually, and a single space can put a wrench into the simplest regular expression</a:t>
            </a:r>
            <a:r>
              <a:rPr lang="en-CA" dirty="0" smtClean="0"/>
              <a:t>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19687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most common forms of whitespace you will use with regular expressions are the </a:t>
            </a:r>
            <a:r>
              <a:rPr lang="en-CA" b="1" dirty="0"/>
              <a:t>space</a:t>
            </a:r>
            <a:r>
              <a:rPr lang="en-CA" dirty="0"/>
              <a:t> (</a:t>
            </a:r>
            <a:r>
              <a:rPr lang="en-CA" b="1" dirty="0"/>
              <a:t>␣</a:t>
            </a:r>
            <a:r>
              <a:rPr lang="en-CA" dirty="0"/>
              <a:t>), the </a:t>
            </a:r>
            <a:r>
              <a:rPr lang="en-CA" b="1" dirty="0"/>
              <a:t>tab</a:t>
            </a:r>
            <a:r>
              <a:rPr lang="en-CA" dirty="0"/>
              <a:t> (</a:t>
            </a:r>
            <a:r>
              <a:rPr lang="en-CA" b="1" dirty="0"/>
              <a:t>\t</a:t>
            </a:r>
            <a:r>
              <a:rPr lang="en-CA" dirty="0"/>
              <a:t>), the </a:t>
            </a:r>
            <a:r>
              <a:rPr lang="en-CA" b="1" dirty="0"/>
              <a:t>new line</a:t>
            </a:r>
            <a:r>
              <a:rPr lang="en-CA" dirty="0"/>
              <a:t> (</a:t>
            </a:r>
            <a:r>
              <a:rPr lang="en-CA" b="1" dirty="0"/>
              <a:t>\n</a:t>
            </a:r>
            <a:r>
              <a:rPr lang="en-CA" dirty="0"/>
              <a:t>) and the carriage return (</a:t>
            </a:r>
            <a:r>
              <a:rPr lang="en-CA" b="1" dirty="0"/>
              <a:t>\r</a:t>
            </a:r>
            <a:r>
              <a:rPr lang="en-CA" dirty="0"/>
              <a:t>) (useful in Windows environments), and these special characters match each of their respective whitespaces. </a:t>
            </a:r>
            <a:endParaRPr lang="en-CA" dirty="0" smtClean="0"/>
          </a:p>
          <a:p>
            <a:r>
              <a:rPr lang="en-CA" dirty="0" smtClean="0"/>
              <a:t>In </a:t>
            </a:r>
            <a:r>
              <a:rPr lang="en-CA" dirty="0"/>
              <a:t>addition, a </a:t>
            </a:r>
            <a:r>
              <a:rPr lang="en-CA" b="1" dirty="0"/>
              <a:t>whitespace</a:t>
            </a:r>
            <a:r>
              <a:rPr lang="en-CA" dirty="0"/>
              <a:t> special character </a:t>
            </a:r>
            <a:r>
              <a:rPr lang="en-CA" b="1" dirty="0"/>
              <a:t>\s</a:t>
            </a:r>
            <a:r>
              <a:rPr lang="en-CA" dirty="0"/>
              <a:t> will match </a:t>
            </a:r>
            <a:r>
              <a:rPr lang="en-CA" b="1" dirty="0"/>
              <a:t>any</a:t>
            </a:r>
            <a:r>
              <a:rPr lang="en-CA" dirty="0"/>
              <a:t> of the specific whitespaces above and is extremely useful when dealing with raw input text.</a:t>
            </a:r>
          </a:p>
        </p:txBody>
      </p:sp>
    </p:spTree>
    <p:extLst>
      <p:ext uri="{BB962C8B-B14F-4D97-AF65-F5344CB8AC3E}">
        <p14:creationId xmlns:p14="http://schemas.microsoft.com/office/powerpoint/2010/main" val="562142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Starting and 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 far, we've been writing regular expressions that partially match pieces across all the text. </a:t>
            </a:r>
            <a:endParaRPr lang="en-CA" dirty="0" smtClean="0"/>
          </a:p>
          <a:p>
            <a:r>
              <a:rPr lang="en-CA" dirty="0" smtClean="0"/>
              <a:t>Sometimes </a:t>
            </a:r>
            <a:r>
              <a:rPr lang="en-CA" dirty="0"/>
              <a:t>this isn't desirable, imagine for example we wanted to match the word "success" in a log file. </a:t>
            </a:r>
            <a:endParaRPr lang="en-CA" dirty="0" smtClean="0"/>
          </a:p>
          <a:p>
            <a:pPr lvl="1"/>
            <a:r>
              <a:rPr lang="en-CA" dirty="0" smtClean="0"/>
              <a:t>We </a:t>
            </a:r>
            <a:r>
              <a:rPr lang="en-CA" dirty="0"/>
              <a:t>certainly don't want that pattern to match a line that says "Error: unsuccessful operation"! </a:t>
            </a:r>
            <a:endParaRPr lang="en-CA" dirty="0" smtClean="0"/>
          </a:p>
          <a:p>
            <a:pPr lvl="1"/>
            <a:r>
              <a:rPr lang="en-CA" dirty="0" smtClean="0"/>
              <a:t>That </a:t>
            </a:r>
            <a:r>
              <a:rPr lang="en-CA" dirty="0"/>
              <a:t>is why it is often </a:t>
            </a:r>
            <a:r>
              <a:rPr lang="en-CA" b="1" dirty="0"/>
              <a:t>best practice to write as specific regular expressions as possible</a:t>
            </a:r>
            <a:r>
              <a:rPr lang="en-CA" dirty="0"/>
              <a:t> to ensure that we don't get false positives when matching against real world text.</a:t>
            </a:r>
          </a:p>
        </p:txBody>
      </p:sp>
    </p:spTree>
    <p:extLst>
      <p:ext uri="{BB962C8B-B14F-4D97-AF65-F5344CB8AC3E}">
        <p14:creationId xmlns:p14="http://schemas.microsoft.com/office/powerpoint/2010/main" val="426996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One way to tighten our patterns is to define a pattern that describes both the </a:t>
            </a:r>
            <a:r>
              <a:rPr lang="en-CA" b="1" dirty="0"/>
              <a:t>start and the end of the line</a:t>
            </a:r>
            <a:r>
              <a:rPr lang="en-CA" dirty="0"/>
              <a:t> using the special </a:t>
            </a:r>
            <a:r>
              <a:rPr lang="en-CA" b="1" dirty="0"/>
              <a:t>^</a:t>
            </a:r>
            <a:r>
              <a:rPr lang="en-CA" dirty="0"/>
              <a:t> (</a:t>
            </a:r>
            <a:r>
              <a:rPr lang="en-CA" b="1" dirty="0"/>
              <a:t>hat</a:t>
            </a:r>
            <a:r>
              <a:rPr lang="en-CA" dirty="0"/>
              <a:t>) and </a:t>
            </a:r>
            <a:r>
              <a:rPr lang="en-CA" b="1" dirty="0"/>
              <a:t>$</a:t>
            </a:r>
            <a:r>
              <a:rPr lang="en-CA" dirty="0"/>
              <a:t> (</a:t>
            </a:r>
            <a:r>
              <a:rPr lang="en-CA" b="1" dirty="0"/>
              <a:t>dollar sign</a:t>
            </a:r>
            <a:r>
              <a:rPr lang="en-CA" dirty="0"/>
              <a:t>) </a:t>
            </a:r>
            <a:r>
              <a:rPr lang="en-CA" i="1" dirty="0" err="1"/>
              <a:t>metacharacters</a:t>
            </a:r>
            <a:r>
              <a:rPr lang="en-CA" dirty="0"/>
              <a:t>. </a:t>
            </a:r>
            <a:endParaRPr lang="en-CA" dirty="0" smtClean="0"/>
          </a:p>
          <a:p>
            <a:r>
              <a:rPr lang="en-CA" dirty="0" smtClean="0"/>
              <a:t>In </a:t>
            </a:r>
            <a:r>
              <a:rPr lang="en-CA" dirty="0"/>
              <a:t>the example above, we can use the pattern </a:t>
            </a:r>
            <a:r>
              <a:rPr lang="en-CA" b="1" dirty="0"/>
              <a:t>^success</a:t>
            </a:r>
            <a:r>
              <a:rPr lang="en-CA" dirty="0"/>
              <a:t> to match </a:t>
            </a:r>
            <a:r>
              <a:rPr lang="en-CA" b="1" dirty="0"/>
              <a:t>only</a:t>
            </a:r>
            <a:r>
              <a:rPr lang="en-CA" dirty="0"/>
              <a:t> a line that begins with the word "success", but not the line "Error: unsuccessful operation". And if you combine both the hat and the dollar sign, you create a pattern that matches the whole line completely at the beginning and end.</a:t>
            </a:r>
          </a:p>
        </p:txBody>
      </p:sp>
    </p:spTree>
    <p:extLst>
      <p:ext uri="{BB962C8B-B14F-4D97-AF65-F5344CB8AC3E}">
        <p14:creationId xmlns:p14="http://schemas.microsoft.com/office/powerpoint/2010/main" val="30627790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Match groups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Regular expressions allow us to not just match text but also to </a:t>
            </a:r>
            <a:r>
              <a:rPr lang="en-CA" b="1" dirty="0"/>
              <a:t>extract information for further processing</a:t>
            </a:r>
            <a:r>
              <a:rPr lang="en-CA" dirty="0"/>
              <a:t>. </a:t>
            </a:r>
            <a:endParaRPr lang="en-CA" dirty="0" smtClean="0"/>
          </a:p>
          <a:p>
            <a:r>
              <a:rPr lang="en-CA" dirty="0" smtClean="0"/>
              <a:t>This </a:t>
            </a:r>
            <a:r>
              <a:rPr lang="en-CA" dirty="0"/>
              <a:t>is done by defining </a:t>
            </a:r>
            <a:r>
              <a:rPr lang="en-CA" b="1" dirty="0"/>
              <a:t>groups of characters</a:t>
            </a:r>
            <a:r>
              <a:rPr lang="en-CA" dirty="0"/>
              <a:t> and capturing them using the special parentheses </a:t>
            </a:r>
            <a:r>
              <a:rPr lang="en-CA" b="1" dirty="0"/>
              <a:t>(</a:t>
            </a:r>
            <a:r>
              <a:rPr lang="en-CA" dirty="0"/>
              <a:t> and </a:t>
            </a:r>
            <a:r>
              <a:rPr lang="en-CA" b="1" dirty="0"/>
              <a:t>)</a:t>
            </a:r>
            <a:r>
              <a:rPr lang="en-CA" dirty="0"/>
              <a:t> </a:t>
            </a:r>
            <a:r>
              <a:rPr lang="en-CA" i="1" dirty="0" err="1"/>
              <a:t>metacharacters</a:t>
            </a:r>
            <a:r>
              <a:rPr lang="en-CA" dirty="0"/>
              <a:t>. </a:t>
            </a:r>
            <a:endParaRPr lang="en-CA" dirty="0" smtClean="0"/>
          </a:p>
          <a:p>
            <a:r>
              <a:rPr lang="en-CA" dirty="0" smtClean="0"/>
              <a:t>Any </a:t>
            </a:r>
            <a:r>
              <a:rPr lang="en-CA" dirty="0" err="1"/>
              <a:t>subpattern</a:t>
            </a:r>
            <a:r>
              <a:rPr lang="en-CA" dirty="0"/>
              <a:t> inside a pair of parentheses will be </a:t>
            </a:r>
            <a:r>
              <a:rPr lang="en-CA" b="1" dirty="0"/>
              <a:t>captured</a:t>
            </a:r>
            <a:r>
              <a:rPr lang="en-CA" dirty="0"/>
              <a:t> as a group. </a:t>
            </a:r>
            <a:endParaRPr lang="en-CA" dirty="0" smtClean="0"/>
          </a:p>
          <a:p>
            <a:pPr lvl="1"/>
            <a:r>
              <a:rPr lang="en-CA" dirty="0" smtClean="0"/>
              <a:t>In </a:t>
            </a:r>
            <a:r>
              <a:rPr lang="en-CA" dirty="0"/>
              <a:t>practice, this can be used to extract information like phone numbers or emails from all sorts of data.</a:t>
            </a:r>
          </a:p>
        </p:txBody>
      </p:sp>
    </p:spTree>
    <p:extLst>
      <p:ext uri="{BB962C8B-B14F-4D97-AF65-F5344CB8AC3E}">
        <p14:creationId xmlns:p14="http://schemas.microsoft.com/office/powerpoint/2010/main" val="2266531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Imagine for example that you had a command line tool to list all the image files you have in the cloud. </a:t>
            </a:r>
            <a:endParaRPr lang="en-CA" dirty="0" smtClean="0"/>
          </a:p>
          <a:p>
            <a:r>
              <a:rPr lang="en-CA" dirty="0" smtClean="0"/>
              <a:t>You </a:t>
            </a:r>
            <a:r>
              <a:rPr lang="en-CA" dirty="0"/>
              <a:t>could then use a pattern such as </a:t>
            </a:r>
            <a:r>
              <a:rPr lang="en-CA" b="1" dirty="0"/>
              <a:t>^(IMG\d+\.</a:t>
            </a:r>
            <a:r>
              <a:rPr lang="en-CA" b="1" dirty="0" err="1"/>
              <a:t>png</a:t>
            </a:r>
            <a:r>
              <a:rPr lang="en-CA" b="1" dirty="0"/>
              <a:t>)$</a:t>
            </a:r>
            <a:r>
              <a:rPr lang="en-CA" dirty="0"/>
              <a:t> to capture and extract the full filename, but if you only wanted to capture the filename without the extension, you could use the pattern </a:t>
            </a:r>
            <a:r>
              <a:rPr lang="en-CA" b="1" dirty="0"/>
              <a:t>^(IMG\d+)\.</a:t>
            </a:r>
            <a:r>
              <a:rPr lang="en-CA" b="1" dirty="0" err="1"/>
              <a:t>png</a:t>
            </a:r>
            <a:r>
              <a:rPr lang="en-CA" b="1" dirty="0"/>
              <a:t>$</a:t>
            </a:r>
            <a:r>
              <a:rPr lang="en-CA" dirty="0"/>
              <a:t> which only captures the part before the period.</a:t>
            </a:r>
          </a:p>
        </p:txBody>
      </p:sp>
    </p:spTree>
    <p:extLst>
      <p:ext uri="{BB962C8B-B14F-4D97-AF65-F5344CB8AC3E}">
        <p14:creationId xmlns:p14="http://schemas.microsoft.com/office/powerpoint/2010/main" val="1186958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Nested groups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When you are working with complex data, you can easily find yourself having to extract multiple layers of information, which can result in nested groups. </a:t>
            </a:r>
            <a:endParaRPr lang="en-CA" dirty="0" smtClean="0"/>
          </a:p>
          <a:p>
            <a:r>
              <a:rPr lang="en-CA" dirty="0" smtClean="0"/>
              <a:t>Generally</a:t>
            </a:r>
            <a:r>
              <a:rPr lang="en-CA" dirty="0"/>
              <a:t>, the results of the captured groups are in the order in which they are defined (in order by open parenthesis).</a:t>
            </a:r>
          </a:p>
        </p:txBody>
      </p:sp>
    </p:spTree>
    <p:extLst>
      <p:ext uri="{BB962C8B-B14F-4D97-AF65-F5344CB8AC3E}">
        <p14:creationId xmlns:p14="http://schemas.microsoft.com/office/powerpoint/2010/main" val="52133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Take the example from the previous </a:t>
            </a:r>
            <a:r>
              <a:rPr lang="en-CA" dirty="0" smtClean="0"/>
              <a:t>section, </a:t>
            </a:r>
            <a:r>
              <a:rPr lang="en-CA" dirty="0"/>
              <a:t>of capturing the filenames of all the image files you have in a list. </a:t>
            </a:r>
            <a:endParaRPr lang="en-CA" dirty="0" smtClean="0"/>
          </a:p>
          <a:p>
            <a:r>
              <a:rPr lang="en-CA" dirty="0" smtClean="0"/>
              <a:t>If </a:t>
            </a:r>
            <a:r>
              <a:rPr lang="en-CA" dirty="0"/>
              <a:t>each of these image files had a sequential picture number in the filename, you could extract both the filename and the picture number using the same pattern by writing an expression like </a:t>
            </a:r>
            <a:r>
              <a:rPr lang="en-CA" b="1" dirty="0"/>
              <a:t>^(IMG(\d+))\.</a:t>
            </a:r>
            <a:r>
              <a:rPr lang="en-CA" b="1" dirty="0" err="1"/>
              <a:t>png</a:t>
            </a:r>
            <a:r>
              <a:rPr lang="en-CA" b="1" dirty="0"/>
              <a:t>$</a:t>
            </a:r>
            <a:r>
              <a:rPr lang="en-CA" dirty="0"/>
              <a:t>(using a nested parenthesis to capture the digits</a:t>
            </a:r>
            <a:r>
              <a:rPr lang="en-CA" dirty="0" smtClean="0"/>
              <a:t>).</a:t>
            </a:r>
          </a:p>
          <a:p>
            <a:pPr lvl="1"/>
            <a:r>
              <a:rPr lang="en-CA" dirty="0"/>
              <a:t>The nested groups are read from left to right in the pattern, with the first capture group being the contents of the first parentheses group, etc.</a:t>
            </a:r>
          </a:p>
        </p:txBody>
      </p:sp>
    </p:spTree>
    <p:extLst>
      <p:ext uri="{BB962C8B-B14F-4D97-AF65-F5344CB8AC3E}">
        <p14:creationId xmlns:p14="http://schemas.microsoft.com/office/powerpoint/2010/main" val="2058754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More group work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As you saw in the previous </a:t>
            </a:r>
            <a:r>
              <a:rPr lang="en-CA" dirty="0" smtClean="0"/>
              <a:t>sections, </a:t>
            </a:r>
            <a:r>
              <a:rPr lang="en-CA" dirty="0"/>
              <a:t>all the quantifiers including the star </a:t>
            </a:r>
            <a:r>
              <a:rPr lang="en-CA" b="1" dirty="0"/>
              <a:t>*</a:t>
            </a:r>
            <a:r>
              <a:rPr lang="en-CA" dirty="0"/>
              <a:t>, plus </a:t>
            </a:r>
            <a:r>
              <a:rPr lang="en-CA" b="1" dirty="0"/>
              <a:t>+</a:t>
            </a:r>
            <a:r>
              <a:rPr lang="en-CA" dirty="0"/>
              <a:t>, repetition </a:t>
            </a:r>
            <a:r>
              <a:rPr lang="en-CA" b="1" dirty="0"/>
              <a:t>{</a:t>
            </a:r>
            <a:r>
              <a:rPr lang="en-CA" b="1" dirty="0" err="1"/>
              <a:t>m,n</a:t>
            </a:r>
            <a:r>
              <a:rPr lang="en-CA" b="1" dirty="0"/>
              <a:t>}</a:t>
            </a:r>
            <a:r>
              <a:rPr lang="en-CA" dirty="0"/>
              <a:t> and the question mark </a:t>
            </a:r>
            <a:r>
              <a:rPr lang="en-CA" b="1" dirty="0"/>
              <a:t>?</a:t>
            </a:r>
            <a:r>
              <a:rPr lang="en-CA" dirty="0"/>
              <a:t> can all be used within the capture group patterns. </a:t>
            </a:r>
            <a:endParaRPr lang="en-CA" dirty="0" smtClean="0"/>
          </a:p>
          <a:p>
            <a:r>
              <a:rPr lang="en-CA" dirty="0" smtClean="0"/>
              <a:t>This </a:t>
            </a:r>
            <a:r>
              <a:rPr lang="en-CA" dirty="0"/>
              <a:t>is the only way to apply quantifiers on sequences of characters instead of the individual characters themselves</a:t>
            </a:r>
            <a:r>
              <a:rPr lang="en-CA" dirty="0" smtClean="0"/>
              <a:t>.</a:t>
            </a:r>
          </a:p>
          <a:p>
            <a:pPr lvl="1"/>
            <a:r>
              <a:rPr lang="en-CA" dirty="0"/>
              <a:t>For example, if I knew that a phone number may or may not contain an area code, the right pattern would test for the existence of the whole group of digits </a:t>
            </a:r>
            <a:r>
              <a:rPr lang="en-CA" b="1" dirty="0"/>
              <a:t>(\d{3})?</a:t>
            </a:r>
            <a:r>
              <a:rPr lang="en-CA" dirty="0"/>
              <a:t> and not the individual characters themselves (which would be wrong</a:t>
            </a:r>
            <a:r>
              <a:rPr lang="en-CA" dirty="0" smtClean="0"/>
              <a:t>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65636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It's all conditional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It's </a:t>
            </a:r>
            <a:r>
              <a:rPr lang="en-CA" dirty="0"/>
              <a:t>always good to be precise, and that applies to coding, talking, and even regular expressions. </a:t>
            </a:r>
            <a:endParaRPr lang="en-CA" dirty="0" smtClean="0"/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 you wouldn't write a grocery list for someone to </a:t>
            </a:r>
            <a:r>
              <a:rPr lang="en-CA" b="1" dirty="0"/>
              <a:t>Buy more .*</a:t>
            </a:r>
            <a:r>
              <a:rPr lang="en-CA" dirty="0"/>
              <a:t> because you would have no idea what you could get back. </a:t>
            </a:r>
            <a:endParaRPr lang="en-CA" dirty="0" smtClean="0"/>
          </a:p>
          <a:p>
            <a:pPr lvl="1"/>
            <a:r>
              <a:rPr lang="en-CA" dirty="0" smtClean="0"/>
              <a:t>Instead </a:t>
            </a:r>
            <a:r>
              <a:rPr lang="en-CA" dirty="0"/>
              <a:t>you would write </a:t>
            </a:r>
            <a:r>
              <a:rPr lang="en-CA" b="1" dirty="0"/>
              <a:t>Buy more milk</a:t>
            </a:r>
            <a:r>
              <a:rPr lang="en-CA" dirty="0"/>
              <a:t> or </a:t>
            </a:r>
            <a:r>
              <a:rPr lang="en-CA" b="1" dirty="0"/>
              <a:t>Buy more bread</a:t>
            </a:r>
            <a:r>
              <a:rPr lang="en-CA" dirty="0"/>
              <a:t>, and in regular expressions, we can actually define these conditionals explicitly.</a:t>
            </a:r>
          </a:p>
        </p:txBody>
      </p:sp>
    </p:spTree>
    <p:extLst>
      <p:ext uri="{BB962C8B-B14F-4D97-AF65-F5344CB8AC3E}">
        <p14:creationId xmlns:p14="http://schemas.microsoft.com/office/powerpoint/2010/main" val="1650866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Specifically when using groups, you can use the </a:t>
            </a:r>
            <a:r>
              <a:rPr lang="en-CA" b="1" dirty="0"/>
              <a:t>|</a:t>
            </a:r>
            <a:r>
              <a:rPr lang="en-CA" dirty="0"/>
              <a:t> (</a:t>
            </a:r>
            <a:r>
              <a:rPr lang="en-CA" b="1" dirty="0"/>
              <a:t>logical OR, aka. the pipe</a:t>
            </a:r>
            <a:r>
              <a:rPr lang="en-CA" dirty="0"/>
              <a:t>) to denote </a:t>
            </a:r>
            <a:r>
              <a:rPr lang="en-CA" b="1" dirty="0"/>
              <a:t>different possible sets of characters</a:t>
            </a:r>
            <a:r>
              <a:rPr lang="en-CA" dirty="0"/>
              <a:t>. </a:t>
            </a:r>
            <a:endParaRPr lang="en-CA" dirty="0" smtClean="0"/>
          </a:p>
          <a:p>
            <a:r>
              <a:rPr lang="en-CA" dirty="0" smtClean="0"/>
              <a:t>In </a:t>
            </a:r>
            <a:r>
              <a:rPr lang="en-CA" dirty="0"/>
              <a:t>the above example, I can write the pattern "Buy more (</a:t>
            </a:r>
            <a:r>
              <a:rPr lang="en-CA" dirty="0" err="1"/>
              <a:t>milk|bread|juice</a:t>
            </a:r>
            <a:r>
              <a:rPr lang="en-CA" dirty="0"/>
              <a:t>)" to match only the strings Buy more milk, Buy more bread, or Buy more juice.</a:t>
            </a:r>
          </a:p>
        </p:txBody>
      </p:sp>
    </p:spTree>
    <p:extLst>
      <p:ext uri="{BB962C8B-B14F-4D97-AF65-F5344CB8AC3E}">
        <p14:creationId xmlns:p14="http://schemas.microsoft.com/office/powerpoint/2010/main" val="40211354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Like normal groups, you can use any sequence of characters or </a:t>
            </a:r>
            <a:r>
              <a:rPr lang="en-CA" i="1" dirty="0" err="1"/>
              <a:t>metacharacters</a:t>
            </a:r>
            <a:r>
              <a:rPr lang="en-CA" dirty="0"/>
              <a:t> in a </a:t>
            </a:r>
            <a:r>
              <a:rPr lang="en-CA" dirty="0" smtClean="0"/>
              <a:t>condition</a:t>
            </a:r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 ([</a:t>
            </a:r>
            <a:r>
              <a:rPr lang="en-CA" dirty="0" err="1"/>
              <a:t>cb</a:t>
            </a:r>
            <a:r>
              <a:rPr lang="en-CA" dirty="0"/>
              <a:t>]</a:t>
            </a:r>
            <a:r>
              <a:rPr lang="en-CA" dirty="0" err="1"/>
              <a:t>ats</a:t>
            </a:r>
            <a:r>
              <a:rPr lang="en-CA" dirty="0"/>
              <a:t>*|[dh]</a:t>
            </a:r>
            <a:r>
              <a:rPr lang="en-CA" dirty="0" err="1"/>
              <a:t>ogs</a:t>
            </a:r>
            <a:r>
              <a:rPr lang="en-CA" dirty="0"/>
              <a:t>?) would match either cats or bats, or, dogs or hogs. </a:t>
            </a:r>
            <a:endParaRPr lang="en-CA" dirty="0" smtClean="0"/>
          </a:p>
          <a:p>
            <a:r>
              <a:rPr lang="en-CA" dirty="0" smtClean="0"/>
              <a:t>Writing </a:t>
            </a:r>
            <a:r>
              <a:rPr lang="en-CA" dirty="0"/>
              <a:t>patterns with many conditions can be hard to read, so you should consider making them separate patterns if they get too complex.</a:t>
            </a:r>
          </a:p>
        </p:txBody>
      </p:sp>
    </p:spTree>
    <p:extLst>
      <p:ext uri="{BB962C8B-B14F-4D97-AF65-F5344CB8AC3E}">
        <p14:creationId xmlns:p14="http://schemas.microsoft.com/office/powerpoint/2010/main" val="2095922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Other special characters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CA" dirty="0"/>
              <a:t>This </a:t>
            </a:r>
            <a:r>
              <a:rPr lang="en-CA" dirty="0" smtClean="0"/>
              <a:t>section </a:t>
            </a:r>
            <a:r>
              <a:rPr lang="en-CA" dirty="0"/>
              <a:t>will cover some extra </a:t>
            </a:r>
            <a:r>
              <a:rPr lang="en-CA" i="1" dirty="0" err="1"/>
              <a:t>metacharacters</a:t>
            </a:r>
            <a:r>
              <a:rPr lang="en-CA" dirty="0"/>
              <a:t>, as well as the results of captured groups.</a:t>
            </a:r>
          </a:p>
          <a:p>
            <a:r>
              <a:rPr lang="en-CA" dirty="0"/>
              <a:t>We have already learned the most common </a:t>
            </a:r>
            <a:r>
              <a:rPr lang="en-CA" i="1" dirty="0" err="1"/>
              <a:t>metacharacters</a:t>
            </a:r>
            <a:r>
              <a:rPr lang="en-CA" dirty="0"/>
              <a:t> to capture </a:t>
            </a:r>
            <a:endParaRPr lang="en-CA" dirty="0" smtClean="0"/>
          </a:p>
          <a:p>
            <a:pPr lvl="1"/>
            <a:r>
              <a:rPr lang="en-CA" dirty="0" smtClean="0"/>
              <a:t>digits </a:t>
            </a:r>
            <a:r>
              <a:rPr lang="en-CA" dirty="0"/>
              <a:t>using </a:t>
            </a:r>
            <a:r>
              <a:rPr lang="en-CA" b="1" dirty="0"/>
              <a:t>\d</a:t>
            </a:r>
            <a:r>
              <a:rPr lang="en-CA" dirty="0"/>
              <a:t>, </a:t>
            </a:r>
            <a:endParaRPr lang="en-CA" dirty="0" smtClean="0"/>
          </a:p>
          <a:p>
            <a:pPr lvl="1"/>
            <a:r>
              <a:rPr lang="en-CA" dirty="0" smtClean="0"/>
              <a:t>whitespace </a:t>
            </a:r>
            <a:r>
              <a:rPr lang="en-CA" dirty="0"/>
              <a:t>using </a:t>
            </a:r>
            <a:r>
              <a:rPr lang="en-CA" b="1" dirty="0"/>
              <a:t>\s</a:t>
            </a:r>
            <a:r>
              <a:rPr lang="en-CA" dirty="0"/>
              <a:t>, and </a:t>
            </a:r>
            <a:endParaRPr lang="en-CA" dirty="0" smtClean="0"/>
          </a:p>
          <a:p>
            <a:pPr lvl="1"/>
            <a:r>
              <a:rPr lang="en-CA" dirty="0" smtClean="0"/>
              <a:t>alphanumeric </a:t>
            </a:r>
            <a:r>
              <a:rPr lang="en-CA" dirty="0"/>
              <a:t>letters and digits using </a:t>
            </a:r>
            <a:r>
              <a:rPr lang="en-CA" b="1" dirty="0"/>
              <a:t>\w</a:t>
            </a:r>
            <a:r>
              <a:rPr lang="en-CA" dirty="0"/>
              <a:t>, </a:t>
            </a:r>
            <a:endParaRPr lang="en-CA" dirty="0" smtClean="0"/>
          </a:p>
          <a:p>
            <a:pPr marL="180975" indent="0">
              <a:buNone/>
            </a:pPr>
            <a:r>
              <a:rPr lang="en-CA" dirty="0" smtClean="0"/>
              <a:t>but </a:t>
            </a:r>
            <a:r>
              <a:rPr lang="en-CA" dirty="0"/>
              <a:t>regular expressions also provides a way of specifying the opposite sets of each of these </a:t>
            </a:r>
            <a:r>
              <a:rPr lang="en-CA" i="1" dirty="0" err="1"/>
              <a:t>metacharacters</a:t>
            </a:r>
            <a:r>
              <a:rPr lang="en-CA" dirty="0"/>
              <a:t> by using their upper case letters. </a:t>
            </a:r>
            <a:endParaRPr lang="en-CA" dirty="0" smtClean="0"/>
          </a:p>
          <a:p>
            <a:pPr lvl="1"/>
            <a:r>
              <a:rPr lang="en-CA" dirty="0" smtClean="0"/>
              <a:t>For </a:t>
            </a:r>
            <a:r>
              <a:rPr lang="en-CA" dirty="0"/>
              <a:t>example, </a:t>
            </a:r>
            <a:r>
              <a:rPr lang="en-CA" b="1" dirty="0"/>
              <a:t>\D</a:t>
            </a:r>
            <a:r>
              <a:rPr lang="en-CA" dirty="0"/>
              <a:t> represents any </a:t>
            </a:r>
            <a:r>
              <a:rPr lang="en-CA" b="1" dirty="0"/>
              <a:t>non-digit</a:t>
            </a:r>
            <a:r>
              <a:rPr lang="en-CA" dirty="0"/>
              <a:t> character, </a:t>
            </a:r>
            <a:r>
              <a:rPr lang="en-CA" b="1" dirty="0"/>
              <a:t>\S</a:t>
            </a:r>
            <a:r>
              <a:rPr lang="en-CA" dirty="0"/>
              <a:t> any </a:t>
            </a:r>
            <a:r>
              <a:rPr lang="en-CA" b="1" dirty="0"/>
              <a:t>non-whitespace</a:t>
            </a:r>
            <a:r>
              <a:rPr lang="en-CA" dirty="0"/>
              <a:t> character, and </a:t>
            </a:r>
            <a:r>
              <a:rPr lang="en-CA" b="1" dirty="0"/>
              <a:t>\W</a:t>
            </a:r>
            <a:r>
              <a:rPr lang="en-CA" dirty="0"/>
              <a:t> any </a:t>
            </a:r>
            <a:r>
              <a:rPr lang="en-CA" b="1" dirty="0"/>
              <a:t>non-alphanumeric</a:t>
            </a:r>
            <a:r>
              <a:rPr lang="en-CA" dirty="0"/>
              <a:t> character (such as punctuation). </a:t>
            </a:r>
            <a:endParaRPr lang="en-CA" dirty="0" smtClean="0"/>
          </a:p>
          <a:p>
            <a:r>
              <a:rPr lang="en-CA" dirty="0" smtClean="0"/>
              <a:t>Depending </a:t>
            </a:r>
            <a:r>
              <a:rPr lang="en-CA" dirty="0"/>
              <a:t>on how you compose your regular expression, it may be easier to use one or the other</a:t>
            </a:r>
            <a:r>
              <a:rPr lang="en-CA" dirty="0" smtClean="0"/>
              <a:t>.</a:t>
            </a:r>
            <a:br>
              <a:rPr lang="en-CA" dirty="0" smtClean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645334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Additionally, there is a special </a:t>
            </a:r>
            <a:r>
              <a:rPr lang="en-CA" i="1" dirty="0" err="1"/>
              <a:t>metacharacter</a:t>
            </a:r>
            <a:r>
              <a:rPr lang="en-CA" dirty="0"/>
              <a:t> </a:t>
            </a:r>
            <a:r>
              <a:rPr lang="en-CA" b="1" dirty="0"/>
              <a:t>\b</a:t>
            </a:r>
            <a:r>
              <a:rPr lang="en-CA" dirty="0"/>
              <a:t> which matches the boundary between a word and a non-word character. </a:t>
            </a:r>
            <a:endParaRPr lang="en-CA" dirty="0" smtClean="0"/>
          </a:p>
          <a:p>
            <a:r>
              <a:rPr lang="en-CA" dirty="0" smtClean="0"/>
              <a:t>It's </a:t>
            </a:r>
            <a:r>
              <a:rPr lang="en-CA" dirty="0"/>
              <a:t>most useful in capturing entire words (for example by using the pattern </a:t>
            </a:r>
            <a:r>
              <a:rPr lang="en-CA" b="1" dirty="0"/>
              <a:t>\w+\b</a:t>
            </a:r>
            <a:r>
              <a:rPr lang="en-CA" dirty="0" smtClean="0"/>
              <a:t>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0164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The </a:t>
            </a:r>
            <a:r>
              <a:rPr lang="en-CA" dirty="0" err="1" smtClean="0"/>
              <a:t>RegEx</a:t>
            </a:r>
            <a:r>
              <a:rPr lang="en-CA" dirty="0" smtClean="0"/>
              <a:t> Object in JavaScript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In JavaScript, a </a:t>
            </a:r>
            <a:r>
              <a:rPr lang="en-CA" dirty="0"/>
              <a:t>regular expression is an object that describes a pattern of characters</a:t>
            </a:r>
            <a:r>
              <a:rPr lang="en-CA" dirty="0" smtClean="0"/>
              <a:t>.</a:t>
            </a:r>
          </a:p>
          <a:p>
            <a:r>
              <a:rPr lang="en-CA" dirty="0" smtClean="0"/>
              <a:t>The object has 2 methods that can be very useful when using regex pattern with strings:</a:t>
            </a:r>
          </a:p>
          <a:p>
            <a:pPr lvl="1"/>
            <a:r>
              <a:rPr lang="en-CA" dirty="0"/>
              <a:t>exec</a:t>
            </a:r>
            <a:r>
              <a:rPr lang="en-CA" dirty="0" smtClean="0"/>
              <a:t>(): </a:t>
            </a:r>
            <a:r>
              <a:rPr lang="en-CA" dirty="0"/>
              <a:t>Tests for a match in a string. Returns the first </a:t>
            </a:r>
            <a:r>
              <a:rPr lang="en-CA" dirty="0" smtClean="0"/>
              <a:t>match</a:t>
            </a:r>
          </a:p>
          <a:p>
            <a:pPr lvl="1"/>
            <a:r>
              <a:rPr lang="en-CA" dirty="0"/>
              <a:t>t</a:t>
            </a:r>
            <a:r>
              <a:rPr lang="en-CA" dirty="0" smtClean="0"/>
              <a:t>est(): </a:t>
            </a:r>
            <a:r>
              <a:rPr lang="en-CA" dirty="0"/>
              <a:t>Tests for a match in a string. Returns true or false</a:t>
            </a:r>
          </a:p>
          <a:p>
            <a:pPr lvl="1"/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54445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Search a string for the character "e":</a:t>
            </a:r>
          </a:p>
          <a:p>
            <a:pPr marL="0" indent="0">
              <a:buNone/>
            </a:pPr>
            <a:r>
              <a:rPr lang="en-CA" dirty="0" smtClean="0"/>
              <a:t>	</a:t>
            </a:r>
            <a:r>
              <a:rPr lang="en-CA" dirty="0" err="1" smtClean="0"/>
              <a:t>var</a:t>
            </a:r>
            <a:r>
              <a:rPr lang="en-CA" dirty="0"/>
              <a:t> </a:t>
            </a:r>
            <a:r>
              <a:rPr lang="en-CA" dirty="0" err="1"/>
              <a:t>str</a:t>
            </a:r>
            <a:r>
              <a:rPr lang="en-CA" dirty="0"/>
              <a:t> = "The best things in life are free";</a:t>
            </a:r>
            <a:br>
              <a:rPr lang="en-CA" dirty="0"/>
            </a:br>
            <a:r>
              <a:rPr lang="en-CA" dirty="0" smtClean="0"/>
              <a:t>	</a:t>
            </a:r>
            <a:r>
              <a:rPr lang="en-CA" dirty="0" err="1" smtClean="0"/>
              <a:t>var</a:t>
            </a:r>
            <a:r>
              <a:rPr lang="en-CA" dirty="0"/>
              <a:t> </a:t>
            </a:r>
            <a:r>
              <a:rPr lang="en-CA" dirty="0" err="1"/>
              <a:t>patt</a:t>
            </a:r>
            <a:r>
              <a:rPr lang="en-CA" dirty="0"/>
              <a:t> = new </a:t>
            </a:r>
            <a:r>
              <a:rPr lang="en-CA" dirty="0" err="1"/>
              <a:t>RegExp</a:t>
            </a:r>
            <a:r>
              <a:rPr lang="en-CA" dirty="0"/>
              <a:t>("e");</a:t>
            </a:r>
            <a:br>
              <a:rPr lang="en-CA" dirty="0"/>
            </a:br>
            <a:r>
              <a:rPr lang="en-CA" dirty="0" smtClean="0"/>
              <a:t>	</a:t>
            </a:r>
            <a:r>
              <a:rPr lang="en-CA" dirty="0" err="1" smtClean="0"/>
              <a:t>var</a:t>
            </a:r>
            <a:r>
              <a:rPr lang="en-CA" dirty="0"/>
              <a:t> res = </a:t>
            </a:r>
            <a:r>
              <a:rPr lang="en-CA" dirty="0" err="1"/>
              <a:t>patt.exec</a:t>
            </a:r>
            <a:r>
              <a:rPr lang="en-CA" dirty="0"/>
              <a:t>(</a:t>
            </a:r>
            <a:r>
              <a:rPr lang="en-CA" dirty="0" err="1"/>
              <a:t>str</a:t>
            </a:r>
            <a:r>
              <a:rPr lang="en-CA" dirty="0"/>
              <a:t>);</a:t>
            </a:r>
          </a:p>
          <a:p>
            <a:r>
              <a:rPr lang="en-CA" dirty="0"/>
              <a:t>Search a string for the character "e":</a:t>
            </a:r>
          </a:p>
          <a:p>
            <a:pPr marL="0" indent="0">
              <a:buNone/>
            </a:pPr>
            <a:r>
              <a:rPr lang="en-CA" dirty="0" smtClean="0"/>
              <a:t>	</a:t>
            </a:r>
            <a:r>
              <a:rPr lang="en-CA" dirty="0" err="1" smtClean="0"/>
              <a:t>var</a:t>
            </a:r>
            <a:r>
              <a:rPr lang="en-CA" dirty="0"/>
              <a:t> </a:t>
            </a:r>
            <a:r>
              <a:rPr lang="en-CA" dirty="0" err="1"/>
              <a:t>str</a:t>
            </a:r>
            <a:r>
              <a:rPr lang="en-CA" dirty="0"/>
              <a:t> = "The best things in life are free";</a:t>
            </a:r>
            <a:br>
              <a:rPr lang="en-CA" dirty="0"/>
            </a:br>
            <a:r>
              <a:rPr lang="en-CA" dirty="0" smtClean="0"/>
              <a:t>	</a:t>
            </a:r>
            <a:r>
              <a:rPr lang="en-CA" dirty="0" err="1" smtClean="0"/>
              <a:t>var</a:t>
            </a:r>
            <a:r>
              <a:rPr lang="en-CA" dirty="0"/>
              <a:t> </a:t>
            </a:r>
            <a:r>
              <a:rPr lang="en-CA" dirty="0" err="1"/>
              <a:t>patt</a:t>
            </a:r>
            <a:r>
              <a:rPr lang="en-CA" dirty="0"/>
              <a:t> = new </a:t>
            </a:r>
            <a:r>
              <a:rPr lang="en-CA" dirty="0" err="1"/>
              <a:t>RegExp</a:t>
            </a:r>
            <a:r>
              <a:rPr lang="en-CA" dirty="0"/>
              <a:t>("e");</a:t>
            </a:r>
            <a:br>
              <a:rPr lang="en-CA" dirty="0"/>
            </a:br>
            <a:r>
              <a:rPr lang="en-CA" dirty="0" smtClean="0"/>
              <a:t>	</a:t>
            </a:r>
            <a:r>
              <a:rPr lang="en-CA" dirty="0" err="1" smtClean="0"/>
              <a:t>var</a:t>
            </a:r>
            <a:r>
              <a:rPr lang="en-CA" dirty="0"/>
              <a:t> res = </a:t>
            </a:r>
            <a:r>
              <a:rPr lang="en-CA" dirty="0" err="1"/>
              <a:t>patt.test</a:t>
            </a:r>
            <a:r>
              <a:rPr lang="en-CA" dirty="0"/>
              <a:t>(</a:t>
            </a:r>
            <a:r>
              <a:rPr lang="en-CA" dirty="0" err="1"/>
              <a:t>str</a:t>
            </a:r>
            <a:r>
              <a:rPr lang="en-CA" dirty="0"/>
              <a:t>);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328351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References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 smtClean="0">
                <a:hlinkClick r:id="rId2"/>
              </a:rPr>
              <a:t>RegexOne</a:t>
            </a:r>
            <a:endParaRPr lang="en-CA" dirty="0" smtClean="0"/>
          </a:p>
          <a:p>
            <a:r>
              <a:rPr lang="en-CA" dirty="0" smtClean="0">
                <a:hlinkClick r:id="rId3"/>
              </a:rPr>
              <a:t>W3schools.com</a:t>
            </a:r>
            <a:endParaRPr lang="en-CA" dirty="0" smtClean="0"/>
          </a:p>
          <a:p>
            <a:r>
              <a:rPr lang="en-CA" dirty="0" smtClean="0">
                <a:hlinkClick r:id="rId4"/>
              </a:rPr>
              <a:t>MDN web docs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36821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968</Words>
  <Application>Microsoft Office PowerPoint</Application>
  <PresentationFormat>Widescreen</PresentationFormat>
  <Paragraphs>112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Regular Expressions</vt:lpstr>
      <vt:lpstr>Why Regular Expressions?</vt:lpstr>
      <vt:lpstr>An Introduction, and the ABCs</vt:lpstr>
      <vt:lpstr>The 123s</vt:lpstr>
      <vt:lpstr>PowerPoint Presentation</vt:lpstr>
      <vt:lpstr>The Dot</vt:lpstr>
      <vt:lpstr>Matching specific characters</vt:lpstr>
      <vt:lpstr>Excluding specific characters</vt:lpstr>
      <vt:lpstr>Character ranges</vt:lpstr>
      <vt:lpstr>PowerPoint Presentation</vt:lpstr>
      <vt:lpstr>PowerPoint Presentation</vt:lpstr>
      <vt:lpstr>Repetition syntax</vt:lpstr>
      <vt:lpstr>PowerPoint Presentation</vt:lpstr>
      <vt:lpstr>PowerPoint Presentation</vt:lpstr>
      <vt:lpstr>Matching an arbitrary number of characters</vt:lpstr>
      <vt:lpstr>PowerPoint Presentation</vt:lpstr>
      <vt:lpstr>Optional Characters</vt:lpstr>
      <vt:lpstr>The whitespace</vt:lpstr>
      <vt:lpstr>PowerPoint Presentation</vt:lpstr>
      <vt:lpstr>Starting and ending</vt:lpstr>
      <vt:lpstr>PowerPoint Presentation</vt:lpstr>
      <vt:lpstr>Match groups</vt:lpstr>
      <vt:lpstr>PowerPoint Presentation</vt:lpstr>
      <vt:lpstr>Nested groups</vt:lpstr>
      <vt:lpstr>PowerPoint Presentation</vt:lpstr>
      <vt:lpstr>More group work</vt:lpstr>
      <vt:lpstr>It's all conditional</vt:lpstr>
      <vt:lpstr>PowerPoint Presentation</vt:lpstr>
      <vt:lpstr>PowerPoint Presentation</vt:lpstr>
      <vt:lpstr>Other special characters</vt:lpstr>
      <vt:lpstr>PowerPoint Presentation</vt:lpstr>
      <vt:lpstr>The RegEx Object in JavaScript</vt:lpstr>
      <vt:lpstr>PowerPoint Presentation</vt:lpstr>
      <vt:lpstr>References</vt:lpstr>
    </vt:vector>
  </TitlesOfParts>
  <Company>CEGEP Vanier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Raphael</dc:creator>
  <cp:lastModifiedBy>Ronald Raphael</cp:lastModifiedBy>
  <cp:revision>63</cp:revision>
  <dcterms:created xsi:type="dcterms:W3CDTF">2019-02-06T18:18:18Z</dcterms:created>
  <dcterms:modified xsi:type="dcterms:W3CDTF">2019-02-06T22:06:16Z</dcterms:modified>
</cp:coreProperties>
</file>