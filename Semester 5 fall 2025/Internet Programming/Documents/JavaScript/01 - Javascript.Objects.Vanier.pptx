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handoutMasterIdLst>
    <p:handoutMasterId r:id="rId49"/>
  </p:handoutMasterIdLst>
  <p:sldIdLst>
    <p:sldId id="256" r:id="rId2"/>
    <p:sldId id="275" r:id="rId3"/>
    <p:sldId id="257" r:id="rId4"/>
    <p:sldId id="258" r:id="rId5"/>
    <p:sldId id="259" r:id="rId6"/>
    <p:sldId id="262" r:id="rId7"/>
    <p:sldId id="260" r:id="rId8"/>
    <p:sldId id="263" r:id="rId9"/>
    <p:sldId id="264" r:id="rId10"/>
    <p:sldId id="265" r:id="rId11"/>
    <p:sldId id="266" r:id="rId12"/>
    <p:sldId id="267" r:id="rId13"/>
    <p:sldId id="270" r:id="rId14"/>
    <p:sldId id="271" r:id="rId15"/>
    <p:sldId id="272" r:id="rId16"/>
    <p:sldId id="273" r:id="rId17"/>
    <p:sldId id="274" r:id="rId18"/>
    <p:sldId id="268" r:id="rId19"/>
    <p:sldId id="269"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avaScript &amp; jQuery" id="{3FDC0121-9C31-44A1-9527-23E472690536}">
          <p14:sldIdLst>
            <p14:sldId id="256"/>
          </p14:sldIdLst>
        </p14:section>
        <p14:section name="JavaScript Object Definitions" id="{293AE7A5-E6AF-4F1A-8395-E1FE599022A2}">
          <p14:sldIdLst>
            <p14:sldId id="275"/>
            <p14:sldId id="257"/>
            <p14:sldId id="258"/>
            <p14:sldId id="259"/>
            <p14:sldId id="262"/>
            <p14:sldId id="260"/>
            <p14:sldId id="263"/>
            <p14:sldId id="264"/>
            <p14:sldId id="265"/>
            <p14:sldId id="266"/>
            <p14:sldId id="267"/>
            <p14:sldId id="270"/>
          </p14:sldIdLst>
        </p14:section>
        <p14:section name="JavaScript Object Properties" id="{C4F83929-0093-48F2-8725-C1A60B40E917}">
          <p14:sldIdLst>
            <p14:sldId id="271"/>
            <p14:sldId id="272"/>
            <p14:sldId id="273"/>
            <p14:sldId id="274"/>
            <p14:sldId id="268"/>
            <p14:sldId id="269"/>
            <p14:sldId id="276"/>
            <p14:sldId id="277"/>
          </p14:sldIdLst>
        </p14:section>
        <p14:section name="JavaScript Object Methods" id="{631FCF43-3761-4A38-A170-4AED52411754}">
          <p14:sldIdLst>
            <p14:sldId id="278"/>
            <p14:sldId id="279"/>
            <p14:sldId id="280"/>
            <p14:sldId id="281"/>
            <p14:sldId id="282"/>
            <p14:sldId id="283"/>
          </p14:sldIdLst>
        </p14:section>
        <p14:section name="JavaScript Object Constructors" id="{8B001FAB-4673-4F2F-B17C-14C98E893393}">
          <p14:sldIdLst>
            <p14:sldId id="284"/>
            <p14:sldId id="285"/>
            <p14:sldId id="286"/>
            <p14:sldId id="287"/>
            <p14:sldId id="288"/>
            <p14:sldId id="289"/>
            <p14:sldId id="290"/>
            <p14:sldId id="291"/>
            <p14:sldId id="292"/>
            <p14:sldId id="293"/>
            <p14:sldId id="294"/>
            <p14:sldId id="295"/>
            <p14:sldId id="296"/>
          </p14:sldIdLst>
        </p14:section>
        <p14:section name="JavaScript Object Prototypes" id="{44D4D010-785E-476D-9D84-644AE639FD5A}">
          <p14:sldIdLst>
            <p14:sldId id="297"/>
            <p14:sldId id="298"/>
            <p14:sldId id="299"/>
            <p14:sldId id="300"/>
            <p14:sldId id="301"/>
            <p14:sldId id="302"/>
            <p14:sldId id="30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8" autoAdjust="0"/>
    <p:restoredTop sz="94660"/>
  </p:normalViewPr>
  <p:slideViewPr>
    <p:cSldViewPr snapToGrid="0">
      <p:cViewPr varScale="1">
        <p:scale>
          <a:sx n="108" d="100"/>
          <a:sy n="108" d="100"/>
        </p:scale>
        <p:origin x="426" y="96"/>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B842F9-AD32-490A-BB86-4BCB593BF23B}" type="datetimeFigureOut">
              <a:rPr lang="en-US" smtClean="0"/>
              <a:t>9/21/2020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F5C1E0-82D0-43BC-87E2-BEE5DBA0CC2D}" type="slidenum">
              <a:rPr lang="en-US" smtClean="0"/>
              <a:t>‹#›</a:t>
            </a:fld>
            <a:endParaRPr lang="en-US"/>
          </a:p>
        </p:txBody>
      </p:sp>
    </p:spTree>
    <p:extLst>
      <p:ext uri="{BB962C8B-B14F-4D97-AF65-F5344CB8AC3E}">
        <p14:creationId xmlns:p14="http://schemas.microsoft.com/office/powerpoint/2010/main" val="236572351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33383"/>
            <a:ext cx="9144000" cy="2076579"/>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C7280C-8D00-49E2-BA52-4114FFC4D69C}"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F06A3-BCEB-469E-A7D1-BFA9370CF874}" type="slidenum">
              <a:rPr lang="en-US" smtClean="0"/>
              <a:t>‹#›</a:t>
            </a:fld>
            <a:endParaRPr lang="en-US"/>
          </a:p>
        </p:txBody>
      </p:sp>
    </p:spTree>
    <p:extLst>
      <p:ext uri="{BB962C8B-B14F-4D97-AF65-F5344CB8AC3E}">
        <p14:creationId xmlns:p14="http://schemas.microsoft.com/office/powerpoint/2010/main" val="979702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7280C-8D00-49E2-BA52-4114FFC4D69C}"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2555229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7280C-8D00-49E2-BA52-4114FFC4D69C}"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2133062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7280C-8D00-49E2-BA52-4114FFC4D69C}"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1110347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8114742"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7280C-8D00-49E2-BA52-4114FFC4D69C}" type="datetimeFigureOut">
              <a:rPr lang="en-US" smtClean="0"/>
              <a:t>9/21/2020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1511927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7280C-8D00-49E2-BA52-4114FFC4D69C}" type="datetimeFigureOut">
              <a:rPr lang="en-US" smtClean="0"/>
              <a:t>9/21/2020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3373004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7280C-8D00-49E2-BA52-4114FFC4D69C}" type="datetimeFigureOut">
              <a:rPr lang="en-US" smtClean="0"/>
              <a:t>9/21/2020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3220190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1482811"/>
            <a:ext cx="6172200" cy="437823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7280C-8D00-49E2-BA52-4114FFC4D69C}"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3827416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1491049"/>
            <a:ext cx="6172200" cy="437000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7280C-8D00-49E2-BA52-4114FFC4D69C}"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3038400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7280C-8D00-49E2-BA52-4114FFC4D69C}"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358331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482811"/>
            <a:ext cx="2628900" cy="469415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7280C-8D00-49E2-BA52-4114FFC4D69C}"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3E0E8C-7813-4386-83AB-3D8933B6B7E4}" type="slidenum">
              <a:rPr lang="en-US" smtClean="0"/>
              <a:t>‹#›</a:t>
            </a:fld>
            <a:endParaRPr lang="en-US"/>
          </a:p>
        </p:txBody>
      </p:sp>
    </p:spTree>
    <p:extLst>
      <p:ext uri="{BB962C8B-B14F-4D97-AF65-F5344CB8AC3E}">
        <p14:creationId xmlns:p14="http://schemas.microsoft.com/office/powerpoint/2010/main" val="749802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805866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7280C-8D00-49E2-BA52-4114FFC4D69C}" type="datetimeFigureOut">
              <a:rPr lang="en-US" smtClean="0"/>
              <a:t>9/21/2020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CA"/>
              <a:t>Dawson College</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3E0E8C-7813-4386-83AB-3D8933B6B7E4}" type="slidenum">
              <a:rPr lang="en-US" smtClean="0"/>
              <a:t>‹#›</a:t>
            </a:fld>
            <a:endParaRPr lang="en-US"/>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20175" y="638608"/>
            <a:ext cx="2333625" cy="707159"/>
          </a:xfrm>
          <a:prstGeom prst="rect">
            <a:avLst/>
          </a:prstGeom>
        </p:spPr>
      </p:pic>
      <p:sp>
        <p:nvSpPr>
          <p:cNvPr id="8" name="TextBox 7"/>
          <p:cNvSpPr txBox="1"/>
          <p:nvPr userDrawn="1"/>
        </p:nvSpPr>
        <p:spPr>
          <a:xfrm>
            <a:off x="9633131" y="6470864"/>
            <a:ext cx="2558870" cy="369332"/>
          </a:xfrm>
          <a:prstGeom prst="rect">
            <a:avLst/>
          </a:prstGeom>
          <a:noFill/>
        </p:spPr>
        <p:txBody>
          <a:bodyPr wrap="square" rtlCol="0">
            <a:spAutoFit/>
          </a:bodyPr>
          <a:lstStyle/>
          <a:p>
            <a:r>
              <a:rPr lang="en-CA" dirty="0">
                <a:solidFill>
                  <a:schemeClr val="bg1"/>
                </a:solidFill>
              </a:rPr>
              <a:t>Vanier College</a:t>
            </a:r>
            <a:endParaRPr lang="en-US" dirty="0">
              <a:solidFill>
                <a:schemeClr val="bg1"/>
              </a:solidFill>
            </a:endParaRPr>
          </a:p>
        </p:txBody>
      </p:sp>
    </p:spTree>
    <p:extLst>
      <p:ext uri="{BB962C8B-B14F-4D97-AF65-F5344CB8AC3E}">
        <p14:creationId xmlns:p14="http://schemas.microsoft.com/office/powerpoint/2010/main" val="40750447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r"/>
            <a:r>
              <a:rPr lang="en-CA" dirty="0" err="1"/>
              <a:t>Javascript</a:t>
            </a:r>
            <a:r>
              <a:rPr lang="en-CA" dirty="0"/>
              <a:t> Objects</a:t>
            </a:r>
            <a:endParaRPr lang="en-US" dirty="0"/>
          </a:p>
        </p:txBody>
      </p:sp>
      <p:sp>
        <p:nvSpPr>
          <p:cNvPr id="3" name="Subtitle 2"/>
          <p:cNvSpPr>
            <a:spLocks noGrp="1"/>
          </p:cNvSpPr>
          <p:nvPr>
            <p:ph type="subTitle" idx="1"/>
          </p:nvPr>
        </p:nvSpPr>
        <p:spPr/>
        <p:txBody>
          <a:bodyPr/>
          <a:lstStyle/>
          <a:p>
            <a:pPr algn="r"/>
            <a:r>
              <a:rPr lang="en-CA" dirty="0"/>
              <a:t>By Ronald Raphael</a:t>
            </a:r>
            <a:endParaRPr lang="en-US" dirty="0"/>
          </a:p>
        </p:txBody>
      </p:sp>
    </p:spTree>
    <p:extLst>
      <p:ext uri="{BB962C8B-B14F-4D97-AF65-F5344CB8AC3E}">
        <p14:creationId xmlns:p14="http://schemas.microsoft.com/office/powerpoint/2010/main" val="554716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JavaScript Object Definitions</a:t>
            </a:r>
            <a:endParaRPr lang="en-US" dirty="0"/>
          </a:p>
        </p:txBody>
      </p:sp>
      <p:sp>
        <p:nvSpPr>
          <p:cNvPr id="3" name="Text Placeholder 2"/>
          <p:cNvSpPr>
            <a:spLocks noGrp="1"/>
          </p:cNvSpPr>
          <p:nvPr>
            <p:ph type="body" idx="1"/>
          </p:nvPr>
        </p:nvSpPr>
        <p:spPr/>
        <p:txBody>
          <a:bodyPr/>
          <a:lstStyle/>
          <a:p>
            <a:r>
              <a:rPr lang="en-CA" dirty="0">
                <a:solidFill>
                  <a:schemeClr val="bg1"/>
                </a:solidFill>
              </a:rPr>
              <a:t>JavaScript &amp; jQuery</a:t>
            </a:r>
          </a:p>
        </p:txBody>
      </p:sp>
    </p:spTree>
    <p:extLst>
      <p:ext uri="{BB962C8B-B14F-4D97-AF65-F5344CB8AC3E}">
        <p14:creationId xmlns:p14="http://schemas.microsoft.com/office/powerpoint/2010/main" val="3270449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an object?</a:t>
            </a:r>
            <a:endParaRPr lang="en-US" dirty="0"/>
          </a:p>
        </p:txBody>
      </p:sp>
      <p:sp>
        <p:nvSpPr>
          <p:cNvPr id="3" name="Content Placeholder 2"/>
          <p:cNvSpPr>
            <a:spLocks noGrp="1"/>
          </p:cNvSpPr>
          <p:nvPr>
            <p:ph idx="1"/>
          </p:nvPr>
        </p:nvSpPr>
        <p:spPr/>
        <p:txBody>
          <a:bodyPr>
            <a:normAutofit lnSpcReduction="10000"/>
          </a:bodyPr>
          <a:lstStyle/>
          <a:p>
            <a:r>
              <a:rPr lang="en-CA" dirty="0"/>
              <a:t>In JavaScript, almost "everything" is an object.</a:t>
            </a:r>
          </a:p>
          <a:p>
            <a:pPr lvl="1"/>
            <a:r>
              <a:rPr lang="en-CA" dirty="0"/>
              <a:t>Booleans can be objects (if defined with the </a:t>
            </a:r>
            <a:r>
              <a:rPr lang="en-CA" b="1" dirty="0"/>
              <a:t>new</a:t>
            </a:r>
            <a:r>
              <a:rPr lang="en-CA" dirty="0"/>
              <a:t> keyword)</a:t>
            </a:r>
          </a:p>
          <a:p>
            <a:pPr lvl="1"/>
            <a:r>
              <a:rPr lang="en-CA" dirty="0"/>
              <a:t>Numbers can be objects (if defined with the </a:t>
            </a:r>
            <a:r>
              <a:rPr lang="en-CA" b="1" dirty="0"/>
              <a:t>new</a:t>
            </a:r>
            <a:r>
              <a:rPr lang="en-CA" dirty="0"/>
              <a:t> keyword)</a:t>
            </a:r>
          </a:p>
          <a:p>
            <a:pPr lvl="1"/>
            <a:r>
              <a:rPr lang="en-CA" dirty="0"/>
              <a:t>Strings can be objects (if defined with the </a:t>
            </a:r>
            <a:r>
              <a:rPr lang="en-CA" b="1" dirty="0"/>
              <a:t>new</a:t>
            </a:r>
            <a:r>
              <a:rPr lang="en-CA" dirty="0"/>
              <a:t> keyword)</a:t>
            </a:r>
          </a:p>
          <a:p>
            <a:pPr lvl="1"/>
            <a:r>
              <a:rPr lang="en-CA" dirty="0"/>
              <a:t>Dates are always objects</a:t>
            </a:r>
          </a:p>
          <a:p>
            <a:pPr lvl="1"/>
            <a:r>
              <a:rPr lang="en-CA" dirty="0"/>
              <a:t>Maths are always objects</a:t>
            </a:r>
          </a:p>
          <a:p>
            <a:pPr lvl="1"/>
            <a:r>
              <a:rPr lang="en-CA" dirty="0"/>
              <a:t>Regular expressions are always objects</a:t>
            </a:r>
          </a:p>
          <a:p>
            <a:pPr lvl="1"/>
            <a:r>
              <a:rPr lang="en-CA" dirty="0"/>
              <a:t>Arrays are always objects</a:t>
            </a:r>
          </a:p>
          <a:p>
            <a:pPr lvl="1"/>
            <a:r>
              <a:rPr lang="en-CA" dirty="0"/>
              <a:t>Functions are always objects</a:t>
            </a:r>
          </a:p>
          <a:p>
            <a:pPr lvl="1"/>
            <a:r>
              <a:rPr lang="en-CA" dirty="0"/>
              <a:t>Objects are always objects</a:t>
            </a:r>
          </a:p>
          <a:p>
            <a:pPr lvl="1"/>
            <a:r>
              <a:rPr lang="en-CA" dirty="0"/>
              <a:t>All JavaScript values, except primitives, are objects.</a:t>
            </a:r>
          </a:p>
          <a:p>
            <a:endParaRPr lang="en-US" dirty="0"/>
          </a:p>
        </p:txBody>
      </p:sp>
    </p:spTree>
    <p:extLst>
      <p:ext uri="{BB962C8B-B14F-4D97-AF65-F5344CB8AC3E}">
        <p14:creationId xmlns:p14="http://schemas.microsoft.com/office/powerpoint/2010/main" val="294769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J</a:t>
            </a:r>
            <a:r>
              <a:rPr lang="en-US" dirty="0" err="1"/>
              <a:t>avaScript</a:t>
            </a:r>
            <a:r>
              <a:rPr lang="en-US" dirty="0"/>
              <a:t> Primitives</a:t>
            </a:r>
          </a:p>
        </p:txBody>
      </p:sp>
      <p:sp>
        <p:nvSpPr>
          <p:cNvPr id="3" name="Content Placeholder 2"/>
          <p:cNvSpPr>
            <a:spLocks noGrp="1"/>
          </p:cNvSpPr>
          <p:nvPr>
            <p:ph idx="1"/>
          </p:nvPr>
        </p:nvSpPr>
        <p:spPr/>
        <p:txBody>
          <a:bodyPr>
            <a:normAutofit fontScale="92500" lnSpcReduction="20000"/>
          </a:bodyPr>
          <a:lstStyle/>
          <a:p>
            <a:r>
              <a:rPr lang="en-CA" dirty="0"/>
              <a:t>A </a:t>
            </a:r>
            <a:r>
              <a:rPr lang="en-CA" b="1" dirty="0"/>
              <a:t>primitive value</a:t>
            </a:r>
            <a:r>
              <a:rPr lang="en-CA" dirty="0"/>
              <a:t> is a value that has no properties or methods.</a:t>
            </a:r>
          </a:p>
          <a:p>
            <a:r>
              <a:rPr lang="en-CA" dirty="0"/>
              <a:t>A </a:t>
            </a:r>
            <a:r>
              <a:rPr lang="en-CA" b="1" dirty="0"/>
              <a:t>primitive data type</a:t>
            </a:r>
            <a:r>
              <a:rPr lang="en-CA" dirty="0"/>
              <a:t> is data that has a primitive value.</a:t>
            </a:r>
          </a:p>
          <a:p>
            <a:r>
              <a:rPr lang="en-CA" dirty="0"/>
              <a:t>JavaScript defines 5 types of primitive data types:</a:t>
            </a:r>
          </a:p>
          <a:p>
            <a:pPr lvl="1"/>
            <a:r>
              <a:rPr lang="en-CA" dirty="0"/>
              <a:t>string</a:t>
            </a:r>
          </a:p>
          <a:p>
            <a:pPr lvl="1"/>
            <a:r>
              <a:rPr lang="en-CA" dirty="0"/>
              <a:t>number</a:t>
            </a:r>
          </a:p>
          <a:p>
            <a:pPr lvl="1"/>
            <a:r>
              <a:rPr lang="en-CA" dirty="0" err="1"/>
              <a:t>boolean</a:t>
            </a:r>
            <a:endParaRPr lang="en-CA" dirty="0"/>
          </a:p>
          <a:p>
            <a:pPr lvl="1"/>
            <a:r>
              <a:rPr lang="en-CA" dirty="0"/>
              <a:t>null</a:t>
            </a:r>
          </a:p>
          <a:p>
            <a:pPr lvl="1"/>
            <a:r>
              <a:rPr lang="en-CA" dirty="0"/>
              <a:t>undefined</a:t>
            </a:r>
          </a:p>
          <a:p>
            <a:r>
              <a:rPr lang="en-CA" dirty="0"/>
              <a:t>Primitive values are immutable (they are hardcoded and therefore cannot be changed).</a:t>
            </a:r>
          </a:p>
          <a:p>
            <a:r>
              <a:rPr lang="en-CA" dirty="0"/>
              <a:t>if x = 3.14, you can change the value of x. But you cannot change the value of 3.14.</a:t>
            </a:r>
          </a:p>
          <a:p>
            <a:endParaRPr lang="en-US" dirty="0"/>
          </a:p>
        </p:txBody>
      </p:sp>
    </p:spTree>
    <p:extLst>
      <p:ext uri="{BB962C8B-B14F-4D97-AF65-F5344CB8AC3E}">
        <p14:creationId xmlns:p14="http://schemas.microsoft.com/office/powerpoint/2010/main" val="1042998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Objects are Variables Containing Variables</a:t>
            </a:r>
            <a:endParaRPr lang="en-US" dirty="0"/>
          </a:p>
        </p:txBody>
      </p:sp>
      <p:sp>
        <p:nvSpPr>
          <p:cNvPr id="3" name="Content Placeholder 2"/>
          <p:cNvSpPr>
            <a:spLocks noGrp="1"/>
          </p:cNvSpPr>
          <p:nvPr>
            <p:ph idx="1"/>
          </p:nvPr>
        </p:nvSpPr>
        <p:spPr/>
        <p:txBody>
          <a:bodyPr>
            <a:normAutofit/>
          </a:bodyPr>
          <a:lstStyle/>
          <a:p>
            <a:r>
              <a:rPr lang="en-CA" dirty="0"/>
              <a:t>JavaScript variables can contain single values:</a:t>
            </a:r>
          </a:p>
          <a:p>
            <a:r>
              <a:rPr lang="en-CA" dirty="0"/>
              <a:t>Example</a:t>
            </a:r>
          </a:p>
          <a:p>
            <a:pPr lvl="1"/>
            <a:r>
              <a:rPr lang="en-CA" dirty="0" err="1"/>
              <a:t>var</a:t>
            </a:r>
            <a:r>
              <a:rPr lang="en-CA" dirty="0"/>
              <a:t> person = "John Doe";</a:t>
            </a:r>
          </a:p>
          <a:p>
            <a:r>
              <a:rPr lang="en-CA" dirty="0"/>
              <a:t>Objects are variables too. But objects can contain many values.</a:t>
            </a:r>
          </a:p>
          <a:p>
            <a:r>
              <a:rPr lang="en-CA" dirty="0"/>
              <a:t>The values are written as </a:t>
            </a:r>
            <a:r>
              <a:rPr lang="en-CA" b="1" dirty="0"/>
              <a:t>name : value</a:t>
            </a:r>
            <a:r>
              <a:rPr lang="en-CA" dirty="0"/>
              <a:t> pairs (name and value separated by a colon).</a:t>
            </a:r>
          </a:p>
          <a:p>
            <a:r>
              <a:rPr lang="en-CA" dirty="0"/>
              <a:t>Example</a:t>
            </a:r>
          </a:p>
          <a:p>
            <a:pPr lvl="1"/>
            <a:r>
              <a:rPr lang="en-CA" dirty="0" err="1"/>
              <a:t>var</a:t>
            </a:r>
            <a:r>
              <a:rPr lang="en-CA" dirty="0"/>
              <a:t> person = {</a:t>
            </a:r>
            <a:r>
              <a:rPr lang="en-CA" dirty="0" err="1"/>
              <a:t>firstName</a:t>
            </a:r>
            <a:r>
              <a:rPr lang="en-CA" dirty="0"/>
              <a:t>:"John", </a:t>
            </a:r>
            <a:r>
              <a:rPr lang="en-CA" dirty="0" err="1"/>
              <a:t>lastName</a:t>
            </a:r>
            <a:r>
              <a:rPr lang="en-CA" dirty="0"/>
              <a:t>:"Doe", age:50, </a:t>
            </a:r>
            <a:r>
              <a:rPr lang="en-CA" dirty="0" err="1"/>
              <a:t>eyeColor</a:t>
            </a:r>
            <a:r>
              <a:rPr lang="en-CA" dirty="0"/>
              <a:t>:"blue"};</a:t>
            </a:r>
          </a:p>
          <a:p>
            <a:r>
              <a:rPr lang="en-CA" dirty="0"/>
              <a:t>A JavaScript object is a collection of </a:t>
            </a:r>
            <a:r>
              <a:rPr lang="en-CA" b="1" dirty="0"/>
              <a:t>named values</a:t>
            </a:r>
            <a:endParaRPr lang="en-CA" dirty="0"/>
          </a:p>
          <a:p>
            <a:endParaRPr lang="en-US" dirty="0"/>
          </a:p>
        </p:txBody>
      </p:sp>
    </p:spTree>
    <p:extLst>
      <p:ext uri="{BB962C8B-B14F-4D97-AF65-F5344CB8AC3E}">
        <p14:creationId xmlns:p14="http://schemas.microsoft.com/office/powerpoint/2010/main" val="2860722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Properties</a:t>
            </a:r>
          </a:p>
        </p:txBody>
      </p:sp>
      <p:sp>
        <p:nvSpPr>
          <p:cNvPr id="3" name="Content Placeholder 2"/>
          <p:cNvSpPr>
            <a:spLocks noGrp="1"/>
          </p:cNvSpPr>
          <p:nvPr>
            <p:ph idx="1"/>
          </p:nvPr>
        </p:nvSpPr>
        <p:spPr/>
        <p:txBody>
          <a:bodyPr>
            <a:normAutofit/>
          </a:bodyPr>
          <a:lstStyle/>
          <a:p>
            <a:r>
              <a:rPr lang="en-CA" dirty="0"/>
              <a:t>The named values, in JavaScript objects, are called </a:t>
            </a:r>
            <a:r>
              <a:rPr lang="en-CA" b="1" dirty="0"/>
              <a:t>properties</a:t>
            </a:r>
            <a:r>
              <a:rPr lang="en-CA" dirty="0"/>
              <a:t>.</a:t>
            </a:r>
          </a:p>
          <a:p>
            <a:r>
              <a:rPr lang="en-CA" dirty="0"/>
              <a:t>Objects written as name value pairs are similar to:</a:t>
            </a:r>
          </a:p>
          <a:p>
            <a:r>
              <a:rPr lang="en-CA" dirty="0"/>
              <a:t>Associative arrays in PHP</a:t>
            </a:r>
          </a:p>
          <a:p>
            <a:r>
              <a:rPr lang="en-CA" dirty="0"/>
              <a:t>Dictionaries in Python</a:t>
            </a:r>
          </a:p>
          <a:p>
            <a:r>
              <a:rPr lang="en-CA" dirty="0"/>
              <a:t>Hash tables in C</a:t>
            </a:r>
          </a:p>
          <a:p>
            <a:r>
              <a:rPr lang="en-CA" dirty="0"/>
              <a:t>Hash maps in Java</a:t>
            </a:r>
          </a:p>
          <a:p>
            <a:r>
              <a:rPr lang="en-CA" dirty="0"/>
              <a:t>Hashes in Ruby and Perl</a:t>
            </a:r>
          </a:p>
          <a:p>
            <a:endParaRPr lang="en-US" dirty="0"/>
          </a:p>
        </p:txBody>
      </p:sp>
    </p:spTree>
    <p:extLst>
      <p:ext uri="{BB962C8B-B14F-4D97-AF65-F5344CB8AC3E}">
        <p14:creationId xmlns:p14="http://schemas.microsoft.com/office/powerpoint/2010/main" val="1341922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Properties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563198494"/>
              </p:ext>
            </p:extLst>
          </p:nvPr>
        </p:nvGraphicFramePr>
        <p:xfrm>
          <a:off x="2166937" y="2934494"/>
          <a:ext cx="7858125" cy="2133600"/>
        </p:xfrm>
        <a:graphic>
          <a:graphicData uri="http://schemas.openxmlformats.org/drawingml/2006/table">
            <a:tbl>
              <a:tblPr/>
              <a:tblGrid>
                <a:gridCol w="1562100">
                  <a:extLst>
                    <a:ext uri="{9D8B030D-6E8A-4147-A177-3AD203B41FA5}">
                      <a16:colId xmlns:a16="http://schemas.microsoft.com/office/drawing/2014/main" val="811796179"/>
                    </a:ext>
                  </a:extLst>
                </a:gridCol>
                <a:gridCol w="6296025">
                  <a:extLst>
                    <a:ext uri="{9D8B030D-6E8A-4147-A177-3AD203B41FA5}">
                      <a16:colId xmlns:a16="http://schemas.microsoft.com/office/drawing/2014/main" val="1077143446"/>
                    </a:ext>
                  </a:extLst>
                </a:gridCol>
              </a:tblGrid>
              <a:tr h="0">
                <a:tc>
                  <a:txBody>
                    <a:bodyPr/>
                    <a:lstStyle/>
                    <a:p>
                      <a:pPr algn="l" fontAlgn="t"/>
                      <a:r>
                        <a:rPr lang="en-US" dirty="0">
                          <a:solidFill>
                            <a:schemeClr val="tx1"/>
                          </a:solidFill>
                          <a:effectLst/>
                        </a:rPr>
                        <a:t>Property</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rPr>
                        <a:t>Value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15916041"/>
                  </a:ext>
                </a:extLst>
              </a:tr>
              <a:tr h="0">
                <a:tc>
                  <a:txBody>
                    <a:bodyPr/>
                    <a:lstStyle/>
                    <a:p>
                      <a:pPr algn="l" fontAlgn="t"/>
                      <a:r>
                        <a:rPr lang="en-US">
                          <a:solidFill>
                            <a:schemeClr val="tx1"/>
                          </a:solidFill>
                          <a:effectLst/>
                        </a:rPr>
                        <a:t>firstName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John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324889390"/>
                  </a:ext>
                </a:extLst>
              </a:tr>
              <a:tr h="0">
                <a:tc>
                  <a:txBody>
                    <a:bodyPr/>
                    <a:lstStyle/>
                    <a:p>
                      <a:pPr algn="l" fontAlgn="t"/>
                      <a:r>
                        <a:rPr lang="en-US">
                          <a:solidFill>
                            <a:schemeClr val="tx1"/>
                          </a:solidFill>
                          <a:effectLst/>
                        </a:rPr>
                        <a:t>lastName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rPr>
                        <a:t>Doe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210075631"/>
                  </a:ext>
                </a:extLst>
              </a:tr>
              <a:tr h="0">
                <a:tc>
                  <a:txBody>
                    <a:bodyPr/>
                    <a:lstStyle/>
                    <a:p>
                      <a:pPr algn="l" fontAlgn="t"/>
                      <a:r>
                        <a:rPr lang="en-US">
                          <a:solidFill>
                            <a:schemeClr val="tx1"/>
                          </a:solidFill>
                          <a:effectLst/>
                        </a:rPr>
                        <a:t>age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50</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3125477400"/>
                  </a:ext>
                </a:extLst>
              </a:tr>
              <a:tr h="0">
                <a:tc>
                  <a:txBody>
                    <a:bodyPr/>
                    <a:lstStyle/>
                    <a:p>
                      <a:pPr algn="l" fontAlgn="t"/>
                      <a:r>
                        <a:rPr lang="en-US">
                          <a:solidFill>
                            <a:schemeClr val="tx1"/>
                          </a:solidFill>
                          <a:effectLst/>
                        </a:rPr>
                        <a:t>eyeColor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rPr>
                        <a:t>blue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389387725"/>
                  </a:ext>
                </a:extLst>
              </a:tr>
            </a:tbl>
          </a:graphicData>
        </a:graphic>
      </p:graphicFrame>
    </p:spTree>
    <p:extLst>
      <p:ext uri="{BB962C8B-B14F-4D97-AF65-F5344CB8AC3E}">
        <p14:creationId xmlns:p14="http://schemas.microsoft.com/office/powerpoint/2010/main" val="2732814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Methods</a:t>
            </a:r>
          </a:p>
        </p:txBody>
      </p:sp>
      <p:sp>
        <p:nvSpPr>
          <p:cNvPr id="3" name="Content Placeholder 2"/>
          <p:cNvSpPr>
            <a:spLocks noGrp="1"/>
          </p:cNvSpPr>
          <p:nvPr>
            <p:ph idx="1"/>
          </p:nvPr>
        </p:nvSpPr>
        <p:spPr/>
        <p:txBody>
          <a:bodyPr/>
          <a:lstStyle/>
          <a:p>
            <a:r>
              <a:rPr lang="en-CA" dirty="0"/>
              <a:t>Methods are </a:t>
            </a:r>
            <a:r>
              <a:rPr lang="en-CA" b="1" dirty="0"/>
              <a:t>actions</a:t>
            </a:r>
            <a:r>
              <a:rPr lang="en-CA" dirty="0"/>
              <a:t> that can be performed on objects.</a:t>
            </a:r>
          </a:p>
          <a:p>
            <a:r>
              <a:rPr lang="en-CA" dirty="0"/>
              <a:t>Object properties can be both primitive values, other objects, and functions.</a:t>
            </a:r>
          </a:p>
          <a:p>
            <a:r>
              <a:rPr lang="en-CA" dirty="0"/>
              <a:t>An </a:t>
            </a:r>
            <a:r>
              <a:rPr lang="en-CA" b="1" dirty="0"/>
              <a:t>object method</a:t>
            </a:r>
            <a:r>
              <a:rPr lang="en-CA" dirty="0"/>
              <a:t> is an object property containing a </a:t>
            </a:r>
            <a:r>
              <a:rPr lang="en-CA" b="1" dirty="0"/>
              <a:t>function definition</a:t>
            </a:r>
            <a:r>
              <a:rPr lang="en-CA" dirty="0"/>
              <a:t>.</a:t>
            </a:r>
          </a:p>
          <a:p>
            <a:r>
              <a:rPr lang="en-CA" dirty="0"/>
              <a:t>JavaScript objects are containers for named values, called properties and methods.</a:t>
            </a:r>
            <a:endParaRPr lang="en-US" dirty="0"/>
          </a:p>
        </p:txBody>
      </p:sp>
    </p:spTree>
    <p:extLst>
      <p:ext uri="{BB962C8B-B14F-4D97-AF65-F5344CB8AC3E}">
        <p14:creationId xmlns:p14="http://schemas.microsoft.com/office/powerpoint/2010/main" val="3139008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Methods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38844065"/>
              </p:ext>
            </p:extLst>
          </p:nvPr>
        </p:nvGraphicFramePr>
        <p:xfrm>
          <a:off x="2166937" y="2721134"/>
          <a:ext cx="7858125" cy="2560320"/>
        </p:xfrm>
        <a:graphic>
          <a:graphicData uri="http://schemas.openxmlformats.org/drawingml/2006/table">
            <a:tbl>
              <a:tblPr/>
              <a:tblGrid>
                <a:gridCol w="1562100">
                  <a:extLst>
                    <a:ext uri="{9D8B030D-6E8A-4147-A177-3AD203B41FA5}">
                      <a16:colId xmlns:a16="http://schemas.microsoft.com/office/drawing/2014/main" val="2607740871"/>
                    </a:ext>
                  </a:extLst>
                </a:gridCol>
                <a:gridCol w="6296025">
                  <a:extLst>
                    <a:ext uri="{9D8B030D-6E8A-4147-A177-3AD203B41FA5}">
                      <a16:colId xmlns:a16="http://schemas.microsoft.com/office/drawing/2014/main" val="4148826172"/>
                    </a:ext>
                  </a:extLst>
                </a:gridCol>
              </a:tblGrid>
              <a:tr h="0">
                <a:tc>
                  <a:txBody>
                    <a:bodyPr/>
                    <a:lstStyle/>
                    <a:p>
                      <a:pPr algn="l" fontAlgn="t"/>
                      <a:r>
                        <a:rPr lang="en-US" dirty="0">
                          <a:solidFill>
                            <a:schemeClr val="tx1"/>
                          </a:solidFill>
                          <a:effectLst/>
                        </a:rPr>
                        <a:t>Property</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solidFill>
                            <a:schemeClr val="tx1"/>
                          </a:solidFill>
                          <a:effectLst/>
                        </a:rPr>
                        <a:t>Value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627127745"/>
                  </a:ext>
                </a:extLst>
              </a:tr>
              <a:tr h="0">
                <a:tc>
                  <a:txBody>
                    <a:bodyPr/>
                    <a:lstStyle/>
                    <a:p>
                      <a:pPr algn="l" fontAlgn="t"/>
                      <a:r>
                        <a:rPr lang="en-US" dirty="0" err="1">
                          <a:solidFill>
                            <a:schemeClr val="tx1"/>
                          </a:solidFill>
                          <a:effectLst/>
                        </a:rPr>
                        <a:t>firstName</a:t>
                      </a:r>
                      <a:endParaRPr lang="en-US" dirty="0">
                        <a:solidFill>
                          <a:schemeClr val="tx1"/>
                        </a:solidFill>
                        <a:effectLst/>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John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309422843"/>
                  </a:ext>
                </a:extLst>
              </a:tr>
              <a:tr h="0">
                <a:tc>
                  <a:txBody>
                    <a:bodyPr/>
                    <a:lstStyle/>
                    <a:p>
                      <a:pPr algn="l" fontAlgn="t"/>
                      <a:r>
                        <a:rPr lang="en-US">
                          <a:solidFill>
                            <a:schemeClr val="tx1"/>
                          </a:solidFill>
                          <a:effectLst/>
                        </a:rPr>
                        <a:t>lastName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rPr>
                        <a:t>Doe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241983306"/>
                  </a:ext>
                </a:extLst>
              </a:tr>
              <a:tr h="0">
                <a:tc>
                  <a:txBody>
                    <a:bodyPr/>
                    <a:lstStyle/>
                    <a:p>
                      <a:pPr algn="l" fontAlgn="t"/>
                      <a:r>
                        <a:rPr lang="en-US">
                          <a:solidFill>
                            <a:schemeClr val="tx1"/>
                          </a:solidFill>
                          <a:effectLst/>
                        </a:rPr>
                        <a:t>age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50</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952305249"/>
                  </a:ext>
                </a:extLst>
              </a:tr>
              <a:tr h="0">
                <a:tc>
                  <a:txBody>
                    <a:bodyPr/>
                    <a:lstStyle/>
                    <a:p>
                      <a:pPr algn="l" fontAlgn="t"/>
                      <a:r>
                        <a:rPr lang="en-US">
                          <a:solidFill>
                            <a:schemeClr val="tx1"/>
                          </a:solidFill>
                          <a:effectLst/>
                        </a:rPr>
                        <a:t>eyeColor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rPr>
                        <a:t>blue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65770338"/>
                  </a:ext>
                </a:extLst>
              </a:tr>
              <a:tr h="0">
                <a:tc>
                  <a:txBody>
                    <a:bodyPr/>
                    <a:lstStyle/>
                    <a:p>
                      <a:pPr algn="l" fontAlgn="t"/>
                      <a:r>
                        <a:rPr lang="en-US">
                          <a:solidFill>
                            <a:schemeClr val="tx1"/>
                          </a:solidFill>
                          <a:effectLst/>
                        </a:rPr>
                        <a:t>fullName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function() {return </a:t>
                      </a:r>
                      <a:r>
                        <a:rPr lang="en-US" dirty="0" err="1">
                          <a:solidFill>
                            <a:schemeClr val="tx1"/>
                          </a:solidFill>
                          <a:effectLst/>
                        </a:rPr>
                        <a:t>this.firstName</a:t>
                      </a:r>
                      <a:r>
                        <a:rPr lang="en-US" dirty="0">
                          <a:solidFill>
                            <a:schemeClr val="tx1"/>
                          </a:solidFill>
                          <a:effectLst/>
                        </a:rPr>
                        <a:t> + " " + </a:t>
                      </a:r>
                      <a:r>
                        <a:rPr lang="en-US" dirty="0" err="1">
                          <a:solidFill>
                            <a:schemeClr val="tx1"/>
                          </a:solidFill>
                          <a:effectLst/>
                        </a:rPr>
                        <a:t>this.lastName</a:t>
                      </a:r>
                      <a:r>
                        <a:rPr lang="en-US" dirty="0">
                          <a:solidFill>
                            <a:schemeClr val="tx1"/>
                          </a:solidFill>
                          <a:effectLst/>
                        </a:rPr>
                        <a:t>;}</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val="1057485403"/>
                  </a:ext>
                </a:extLst>
              </a:tr>
            </a:tbl>
          </a:graphicData>
        </a:graphic>
      </p:graphicFrame>
    </p:spTree>
    <p:extLst>
      <p:ext uri="{BB962C8B-B14F-4D97-AF65-F5344CB8AC3E}">
        <p14:creationId xmlns:p14="http://schemas.microsoft.com/office/powerpoint/2010/main" val="2213722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JavaScript Object</a:t>
            </a:r>
          </a:p>
        </p:txBody>
      </p:sp>
      <p:sp>
        <p:nvSpPr>
          <p:cNvPr id="3" name="Content Placeholder 2"/>
          <p:cNvSpPr>
            <a:spLocks noGrp="1"/>
          </p:cNvSpPr>
          <p:nvPr>
            <p:ph idx="1"/>
          </p:nvPr>
        </p:nvSpPr>
        <p:spPr/>
        <p:txBody>
          <a:bodyPr/>
          <a:lstStyle/>
          <a:p>
            <a:r>
              <a:rPr lang="en-CA" dirty="0"/>
              <a:t>With JavaScript, you can define and create your own objects.</a:t>
            </a:r>
          </a:p>
          <a:p>
            <a:r>
              <a:rPr lang="en-CA" dirty="0"/>
              <a:t>There are different ways to create new objects:</a:t>
            </a:r>
          </a:p>
          <a:p>
            <a:pPr lvl="1"/>
            <a:r>
              <a:rPr lang="en-CA" dirty="0"/>
              <a:t>Define and create a single object, using an object literal.</a:t>
            </a:r>
          </a:p>
          <a:p>
            <a:pPr lvl="1"/>
            <a:r>
              <a:rPr lang="en-CA" dirty="0"/>
              <a:t>Define and create a single object, with the keyword new.</a:t>
            </a:r>
          </a:p>
          <a:p>
            <a:pPr lvl="1"/>
            <a:r>
              <a:rPr lang="en-CA" dirty="0"/>
              <a:t>Define an object constructor, and then create objects of the constructed type.</a:t>
            </a:r>
          </a:p>
          <a:p>
            <a:endParaRPr lang="en-US" dirty="0"/>
          </a:p>
        </p:txBody>
      </p:sp>
    </p:spTree>
    <p:extLst>
      <p:ext uri="{BB962C8B-B14F-4D97-AF65-F5344CB8AC3E}">
        <p14:creationId xmlns:p14="http://schemas.microsoft.com/office/powerpoint/2010/main" val="1784823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an Object Literal</a:t>
            </a:r>
          </a:p>
        </p:txBody>
      </p:sp>
      <p:sp>
        <p:nvSpPr>
          <p:cNvPr id="3" name="Content Placeholder 2"/>
          <p:cNvSpPr>
            <a:spLocks noGrp="1"/>
          </p:cNvSpPr>
          <p:nvPr>
            <p:ph idx="1"/>
          </p:nvPr>
        </p:nvSpPr>
        <p:spPr/>
        <p:txBody>
          <a:bodyPr>
            <a:normAutofit fontScale="77500" lnSpcReduction="20000"/>
          </a:bodyPr>
          <a:lstStyle/>
          <a:p>
            <a:r>
              <a:rPr lang="en-CA" dirty="0"/>
              <a:t>This is the easiest way to create a JavaScript Object.</a:t>
            </a:r>
          </a:p>
          <a:p>
            <a:r>
              <a:rPr lang="en-CA" dirty="0"/>
              <a:t>Using an object literal, you both define and create an object in one statement.</a:t>
            </a:r>
          </a:p>
          <a:p>
            <a:r>
              <a:rPr lang="en-CA" dirty="0"/>
              <a:t>An object literal is a list of </a:t>
            </a:r>
            <a:r>
              <a:rPr lang="en-CA" dirty="0" err="1"/>
              <a:t>name:value</a:t>
            </a:r>
            <a:r>
              <a:rPr lang="en-CA" dirty="0"/>
              <a:t> pairs (like age:50) inside curly braces {}.</a:t>
            </a:r>
          </a:p>
          <a:p>
            <a:r>
              <a:rPr lang="en-CA" dirty="0"/>
              <a:t>The following example creates a new JavaScript object with four properties:</a:t>
            </a:r>
          </a:p>
          <a:p>
            <a:r>
              <a:rPr lang="en-CA" dirty="0"/>
              <a:t>Example</a:t>
            </a:r>
          </a:p>
          <a:p>
            <a:pPr lvl="1"/>
            <a:r>
              <a:rPr lang="en-CA" dirty="0" err="1"/>
              <a:t>var</a:t>
            </a:r>
            <a:r>
              <a:rPr lang="en-CA" dirty="0"/>
              <a:t> person = {</a:t>
            </a:r>
            <a:r>
              <a:rPr lang="en-CA" dirty="0" err="1"/>
              <a:t>firstName</a:t>
            </a:r>
            <a:r>
              <a:rPr lang="en-CA" dirty="0"/>
              <a:t>:"John", </a:t>
            </a:r>
            <a:r>
              <a:rPr lang="en-CA" dirty="0" err="1"/>
              <a:t>lastName</a:t>
            </a:r>
            <a:r>
              <a:rPr lang="en-CA" dirty="0"/>
              <a:t>:"Doe", age:50, </a:t>
            </a:r>
            <a:r>
              <a:rPr lang="en-CA" dirty="0" err="1"/>
              <a:t>eyeColor</a:t>
            </a:r>
            <a:r>
              <a:rPr lang="en-CA" dirty="0"/>
              <a:t>:"blue"};</a:t>
            </a:r>
          </a:p>
          <a:p>
            <a:r>
              <a:rPr lang="en-CA" dirty="0"/>
              <a:t>Spaces and line breaks are not important. An object definition can span multiple lines:</a:t>
            </a:r>
          </a:p>
          <a:p>
            <a:r>
              <a:rPr lang="en-CA" dirty="0"/>
              <a:t>Example</a:t>
            </a:r>
          </a:p>
          <a:p>
            <a:pPr lvl="1"/>
            <a:r>
              <a:rPr lang="en-CA" dirty="0" err="1"/>
              <a:t>var</a:t>
            </a:r>
            <a:r>
              <a:rPr lang="en-CA" dirty="0"/>
              <a:t> person = {</a:t>
            </a:r>
            <a:br>
              <a:rPr lang="en-CA" dirty="0"/>
            </a:br>
            <a:r>
              <a:rPr lang="en-CA" dirty="0"/>
              <a:t>    </a:t>
            </a:r>
            <a:r>
              <a:rPr lang="en-CA" dirty="0" err="1"/>
              <a:t>firstName</a:t>
            </a:r>
            <a:r>
              <a:rPr lang="en-CA" dirty="0"/>
              <a:t>:"John",</a:t>
            </a:r>
            <a:br>
              <a:rPr lang="en-CA" dirty="0"/>
            </a:br>
            <a:r>
              <a:rPr lang="en-CA" dirty="0"/>
              <a:t>    </a:t>
            </a:r>
            <a:r>
              <a:rPr lang="en-CA" dirty="0" err="1"/>
              <a:t>lastName</a:t>
            </a:r>
            <a:r>
              <a:rPr lang="en-CA" dirty="0"/>
              <a:t>:"Doe",</a:t>
            </a:r>
            <a:br>
              <a:rPr lang="en-CA" dirty="0"/>
            </a:br>
            <a:r>
              <a:rPr lang="en-CA" dirty="0"/>
              <a:t>    age:50,</a:t>
            </a:r>
            <a:br>
              <a:rPr lang="en-CA" dirty="0"/>
            </a:br>
            <a:r>
              <a:rPr lang="en-CA" dirty="0"/>
              <a:t>    </a:t>
            </a:r>
            <a:r>
              <a:rPr lang="en-CA" dirty="0" err="1"/>
              <a:t>eyeColor</a:t>
            </a:r>
            <a:r>
              <a:rPr lang="en-CA" dirty="0"/>
              <a:t>:"blue"</a:t>
            </a:r>
            <a:br>
              <a:rPr lang="en-CA" dirty="0"/>
            </a:br>
            <a:r>
              <a:rPr lang="en-CA" dirty="0"/>
              <a:t>};</a:t>
            </a:r>
          </a:p>
          <a:p>
            <a:endParaRPr lang="en-US" dirty="0"/>
          </a:p>
        </p:txBody>
      </p:sp>
    </p:spTree>
    <p:extLst>
      <p:ext uri="{BB962C8B-B14F-4D97-AF65-F5344CB8AC3E}">
        <p14:creationId xmlns:p14="http://schemas.microsoft.com/office/powerpoint/2010/main" val="1162895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Using the JavaScript Keyword new</a:t>
            </a:r>
            <a:endParaRPr lang="en-US" dirty="0"/>
          </a:p>
        </p:txBody>
      </p:sp>
      <p:sp>
        <p:nvSpPr>
          <p:cNvPr id="3" name="Content Placeholder 2"/>
          <p:cNvSpPr>
            <a:spLocks noGrp="1"/>
          </p:cNvSpPr>
          <p:nvPr>
            <p:ph idx="1"/>
          </p:nvPr>
        </p:nvSpPr>
        <p:spPr/>
        <p:txBody>
          <a:bodyPr>
            <a:normAutofit fontScale="92500" lnSpcReduction="20000"/>
          </a:bodyPr>
          <a:lstStyle/>
          <a:p>
            <a:r>
              <a:rPr lang="en-CA" dirty="0"/>
              <a:t>The following example also creates a new JavaScript object with four properties:</a:t>
            </a:r>
          </a:p>
          <a:p>
            <a:r>
              <a:rPr lang="en-CA" dirty="0"/>
              <a:t>Example</a:t>
            </a:r>
          </a:p>
          <a:p>
            <a:pPr lvl="1"/>
            <a:r>
              <a:rPr lang="en-CA" dirty="0" err="1"/>
              <a:t>var</a:t>
            </a:r>
            <a:r>
              <a:rPr lang="en-CA" dirty="0"/>
              <a:t> person = new Object();</a:t>
            </a:r>
            <a:br>
              <a:rPr lang="en-CA" dirty="0"/>
            </a:br>
            <a:r>
              <a:rPr lang="en-CA" dirty="0" err="1"/>
              <a:t>person.firstName</a:t>
            </a:r>
            <a:r>
              <a:rPr lang="en-CA" dirty="0"/>
              <a:t> = "John";</a:t>
            </a:r>
            <a:br>
              <a:rPr lang="en-CA" dirty="0"/>
            </a:br>
            <a:r>
              <a:rPr lang="en-CA" dirty="0" err="1"/>
              <a:t>person.lastName</a:t>
            </a:r>
            <a:r>
              <a:rPr lang="en-CA" dirty="0"/>
              <a:t> = "Doe";</a:t>
            </a:r>
            <a:br>
              <a:rPr lang="en-CA" dirty="0"/>
            </a:br>
            <a:r>
              <a:rPr lang="en-CA" dirty="0" err="1"/>
              <a:t>person.age</a:t>
            </a:r>
            <a:r>
              <a:rPr lang="en-CA" dirty="0"/>
              <a:t> = 50;</a:t>
            </a:r>
            <a:br>
              <a:rPr lang="en-CA" dirty="0"/>
            </a:br>
            <a:r>
              <a:rPr lang="en-CA" dirty="0" err="1"/>
              <a:t>person.eyeColor</a:t>
            </a:r>
            <a:r>
              <a:rPr lang="en-CA" dirty="0"/>
              <a:t> = "blue";</a:t>
            </a:r>
          </a:p>
          <a:p>
            <a:endParaRPr lang="en-CA" dirty="0"/>
          </a:p>
          <a:p>
            <a:r>
              <a:rPr lang="en-CA" dirty="0"/>
              <a:t>The two examples above do exactly the same. There is no need to use new Object().</a:t>
            </a:r>
          </a:p>
          <a:p>
            <a:r>
              <a:rPr lang="en-CA" dirty="0"/>
              <a:t>For simplicity, readability and execution speed, use the first one (the object literal method).</a:t>
            </a:r>
          </a:p>
          <a:p>
            <a:endParaRPr lang="en-US" dirty="0"/>
          </a:p>
        </p:txBody>
      </p:sp>
    </p:spTree>
    <p:extLst>
      <p:ext uri="{BB962C8B-B14F-4D97-AF65-F5344CB8AC3E}">
        <p14:creationId xmlns:p14="http://schemas.microsoft.com/office/powerpoint/2010/main" val="655263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Objects are Mutable</a:t>
            </a:r>
          </a:p>
        </p:txBody>
      </p:sp>
      <p:sp>
        <p:nvSpPr>
          <p:cNvPr id="3" name="Content Placeholder 2"/>
          <p:cNvSpPr>
            <a:spLocks noGrp="1"/>
          </p:cNvSpPr>
          <p:nvPr>
            <p:ph idx="1"/>
          </p:nvPr>
        </p:nvSpPr>
        <p:spPr/>
        <p:txBody>
          <a:bodyPr>
            <a:normAutofit fontScale="77500" lnSpcReduction="20000"/>
          </a:bodyPr>
          <a:lstStyle/>
          <a:p>
            <a:r>
              <a:rPr lang="en-CA" dirty="0"/>
              <a:t>Objects are mutable: They are addressed by reference, not by value.</a:t>
            </a:r>
          </a:p>
          <a:p>
            <a:r>
              <a:rPr lang="en-CA" dirty="0"/>
              <a:t>If person is an object, the following statement will not create a copy of person:</a:t>
            </a:r>
          </a:p>
          <a:p>
            <a:pPr lvl="1"/>
            <a:r>
              <a:rPr lang="en-CA" dirty="0" err="1"/>
              <a:t>var</a:t>
            </a:r>
            <a:r>
              <a:rPr lang="en-CA" dirty="0"/>
              <a:t> x = person;  // This will not create a copy of person.</a:t>
            </a:r>
          </a:p>
          <a:p>
            <a:r>
              <a:rPr lang="en-CA" dirty="0"/>
              <a:t>The object x is </a:t>
            </a:r>
            <a:r>
              <a:rPr lang="en-CA" b="1" dirty="0"/>
              <a:t>not a copy</a:t>
            </a:r>
            <a:r>
              <a:rPr lang="en-CA" dirty="0"/>
              <a:t> of person. It </a:t>
            </a:r>
            <a:r>
              <a:rPr lang="en-CA" b="1" dirty="0"/>
              <a:t>is</a:t>
            </a:r>
            <a:r>
              <a:rPr lang="en-CA" dirty="0"/>
              <a:t> person. Both x and person are the same object.</a:t>
            </a:r>
          </a:p>
          <a:p>
            <a:r>
              <a:rPr lang="en-CA" dirty="0"/>
              <a:t>Any changes to x will also change person, because x and person are the same object.</a:t>
            </a:r>
          </a:p>
          <a:p>
            <a:r>
              <a:rPr lang="en-CA" dirty="0"/>
              <a:t>Example</a:t>
            </a:r>
          </a:p>
          <a:p>
            <a:pPr lvl="1"/>
            <a:r>
              <a:rPr lang="en-CA" dirty="0" err="1"/>
              <a:t>var</a:t>
            </a:r>
            <a:r>
              <a:rPr lang="en-CA" dirty="0"/>
              <a:t> person = {</a:t>
            </a:r>
            <a:r>
              <a:rPr lang="en-CA" dirty="0" err="1"/>
              <a:t>firstName</a:t>
            </a:r>
            <a:r>
              <a:rPr lang="en-CA" dirty="0"/>
              <a:t>:"John", </a:t>
            </a:r>
            <a:r>
              <a:rPr lang="en-CA" dirty="0" err="1"/>
              <a:t>lastName</a:t>
            </a:r>
            <a:r>
              <a:rPr lang="en-CA" dirty="0"/>
              <a:t>:"Doe", age:50, </a:t>
            </a:r>
            <a:r>
              <a:rPr lang="en-CA" dirty="0" err="1"/>
              <a:t>eyeColor</a:t>
            </a:r>
            <a:r>
              <a:rPr lang="en-CA" dirty="0"/>
              <a:t>:"blue"}</a:t>
            </a:r>
            <a:br>
              <a:rPr lang="en-CA" dirty="0"/>
            </a:br>
            <a:br>
              <a:rPr lang="en-CA" dirty="0"/>
            </a:br>
            <a:r>
              <a:rPr lang="en-CA" dirty="0" err="1"/>
              <a:t>var</a:t>
            </a:r>
            <a:r>
              <a:rPr lang="en-CA" dirty="0"/>
              <a:t> x = person;</a:t>
            </a:r>
            <a:br>
              <a:rPr lang="en-CA" dirty="0"/>
            </a:br>
            <a:r>
              <a:rPr lang="en-CA" dirty="0" err="1"/>
              <a:t>x.age</a:t>
            </a:r>
            <a:r>
              <a:rPr lang="en-CA" dirty="0"/>
              <a:t> = 10;           // This will change both </a:t>
            </a:r>
            <a:r>
              <a:rPr lang="en-CA" dirty="0" err="1"/>
              <a:t>x.age</a:t>
            </a:r>
            <a:r>
              <a:rPr lang="en-CA" dirty="0"/>
              <a:t> and </a:t>
            </a:r>
            <a:r>
              <a:rPr lang="en-CA" dirty="0" err="1"/>
              <a:t>person.age</a:t>
            </a:r>
            <a:endParaRPr lang="en-CA" dirty="0"/>
          </a:p>
          <a:p>
            <a:endParaRPr lang="en-CA" b="1" dirty="0"/>
          </a:p>
          <a:p>
            <a:r>
              <a:rPr lang="en-CA" b="1" dirty="0"/>
              <a:t>Note: </a:t>
            </a:r>
            <a:r>
              <a:rPr lang="en-CA" dirty="0"/>
              <a:t>JavaScript variables are not mutable. Only JavaScript objects.</a:t>
            </a:r>
          </a:p>
        </p:txBody>
      </p:sp>
    </p:spTree>
    <p:extLst>
      <p:ext uri="{BB962C8B-B14F-4D97-AF65-F5344CB8AC3E}">
        <p14:creationId xmlns:p14="http://schemas.microsoft.com/office/powerpoint/2010/main" val="392529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JavaScript Object Properties</a:t>
            </a:r>
            <a:endParaRPr lang="en-US" dirty="0"/>
          </a:p>
        </p:txBody>
      </p:sp>
      <p:sp>
        <p:nvSpPr>
          <p:cNvPr id="5" name="Text Placeholder 4"/>
          <p:cNvSpPr>
            <a:spLocks noGrp="1"/>
          </p:cNvSpPr>
          <p:nvPr>
            <p:ph type="body" idx="1"/>
          </p:nvPr>
        </p:nvSpPr>
        <p:spPr/>
        <p:txBody>
          <a:bodyPr/>
          <a:lstStyle/>
          <a:p>
            <a:r>
              <a:rPr lang="en-CA" dirty="0">
                <a:solidFill>
                  <a:schemeClr val="bg1"/>
                </a:solidFill>
              </a:rPr>
              <a:t>JavaScript &amp; jQuery</a:t>
            </a:r>
          </a:p>
        </p:txBody>
      </p:sp>
    </p:spTree>
    <p:extLst>
      <p:ext uri="{BB962C8B-B14F-4D97-AF65-F5344CB8AC3E}">
        <p14:creationId xmlns:p14="http://schemas.microsoft.com/office/powerpoint/2010/main" val="2802722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Properties</a:t>
            </a:r>
          </a:p>
        </p:txBody>
      </p:sp>
      <p:sp>
        <p:nvSpPr>
          <p:cNvPr id="3" name="Content Placeholder 2"/>
          <p:cNvSpPr>
            <a:spLocks noGrp="1"/>
          </p:cNvSpPr>
          <p:nvPr>
            <p:ph idx="1"/>
          </p:nvPr>
        </p:nvSpPr>
        <p:spPr/>
        <p:txBody>
          <a:bodyPr/>
          <a:lstStyle/>
          <a:p>
            <a:r>
              <a:rPr lang="en-CA" dirty="0"/>
              <a:t>Properties are the values associated with a JavaScript object.</a:t>
            </a:r>
          </a:p>
          <a:p>
            <a:r>
              <a:rPr lang="en-CA" dirty="0"/>
              <a:t>A JavaScript object is a collection of unordered properties.</a:t>
            </a:r>
          </a:p>
          <a:p>
            <a:r>
              <a:rPr lang="en-CA" dirty="0"/>
              <a:t>Properties can usually be changed, added, and deleted, but some are read only.</a:t>
            </a:r>
          </a:p>
        </p:txBody>
      </p:sp>
    </p:spTree>
    <p:extLst>
      <p:ext uri="{BB962C8B-B14F-4D97-AF65-F5344CB8AC3E}">
        <p14:creationId xmlns:p14="http://schemas.microsoft.com/office/powerpoint/2010/main" val="619894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Accessing JavaScript Properties</a:t>
            </a:r>
            <a:br>
              <a:rPr lang="en-US" dirty="0"/>
            </a:br>
            <a:endParaRPr lang="en-US" dirty="0"/>
          </a:p>
        </p:txBody>
      </p:sp>
      <p:sp>
        <p:nvSpPr>
          <p:cNvPr id="3" name="Content Placeholder 2"/>
          <p:cNvSpPr>
            <a:spLocks noGrp="1"/>
          </p:cNvSpPr>
          <p:nvPr>
            <p:ph idx="1"/>
          </p:nvPr>
        </p:nvSpPr>
        <p:spPr/>
        <p:txBody>
          <a:bodyPr>
            <a:normAutofit/>
          </a:bodyPr>
          <a:lstStyle/>
          <a:p>
            <a:r>
              <a:rPr lang="en-CA" dirty="0"/>
              <a:t>The syntax for accessing the property of an object is:</a:t>
            </a:r>
          </a:p>
          <a:p>
            <a:pPr lvl="1"/>
            <a:r>
              <a:rPr lang="en-CA" i="1" dirty="0" err="1"/>
              <a:t>objectName.property</a:t>
            </a:r>
            <a:r>
              <a:rPr lang="en-CA" i="1" dirty="0"/>
              <a:t>          </a:t>
            </a:r>
            <a:r>
              <a:rPr lang="en-CA" dirty="0"/>
              <a:t>// </a:t>
            </a:r>
            <a:r>
              <a:rPr lang="en-CA" dirty="0" err="1"/>
              <a:t>person.age</a:t>
            </a:r>
            <a:endParaRPr lang="en-CA" dirty="0"/>
          </a:p>
          <a:p>
            <a:pPr lvl="1"/>
            <a:r>
              <a:rPr lang="en-CA" i="1" dirty="0" err="1"/>
              <a:t>objectName</a:t>
            </a:r>
            <a:r>
              <a:rPr lang="en-CA" dirty="0"/>
              <a:t>["</a:t>
            </a:r>
            <a:r>
              <a:rPr lang="en-CA" i="1" dirty="0"/>
              <a:t>property</a:t>
            </a:r>
            <a:r>
              <a:rPr lang="en-CA" dirty="0"/>
              <a:t>"]       // person["age"]</a:t>
            </a:r>
          </a:p>
          <a:p>
            <a:pPr lvl="1"/>
            <a:r>
              <a:rPr lang="en-CA" i="1" dirty="0" err="1"/>
              <a:t>objectName</a:t>
            </a:r>
            <a:r>
              <a:rPr lang="en-CA" dirty="0"/>
              <a:t>[</a:t>
            </a:r>
            <a:r>
              <a:rPr lang="en-CA" i="1" dirty="0"/>
              <a:t>expression</a:t>
            </a:r>
            <a:r>
              <a:rPr lang="en-CA" dirty="0"/>
              <a:t>]       // x = "age"; person[x]</a:t>
            </a:r>
          </a:p>
          <a:p>
            <a:r>
              <a:rPr lang="en-CA" dirty="0"/>
              <a:t>The expression must evaluate to a property name.</a:t>
            </a:r>
          </a:p>
          <a:p>
            <a:r>
              <a:rPr lang="en-CA" dirty="0"/>
              <a:t>Example 1</a:t>
            </a:r>
          </a:p>
          <a:p>
            <a:pPr lvl="1"/>
            <a:r>
              <a:rPr lang="en-CA" dirty="0" err="1"/>
              <a:t>person.firstname</a:t>
            </a:r>
            <a:r>
              <a:rPr lang="en-CA" dirty="0"/>
              <a:t> + " is " + </a:t>
            </a:r>
            <a:r>
              <a:rPr lang="en-CA" dirty="0" err="1"/>
              <a:t>person.age</a:t>
            </a:r>
            <a:r>
              <a:rPr lang="en-CA" dirty="0"/>
              <a:t> + " years old.";</a:t>
            </a:r>
          </a:p>
          <a:p>
            <a:r>
              <a:rPr lang="en-CA" dirty="0"/>
              <a:t>Example 2</a:t>
            </a:r>
          </a:p>
          <a:p>
            <a:pPr lvl="1"/>
            <a:r>
              <a:rPr lang="en-CA" dirty="0"/>
              <a:t>person["</a:t>
            </a:r>
            <a:r>
              <a:rPr lang="en-CA" dirty="0" err="1"/>
              <a:t>firstname</a:t>
            </a:r>
            <a:r>
              <a:rPr lang="en-CA" dirty="0"/>
              <a:t>"] + " is " + person["age"] + " years old.";</a:t>
            </a:r>
          </a:p>
        </p:txBody>
      </p:sp>
    </p:spTree>
    <p:extLst>
      <p:ext uri="{BB962C8B-B14F-4D97-AF65-F5344CB8AC3E}">
        <p14:creationId xmlns:p14="http://schemas.microsoft.com/office/powerpoint/2010/main" val="2731085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for...in Loop</a:t>
            </a:r>
          </a:p>
        </p:txBody>
      </p:sp>
      <p:sp>
        <p:nvSpPr>
          <p:cNvPr id="3" name="Content Placeholder 2"/>
          <p:cNvSpPr>
            <a:spLocks noGrp="1"/>
          </p:cNvSpPr>
          <p:nvPr>
            <p:ph idx="1"/>
          </p:nvPr>
        </p:nvSpPr>
        <p:spPr/>
        <p:txBody>
          <a:bodyPr>
            <a:normAutofit fontScale="92500" lnSpcReduction="20000"/>
          </a:bodyPr>
          <a:lstStyle/>
          <a:p>
            <a:r>
              <a:rPr lang="en-CA" dirty="0"/>
              <a:t>The JavaScript for...in statement loops through the properties of an object.</a:t>
            </a:r>
          </a:p>
          <a:p>
            <a:r>
              <a:rPr lang="en-CA" dirty="0"/>
              <a:t>Syntax</a:t>
            </a:r>
          </a:p>
          <a:p>
            <a:pPr lvl="1"/>
            <a:r>
              <a:rPr lang="en-CA" dirty="0"/>
              <a:t>for (</a:t>
            </a:r>
            <a:r>
              <a:rPr lang="en-CA" i="1" dirty="0"/>
              <a:t>variable</a:t>
            </a:r>
            <a:r>
              <a:rPr lang="en-CA" dirty="0"/>
              <a:t> in </a:t>
            </a:r>
            <a:r>
              <a:rPr lang="en-CA" i="1" dirty="0"/>
              <a:t>object</a:t>
            </a:r>
            <a:r>
              <a:rPr lang="en-CA" dirty="0"/>
              <a:t>) {</a:t>
            </a:r>
            <a:br>
              <a:rPr lang="en-CA" dirty="0"/>
            </a:br>
            <a:r>
              <a:rPr lang="en-CA" i="1" dirty="0"/>
              <a:t>    code to be executed</a:t>
            </a:r>
            <a:br>
              <a:rPr lang="en-CA" dirty="0"/>
            </a:br>
            <a:r>
              <a:rPr lang="en-CA" dirty="0"/>
              <a:t>}</a:t>
            </a:r>
          </a:p>
          <a:p>
            <a:r>
              <a:rPr lang="en-CA" dirty="0"/>
              <a:t>The block of code inside of the </a:t>
            </a:r>
            <a:r>
              <a:rPr lang="en-CA" b="1" dirty="0"/>
              <a:t>for...in</a:t>
            </a:r>
            <a:r>
              <a:rPr lang="en-CA" dirty="0"/>
              <a:t> loop will be executed once for each property.</a:t>
            </a:r>
          </a:p>
          <a:p>
            <a:r>
              <a:rPr lang="en-CA" dirty="0"/>
              <a:t>Looping through the properties of an object:</a:t>
            </a:r>
          </a:p>
          <a:p>
            <a:r>
              <a:rPr lang="en-CA" dirty="0"/>
              <a:t>Example</a:t>
            </a:r>
          </a:p>
          <a:p>
            <a:pPr lvl="1"/>
            <a:r>
              <a:rPr lang="en-CA" dirty="0" err="1"/>
              <a:t>var</a:t>
            </a:r>
            <a:r>
              <a:rPr lang="en-CA" dirty="0"/>
              <a:t> person = {</a:t>
            </a:r>
            <a:r>
              <a:rPr lang="en-CA" dirty="0" err="1"/>
              <a:t>fname</a:t>
            </a:r>
            <a:r>
              <a:rPr lang="en-CA" dirty="0"/>
              <a:t>:"John", </a:t>
            </a:r>
            <a:r>
              <a:rPr lang="en-CA" dirty="0" err="1"/>
              <a:t>lname</a:t>
            </a:r>
            <a:r>
              <a:rPr lang="en-CA" dirty="0"/>
              <a:t>:"Doe", age:25}; </a:t>
            </a:r>
            <a:br>
              <a:rPr lang="en-CA" dirty="0"/>
            </a:br>
            <a:br>
              <a:rPr lang="en-CA" dirty="0"/>
            </a:br>
            <a:r>
              <a:rPr lang="en-CA" dirty="0"/>
              <a:t>for (x in person) {</a:t>
            </a:r>
            <a:br>
              <a:rPr lang="en-CA" dirty="0"/>
            </a:br>
            <a:r>
              <a:rPr lang="en-CA" dirty="0"/>
              <a:t>    txt += person[x];</a:t>
            </a:r>
          </a:p>
          <a:p>
            <a:endParaRPr lang="en-US" dirty="0"/>
          </a:p>
        </p:txBody>
      </p:sp>
    </p:spTree>
    <p:extLst>
      <p:ext uri="{BB962C8B-B14F-4D97-AF65-F5344CB8AC3E}">
        <p14:creationId xmlns:p14="http://schemas.microsoft.com/office/powerpoint/2010/main" val="3644253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New Properties</a:t>
            </a:r>
          </a:p>
        </p:txBody>
      </p:sp>
      <p:sp>
        <p:nvSpPr>
          <p:cNvPr id="3" name="Content Placeholder 2"/>
          <p:cNvSpPr>
            <a:spLocks noGrp="1"/>
          </p:cNvSpPr>
          <p:nvPr>
            <p:ph idx="1"/>
          </p:nvPr>
        </p:nvSpPr>
        <p:spPr/>
        <p:txBody>
          <a:bodyPr>
            <a:normAutofit/>
          </a:bodyPr>
          <a:lstStyle/>
          <a:p>
            <a:r>
              <a:rPr lang="en-CA" dirty="0"/>
              <a:t>You can add new properties to an existing object by simply giving it a value.</a:t>
            </a:r>
          </a:p>
          <a:p>
            <a:r>
              <a:rPr lang="en-CA" dirty="0"/>
              <a:t>Assume that the person object already exists - you can then give it new properties:</a:t>
            </a:r>
          </a:p>
          <a:p>
            <a:r>
              <a:rPr lang="en-CA" dirty="0"/>
              <a:t>Example</a:t>
            </a:r>
          </a:p>
          <a:p>
            <a:pPr lvl="1"/>
            <a:r>
              <a:rPr lang="en-CA" dirty="0" err="1"/>
              <a:t>person.nationality</a:t>
            </a:r>
            <a:r>
              <a:rPr lang="en-CA" dirty="0"/>
              <a:t> = "English";</a:t>
            </a:r>
          </a:p>
          <a:p>
            <a:r>
              <a:rPr lang="en-CA" dirty="0"/>
              <a:t>You cannot use reserved words for property (or method) names. JavaScript naming rules apply.</a:t>
            </a:r>
          </a:p>
          <a:p>
            <a:endParaRPr lang="en-US" dirty="0"/>
          </a:p>
        </p:txBody>
      </p:sp>
    </p:spTree>
    <p:extLst>
      <p:ext uri="{BB962C8B-B14F-4D97-AF65-F5344CB8AC3E}">
        <p14:creationId xmlns:p14="http://schemas.microsoft.com/office/powerpoint/2010/main" val="1000255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Deleting Properties</a:t>
            </a:r>
          </a:p>
        </p:txBody>
      </p:sp>
      <p:sp>
        <p:nvSpPr>
          <p:cNvPr id="3" name="Content Placeholder 2"/>
          <p:cNvSpPr>
            <a:spLocks noGrp="1"/>
          </p:cNvSpPr>
          <p:nvPr>
            <p:ph idx="1"/>
          </p:nvPr>
        </p:nvSpPr>
        <p:spPr/>
        <p:txBody>
          <a:bodyPr>
            <a:normAutofit fontScale="92500" lnSpcReduction="20000"/>
          </a:bodyPr>
          <a:lstStyle/>
          <a:p>
            <a:r>
              <a:rPr lang="en-CA" dirty="0"/>
              <a:t>The </a:t>
            </a:r>
            <a:r>
              <a:rPr lang="en-CA" b="1" dirty="0"/>
              <a:t>delete</a:t>
            </a:r>
            <a:r>
              <a:rPr lang="en-CA" dirty="0"/>
              <a:t> keyword deletes a property from an object:</a:t>
            </a:r>
          </a:p>
          <a:p>
            <a:r>
              <a:rPr lang="en-CA" dirty="0"/>
              <a:t>Example</a:t>
            </a:r>
          </a:p>
          <a:p>
            <a:pPr lvl="1"/>
            <a:r>
              <a:rPr lang="en-CA" dirty="0" err="1"/>
              <a:t>var</a:t>
            </a:r>
            <a:r>
              <a:rPr lang="en-CA" dirty="0"/>
              <a:t> person = {</a:t>
            </a:r>
            <a:r>
              <a:rPr lang="en-CA" dirty="0" err="1"/>
              <a:t>firstName</a:t>
            </a:r>
            <a:r>
              <a:rPr lang="en-CA" dirty="0"/>
              <a:t>:"John", </a:t>
            </a:r>
            <a:r>
              <a:rPr lang="en-CA" dirty="0" err="1"/>
              <a:t>lastName</a:t>
            </a:r>
            <a:r>
              <a:rPr lang="en-CA" dirty="0"/>
              <a:t>:"Doe", age:50, </a:t>
            </a:r>
            <a:r>
              <a:rPr lang="en-CA" dirty="0" err="1"/>
              <a:t>eyeColor</a:t>
            </a:r>
            <a:r>
              <a:rPr lang="en-CA" dirty="0"/>
              <a:t>:"blue"};</a:t>
            </a:r>
            <a:br>
              <a:rPr lang="en-CA" dirty="0"/>
            </a:br>
            <a:r>
              <a:rPr lang="en-CA" dirty="0"/>
              <a:t>delete </a:t>
            </a:r>
            <a:r>
              <a:rPr lang="en-CA" dirty="0" err="1"/>
              <a:t>person.age</a:t>
            </a:r>
            <a:r>
              <a:rPr lang="en-CA" dirty="0"/>
              <a:t>;   // or delete person["age"]; </a:t>
            </a:r>
            <a:br>
              <a:rPr lang="en-CA" dirty="0"/>
            </a:br>
            <a:endParaRPr lang="en-CA" dirty="0"/>
          </a:p>
          <a:p>
            <a:r>
              <a:rPr lang="en-CA" dirty="0"/>
              <a:t>The delete keyword deletes both the value of the property and the property itself.</a:t>
            </a:r>
          </a:p>
          <a:p>
            <a:r>
              <a:rPr lang="en-CA" dirty="0"/>
              <a:t>After deletion, the property cannot be used before it is added back again.</a:t>
            </a:r>
          </a:p>
          <a:p>
            <a:r>
              <a:rPr lang="en-CA" dirty="0"/>
              <a:t>The delete operator is designed to be used on object properties. It has no effect on variables or functions.</a:t>
            </a:r>
          </a:p>
          <a:p>
            <a:r>
              <a:rPr lang="en-CA" dirty="0"/>
              <a:t>The delete operator should not be used on predefined JavaScript object properties. It can crash your application.</a:t>
            </a:r>
          </a:p>
          <a:p>
            <a:endParaRPr lang="en-US" dirty="0"/>
          </a:p>
        </p:txBody>
      </p:sp>
    </p:spTree>
    <p:extLst>
      <p:ext uri="{BB962C8B-B14F-4D97-AF65-F5344CB8AC3E}">
        <p14:creationId xmlns:p14="http://schemas.microsoft.com/office/powerpoint/2010/main" val="447355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Property Attributes</a:t>
            </a:r>
          </a:p>
        </p:txBody>
      </p:sp>
      <p:sp>
        <p:nvSpPr>
          <p:cNvPr id="3" name="Content Placeholder 2"/>
          <p:cNvSpPr>
            <a:spLocks noGrp="1"/>
          </p:cNvSpPr>
          <p:nvPr>
            <p:ph idx="1"/>
          </p:nvPr>
        </p:nvSpPr>
        <p:spPr/>
        <p:txBody>
          <a:bodyPr/>
          <a:lstStyle/>
          <a:p>
            <a:r>
              <a:rPr lang="en-CA" dirty="0"/>
              <a:t>All properties have a name. In addition they also have a value.</a:t>
            </a:r>
          </a:p>
          <a:p>
            <a:r>
              <a:rPr lang="en-CA" dirty="0"/>
              <a:t>The value is one of the property's attributes.</a:t>
            </a:r>
          </a:p>
          <a:p>
            <a:r>
              <a:rPr lang="en-CA" dirty="0"/>
              <a:t>Other attributes are: enumerable, configurable, and writable.</a:t>
            </a:r>
          </a:p>
          <a:p>
            <a:r>
              <a:rPr lang="en-CA" dirty="0"/>
              <a:t>These attributes define how the property can be accessed (is it readable?, is it writable?)</a:t>
            </a:r>
          </a:p>
          <a:p>
            <a:r>
              <a:rPr lang="en-CA" dirty="0"/>
              <a:t>In JavaScript, all attributes can be read, but only the value attribute can be changed (and only if the property is writable).</a:t>
            </a:r>
            <a:endParaRPr lang="en-US" dirty="0"/>
          </a:p>
          <a:p>
            <a:endParaRPr lang="en-CA" dirty="0"/>
          </a:p>
        </p:txBody>
      </p:sp>
    </p:spTree>
    <p:extLst>
      <p:ext uri="{BB962C8B-B14F-4D97-AF65-F5344CB8AC3E}">
        <p14:creationId xmlns:p14="http://schemas.microsoft.com/office/powerpoint/2010/main" val="3294382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Properties</a:t>
            </a:r>
          </a:p>
        </p:txBody>
      </p:sp>
      <p:sp>
        <p:nvSpPr>
          <p:cNvPr id="3" name="Content Placeholder 2"/>
          <p:cNvSpPr>
            <a:spLocks noGrp="1"/>
          </p:cNvSpPr>
          <p:nvPr>
            <p:ph idx="1"/>
          </p:nvPr>
        </p:nvSpPr>
        <p:spPr/>
        <p:txBody>
          <a:bodyPr/>
          <a:lstStyle/>
          <a:p>
            <a:r>
              <a:rPr lang="en-CA" dirty="0"/>
              <a:t>JavaScript objects inherit the properties of their prototype.</a:t>
            </a:r>
          </a:p>
          <a:p>
            <a:r>
              <a:rPr lang="en-CA" dirty="0"/>
              <a:t>The delete keyword does not delete inherited properties, but if you delete a prototype property, it will affect all objects inherited from the prototype.</a:t>
            </a:r>
          </a:p>
          <a:p>
            <a:endParaRPr lang="en-US" dirty="0"/>
          </a:p>
        </p:txBody>
      </p:sp>
    </p:spTree>
    <p:extLst>
      <p:ext uri="{BB962C8B-B14F-4D97-AF65-F5344CB8AC3E}">
        <p14:creationId xmlns:p14="http://schemas.microsoft.com/office/powerpoint/2010/main" val="434929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JavaScript Object Methods</a:t>
            </a:r>
          </a:p>
        </p:txBody>
      </p:sp>
      <p:sp>
        <p:nvSpPr>
          <p:cNvPr id="5" name="Text Placeholder 4"/>
          <p:cNvSpPr>
            <a:spLocks noGrp="1"/>
          </p:cNvSpPr>
          <p:nvPr>
            <p:ph type="body" idx="1"/>
          </p:nvPr>
        </p:nvSpPr>
        <p:spPr/>
        <p:txBody>
          <a:bodyPr/>
          <a:lstStyle/>
          <a:p>
            <a:r>
              <a:rPr lang="en-US" dirty="0">
                <a:solidFill>
                  <a:schemeClr val="bg1"/>
                </a:solidFill>
              </a:rPr>
              <a:t>JavaScript &amp; jQuery</a:t>
            </a:r>
          </a:p>
        </p:txBody>
      </p:sp>
    </p:spTree>
    <p:extLst>
      <p:ext uri="{BB962C8B-B14F-4D97-AF65-F5344CB8AC3E}">
        <p14:creationId xmlns:p14="http://schemas.microsoft.com/office/powerpoint/2010/main" val="1455345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Methods</a:t>
            </a:r>
          </a:p>
        </p:txBody>
      </p:sp>
      <p:sp>
        <p:nvSpPr>
          <p:cNvPr id="3" name="Content Placeholder 2"/>
          <p:cNvSpPr>
            <a:spLocks noGrp="1"/>
          </p:cNvSpPr>
          <p:nvPr>
            <p:ph idx="1"/>
          </p:nvPr>
        </p:nvSpPr>
        <p:spPr/>
        <p:txBody>
          <a:bodyPr/>
          <a:lstStyle/>
          <a:p>
            <a:r>
              <a:rPr lang="en-CA" dirty="0"/>
              <a:t>JavaScript methods are the actions that can be performed on objects.</a:t>
            </a:r>
          </a:p>
          <a:p>
            <a:r>
              <a:rPr lang="en-CA" dirty="0"/>
              <a:t>A JavaScript </a:t>
            </a:r>
            <a:r>
              <a:rPr lang="en-CA" b="1" dirty="0"/>
              <a:t>method</a:t>
            </a:r>
            <a:r>
              <a:rPr lang="en-CA" dirty="0"/>
              <a:t> is a property containing a </a:t>
            </a:r>
            <a:r>
              <a:rPr lang="en-CA" b="1" dirty="0"/>
              <a:t>function definition</a:t>
            </a:r>
            <a:r>
              <a:rPr lang="en-CA" dirty="0"/>
              <a:t>.</a:t>
            </a:r>
          </a:p>
          <a:p>
            <a:r>
              <a:rPr lang="en-CA" dirty="0"/>
              <a:t>Methods are functions stored as object properties.</a:t>
            </a:r>
            <a:endParaRPr lang="en-US" dirty="0"/>
          </a:p>
        </p:txBody>
      </p:sp>
    </p:spTree>
    <p:extLst>
      <p:ext uri="{BB962C8B-B14F-4D97-AF65-F5344CB8AC3E}">
        <p14:creationId xmlns:p14="http://schemas.microsoft.com/office/powerpoint/2010/main" val="4051049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Methods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03541737"/>
              </p:ext>
            </p:extLst>
          </p:nvPr>
        </p:nvGraphicFramePr>
        <p:xfrm>
          <a:off x="2166937" y="2721134"/>
          <a:ext cx="7858125" cy="2560320"/>
        </p:xfrm>
        <a:graphic>
          <a:graphicData uri="http://schemas.openxmlformats.org/drawingml/2006/table">
            <a:tbl>
              <a:tblPr/>
              <a:tblGrid>
                <a:gridCol w="1562100">
                  <a:extLst>
                    <a:ext uri="{9D8B030D-6E8A-4147-A177-3AD203B41FA5}">
                      <a16:colId xmlns:a16="http://schemas.microsoft.com/office/drawing/2014/main" val="3685232937"/>
                    </a:ext>
                  </a:extLst>
                </a:gridCol>
                <a:gridCol w="6296025">
                  <a:extLst>
                    <a:ext uri="{9D8B030D-6E8A-4147-A177-3AD203B41FA5}">
                      <a16:colId xmlns:a16="http://schemas.microsoft.com/office/drawing/2014/main" val="580203404"/>
                    </a:ext>
                  </a:extLst>
                </a:gridCol>
              </a:tblGrid>
              <a:tr h="0">
                <a:tc>
                  <a:txBody>
                    <a:bodyPr/>
                    <a:lstStyle/>
                    <a:p>
                      <a:pPr algn="l" fontAlgn="t"/>
                      <a:r>
                        <a:rPr lang="en-US" dirty="0">
                          <a:solidFill>
                            <a:schemeClr val="tx1"/>
                          </a:solidFill>
                          <a:effectLst/>
                        </a:rPr>
                        <a:t>Property</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solidFill>
                            <a:schemeClr val="tx1"/>
                          </a:solidFill>
                          <a:effectLst/>
                        </a:rPr>
                        <a:t>Value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32595015"/>
                  </a:ext>
                </a:extLst>
              </a:tr>
              <a:tr h="0">
                <a:tc>
                  <a:txBody>
                    <a:bodyPr/>
                    <a:lstStyle/>
                    <a:p>
                      <a:pPr algn="l" fontAlgn="t"/>
                      <a:r>
                        <a:rPr lang="en-US" dirty="0" err="1">
                          <a:solidFill>
                            <a:schemeClr val="tx1"/>
                          </a:solidFill>
                          <a:effectLst/>
                        </a:rPr>
                        <a:t>firstName</a:t>
                      </a:r>
                      <a:endParaRPr lang="en-US" dirty="0">
                        <a:solidFill>
                          <a:schemeClr val="tx1"/>
                        </a:solidFill>
                        <a:effectLst/>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John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627496032"/>
                  </a:ext>
                </a:extLst>
              </a:tr>
              <a:tr h="0">
                <a:tc>
                  <a:txBody>
                    <a:bodyPr/>
                    <a:lstStyle/>
                    <a:p>
                      <a:pPr algn="l" fontAlgn="t"/>
                      <a:r>
                        <a:rPr lang="en-US">
                          <a:solidFill>
                            <a:schemeClr val="tx1"/>
                          </a:solidFill>
                          <a:effectLst/>
                        </a:rPr>
                        <a:t>lastName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rPr>
                        <a:t>Doe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647413401"/>
                  </a:ext>
                </a:extLst>
              </a:tr>
              <a:tr h="0">
                <a:tc>
                  <a:txBody>
                    <a:bodyPr/>
                    <a:lstStyle/>
                    <a:p>
                      <a:pPr algn="l" fontAlgn="t"/>
                      <a:r>
                        <a:rPr lang="en-US">
                          <a:solidFill>
                            <a:schemeClr val="tx1"/>
                          </a:solidFill>
                          <a:effectLst/>
                        </a:rPr>
                        <a:t>age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50</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3091014689"/>
                  </a:ext>
                </a:extLst>
              </a:tr>
              <a:tr h="0">
                <a:tc>
                  <a:txBody>
                    <a:bodyPr/>
                    <a:lstStyle/>
                    <a:p>
                      <a:pPr algn="l" fontAlgn="t"/>
                      <a:r>
                        <a:rPr lang="en-US">
                          <a:solidFill>
                            <a:schemeClr val="tx1"/>
                          </a:solidFill>
                          <a:effectLst/>
                        </a:rPr>
                        <a:t>eyeColor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rPr>
                        <a:t>blue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02521976"/>
                  </a:ext>
                </a:extLst>
              </a:tr>
              <a:tr h="0">
                <a:tc>
                  <a:txBody>
                    <a:bodyPr/>
                    <a:lstStyle/>
                    <a:p>
                      <a:pPr algn="l" fontAlgn="t"/>
                      <a:r>
                        <a:rPr lang="en-US">
                          <a:solidFill>
                            <a:schemeClr val="tx1"/>
                          </a:solidFill>
                          <a:effectLst/>
                        </a:rPr>
                        <a:t>fullName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algn="l" fontAlgn="t"/>
                      <a:r>
                        <a:rPr lang="en-US" dirty="0">
                          <a:solidFill>
                            <a:schemeClr val="tx1"/>
                          </a:solidFill>
                          <a:effectLst/>
                        </a:rPr>
                        <a:t>function() {return </a:t>
                      </a:r>
                      <a:r>
                        <a:rPr lang="en-US" dirty="0" err="1">
                          <a:solidFill>
                            <a:schemeClr val="tx1"/>
                          </a:solidFill>
                          <a:effectLst/>
                        </a:rPr>
                        <a:t>this.firstName</a:t>
                      </a:r>
                      <a:r>
                        <a:rPr lang="en-US" dirty="0">
                          <a:solidFill>
                            <a:schemeClr val="tx1"/>
                          </a:solidFill>
                          <a:effectLst/>
                        </a:rPr>
                        <a:t> + " " + </a:t>
                      </a:r>
                      <a:r>
                        <a:rPr lang="en-US" dirty="0" err="1">
                          <a:solidFill>
                            <a:schemeClr val="tx1"/>
                          </a:solidFill>
                          <a:effectLst/>
                        </a:rPr>
                        <a:t>this.lastName</a:t>
                      </a:r>
                      <a:r>
                        <a:rPr lang="en-US" dirty="0">
                          <a:solidFill>
                            <a:schemeClr val="tx1"/>
                          </a:solidFill>
                          <a:effectLst/>
                        </a:rPr>
                        <a:t>;}</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val="343225117"/>
                  </a:ext>
                </a:extLst>
              </a:tr>
            </a:tbl>
          </a:graphicData>
        </a:graphic>
      </p:graphicFrame>
    </p:spTree>
    <p:extLst>
      <p:ext uri="{BB962C8B-B14F-4D97-AF65-F5344CB8AC3E}">
        <p14:creationId xmlns:p14="http://schemas.microsoft.com/office/powerpoint/2010/main" val="768962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b="1" dirty="0"/>
              <a:t>this</a:t>
            </a:r>
            <a:r>
              <a:rPr lang="en-US" dirty="0"/>
              <a:t> Keyword</a:t>
            </a:r>
          </a:p>
        </p:txBody>
      </p:sp>
      <p:sp>
        <p:nvSpPr>
          <p:cNvPr id="3" name="Content Placeholder 2"/>
          <p:cNvSpPr>
            <a:spLocks noGrp="1"/>
          </p:cNvSpPr>
          <p:nvPr>
            <p:ph idx="1"/>
          </p:nvPr>
        </p:nvSpPr>
        <p:spPr/>
        <p:txBody>
          <a:bodyPr/>
          <a:lstStyle/>
          <a:p>
            <a:r>
              <a:rPr lang="en-CA" dirty="0"/>
              <a:t>In JavaScript, the thing called </a:t>
            </a:r>
            <a:r>
              <a:rPr lang="en-CA" b="1" dirty="0"/>
              <a:t>this</a:t>
            </a:r>
            <a:r>
              <a:rPr lang="en-CA" dirty="0"/>
              <a:t>, is the object that "owns" the JavaScript code.</a:t>
            </a:r>
          </a:p>
          <a:p>
            <a:r>
              <a:rPr lang="en-CA" dirty="0"/>
              <a:t>The value of </a:t>
            </a:r>
            <a:r>
              <a:rPr lang="en-CA" b="1" dirty="0"/>
              <a:t>this</a:t>
            </a:r>
            <a:r>
              <a:rPr lang="en-CA" dirty="0"/>
              <a:t>, when used in a function, is the object that "owns" the function.</a:t>
            </a:r>
          </a:p>
          <a:p>
            <a:r>
              <a:rPr lang="en-CA" dirty="0"/>
              <a:t>Note that </a:t>
            </a:r>
            <a:r>
              <a:rPr lang="en-CA" b="1" dirty="0"/>
              <a:t>this</a:t>
            </a:r>
            <a:r>
              <a:rPr lang="en-CA" dirty="0"/>
              <a:t> is not a variable. It is a keyword. You cannot change the value of </a:t>
            </a:r>
            <a:r>
              <a:rPr lang="en-CA" b="1" dirty="0"/>
              <a:t>this</a:t>
            </a:r>
            <a:r>
              <a:rPr lang="en-CA" dirty="0"/>
              <a:t>.</a:t>
            </a:r>
          </a:p>
          <a:p>
            <a:endParaRPr lang="en-US" dirty="0"/>
          </a:p>
        </p:txBody>
      </p:sp>
    </p:spTree>
    <p:extLst>
      <p:ext uri="{BB962C8B-B14F-4D97-AF65-F5344CB8AC3E}">
        <p14:creationId xmlns:p14="http://schemas.microsoft.com/office/powerpoint/2010/main" val="1175885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Object Methods</a:t>
            </a:r>
          </a:p>
        </p:txBody>
      </p:sp>
      <p:sp>
        <p:nvSpPr>
          <p:cNvPr id="3" name="Content Placeholder 2"/>
          <p:cNvSpPr>
            <a:spLocks noGrp="1"/>
          </p:cNvSpPr>
          <p:nvPr>
            <p:ph idx="1"/>
          </p:nvPr>
        </p:nvSpPr>
        <p:spPr/>
        <p:txBody>
          <a:bodyPr>
            <a:normAutofit fontScale="85000" lnSpcReduction="20000"/>
          </a:bodyPr>
          <a:lstStyle/>
          <a:p>
            <a:r>
              <a:rPr lang="en-CA" dirty="0"/>
              <a:t>You access an object method with the following syntax:</a:t>
            </a:r>
          </a:p>
          <a:p>
            <a:pPr lvl="1"/>
            <a:r>
              <a:rPr lang="en-CA" i="1" dirty="0" err="1"/>
              <a:t>objectName.methodName</a:t>
            </a:r>
            <a:r>
              <a:rPr lang="en-CA" i="1" dirty="0"/>
              <a:t>()</a:t>
            </a:r>
            <a:endParaRPr lang="en-CA" dirty="0"/>
          </a:p>
          <a:p>
            <a:r>
              <a:rPr lang="en-CA" dirty="0"/>
              <a:t>You will typically describe </a:t>
            </a:r>
            <a:r>
              <a:rPr lang="en-CA" dirty="0" err="1"/>
              <a:t>fullName</a:t>
            </a:r>
            <a:r>
              <a:rPr lang="en-CA" dirty="0"/>
              <a:t>() as a method of the person object, and </a:t>
            </a:r>
            <a:r>
              <a:rPr lang="en-CA" dirty="0" err="1"/>
              <a:t>fullName</a:t>
            </a:r>
            <a:r>
              <a:rPr lang="en-CA" dirty="0"/>
              <a:t> as a property.</a:t>
            </a:r>
          </a:p>
          <a:p>
            <a:r>
              <a:rPr lang="en-CA" dirty="0"/>
              <a:t>The </a:t>
            </a:r>
            <a:r>
              <a:rPr lang="en-CA" dirty="0" err="1"/>
              <a:t>fullName</a:t>
            </a:r>
            <a:r>
              <a:rPr lang="en-CA" dirty="0"/>
              <a:t> property will execute (as a function) when it is invoked with ().</a:t>
            </a:r>
          </a:p>
          <a:p>
            <a:r>
              <a:rPr lang="en-CA" dirty="0"/>
              <a:t>This example accesses the </a:t>
            </a:r>
            <a:r>
              <a:rPr lang="en-CA" dirty="0" err="1"/>
              <a:t>fullName</a:t>
            </a:r>
            <a:r>
              <a:rPr lang="en-CA" dirty="0"/>
              <a:t>() </a:t>
            </a:r>
            <a:r>
              <a:rPr lang="en-CA" b="1" dirty="0"/>
              <a:t>method</a:t>
            </a:r>
            <a:r>
              <a:rPr lang="en-CA" dirty="0"/>
              <a:t> of a person object:</a:t>
            </a:r>
          </a:p>
          <a:p>
            <a:r>
              <a:rPr lang="en-CA" dirty="0"/>
              <a:t>Example</a:t>
            </a:r>
          </a:p>
          <a:p>
            <a:pPr lvl="1"/>
            <a:r>
              <a:rPr lang="en-CA" dirty="0"/>
              <a:t>name = </a:t>
            </a:r>
            <a:r>
              <a:rPr lang="en-CA" dirty="0" err="1"/>
              <a:t>person.fullName</a:t>
            </a:r>
            <a:r>
              <a:rPr lang="en-CA" dirty="0"/>
              <a:t>();</a:t>
            </a:r>
          </a:p>
          <a:p>
            <a:r>
              <a:rPr lang="en-CA" dirty="0"/>
              <a:t>If you access the </a:t>
            </a:r>
            <a:r>
              <a:rPr lang="en-CA" dirty="0" err="1"/>
              <a:t>fullName</a:t>
            </a:r>
            <a:r>
              <a:rPr lang="en-CA" dirty="0"/>
              <a:t> </a:t>
            </a:r>
            <a:r>
              <a:rPr lang="en-CA" b="1" dirty="0"/>
              <a:t>property</a:t>
            </a:r>
            <a:r>
              <a:rPr lang="en-CA" dirty="0"/>
              <a:t>, without (), it will return the </a:t>
            </a:r>
            <a:r>
              <a:rPr lang="en-CA" b="1" dirty="0"/>
              <a:t>function definition</a:t>
            </a:r>
            <a:r>
              <a:rPr lang="en-CA" dirty="0"/>
              <a:t>:</a:t>
            </a:r>
          </a:p>
          <a:p>
            <a:r>
              <a:rPr lang="en-CA" dirty="0"/>
              <a:t>Example</a:t>
            </a:r>
          </a:p>
          <a:p>
            <a:pPr lvl="1"/>
            <a:r>
              <a:rPr lang="en-CA" dirty="0"/>
              <a:t>name = </a:t>
            </a:r>
            <a:r>
              <a:rPr lang="en-CA" dirty="0" err="1"/>
              <a:t>person.fullName</a:t>
            </a:r>
            <a:r>
              <a:rPr lang="en-CA" dirty="0"/>
              <a:t>;</a:t>
            </a:r>
          </a:p>
          <a:p>
            <a:endParaRPr lang="en-US" dirty="0"/>
          </a:p>
        </p:txBody>
      </p:sp>
    </p:spTree>
    <p:extLst>
      <p:ext uri="{BB962C8B-B14F-4D97-AF65-F5344CB8AC3E}">
        <p14:creationId xmlns:p14="http://schemas.microsoft.com/office/powerpoint/2010/main" val="3709272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Built-In Methods</a:t>
            </a:r>
          </a:p>
        </p:txBody>
      </p:sp>
      <p:sp>
        <p:nvSpPr>
          <p:cNvPr id="3" name="Content Placeholder 2"/>
          <p:cNvSpPr>
            <a:spLocks noGrp="1"/>
          </p:cNvSpPr>
          <p:nvPr>
            <p:ph idx="1"/>
          </p:nvPr>
        </p:nvSpPr>
        <p:spPr/>
        <p:txBody>
          <a:bodyPr/>
          <a:lstStyle/>
          <a:p>
            <a:r>
              <a:rPr lang="en-CA" dirty="0"/>
              <a:t>This example uses the </a:t>
            </a:r>
            <a:r>
              <a:rPr lang="en-CA" dirty="0" err="1"/>
              <a:t>toUpperCase</a:t>
            </a:r>
            <a:r>
              <a:rPr lang="en-CA" dirty="0"/>
              <a:t>() method of the String object, to convert a text to uppercase:</a:t>
            </a:r>
          </a:p>
          <a:p>
            <a:pPr lvl="1"/>
            <a:r>
              <a:rPr lang="en-CA" dirty="0" err="1"/>
              <a:t>var</a:t>
            </a:r>
            <a:r>
              <a:rPr lang="en-CA" dirty="0"/>
              <a:t> message = "Hello world!";</a:t>
            </a:r>
            <a:br>
              <a:rPr lang="en-CA" dirty="0"/>
            </a:br>
            <a:r>
              <a:rPr lang="en-CA" dirty="0" err="1"/>
              <a:t>var</a:t>
            </a:r>
            <a:r>
              <a:rPr lang="en-CA" dirty="0"/>
              <a:t> x = </a:t>
            </a:r>
            <a:r>
              <a:rPr lang="en-CA" dirty="0" err="1"/>
              <a:t>message.toUpperCase</a:t>
            </a:r>
            <a:r>
              <a:rPr lang="en-CA" dirty="0"/>
              <a:t>();</a:t>
            </a:r>
          </a:p>
          <a:p>
            <a:r>
              <a:rPr lang="en-CA" dirty="0"/>
              <a:t>The value of x, after execution of the code above will be:</a:t>
            </a:r>
          </a:p>
          <a:p>
            <a:pPr lvl="1"/>
            <a:r>
              <a:rPr lang="en-CA" dirty="0"/>
              <a:t>HELLO WORLD!</a:t>
            </a:r>
          </a:p>
          <a:p>
            <a:endParaRPr lang="en-US" dirty="0"/>
          </a:p>
        </p:txBody>
      </p:sp>
    </p:spTree>
    <p:extLst>
      <p:ext uri="{BB962C8B-B14F-4D97-AF65-F5344CB8AC3E}">
        <p14:creationId xmlns:p14="http://schemas.microsoft.com/office/powerpoint/2010/main" val="929025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JavaScript Object Constructors</a:t>
            </a:r>
          </a:p>
        </p:txBody>
      </p:sp>
      <p:sp>
        <p:nvSpPr>
          <p:cNvPr id="5" name="Text Placeholder 4"/>
          <p:cNvSpPr>
            <a:spLocks noGrp="1"/>
          </p:cNvSpPr>
          <p:nvPr>
            <p:ph type="body" idx="1"/>
          </p:nvPr>
        </p:nvSpPr>
        <p:spPr/>
        <p:txBody>
          <a:bodyPr/>
          <a:lstStyle/>
          <a:p>
            <a:r>
              <a:rPr lang="en-US" dirty="0">
                <a:solidFill>
                  <a:schemeClr val="bg1"/>
                </a:solidFill>
              </a:rPr>
              <a:t>JavaScript &amp; jQuery</a:t>
            </a:r>
          </a:p>
        </p:txBody>
      </p:sp>
    </p:spTree>
    <p:extLst>
      <p:ext uri="{BB962C8B-B14F-4D97-AF65-F5344CB8AC3E}">
        <p14:creationId xmlns:p14="http://schemas.microsoft.com/office/powerpoint/2010/main" val="3710121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CA" dirty="0"/>
              <a:t>Example</a:t>
            </a:r>
          </a:p>
          <a:p>
            <a:pPr lvl="1"/>
            <a:r>
              <a:rPr lang="en-CA" dirty="0"/>
              <a:t>function Person(first, last, age, eye) {</a:t>
            </a:r>
            <a:br>
              <a:rPr lang="en-CA" dirty="0"/>
            </a:br>
            <a:r>
              <a:rPr lang="en-CA" dirty="0"/>
              <a:t>    </a:t>
            </a:r>
            <a:r>
              <a:rPr lang="en-CA" dirty="0" err="1"/>
              <a:t>this.firstName</a:t>
            </a:r>
            <a:r>
              <a:rPr lang="en-CA" dirty="0"/>
              <a:t> = first;</a:t>
            </a:r>
            <a:br>
              <a:rPr lang="en-CA" dirty="0"/>
            </a:br>
            <a:r>
              <a:rPr lang="en-CA" dirty="0"/>
              <a:t>    </a:t>
            </a:r>
            <a:r>
              <a:rPr lang="en-CA" dirty="0" err="1"/>
              <a:t>this.lastName</a:t>
            </a:r>
            <a:r>
              <a:rPr lang="en-CA" dirty="0"/>
              <a:t> = last;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eye;</a:t>
            </a:r>
            <a:br>
              <a:rPr lang="en-CA" dirty="0"/>
            </a:br>
            <a:r>
              <a:rPr lang="en-CA" dirty="0"/>
              <a:t>}</a:t>
            </a:r>
          </a:p>
          <a:p>
            <a:r>
              <a:rPr lang="en-CA" dirty="0"/>
              <a:t>It is considered good practice to name constructor functions with an upper-case first letter.</a:t>
            </a:r>
          </a:p>
          <a:p>
            <a:endParaRPr lang="en-US" dirty="0"/>
          </a:p>
        </p:txBody>
      </p:sp>
    </p:spTree>
    <p:extLst>
      <p:ext uri="{BB962C8B-B14F-4D97-AF65-F5344CB8AC3E}">
        <p14:creationId xmlns:p14="http://schemas.microsoft.com/office/powerpoint/2010/main" val="1205276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Types (Blueprints) (Classes)</a:t>
            </a:r>
          </a:p>
        </p:txBody>
      </p:sp>
      <p:sp>
        <p:nvSpPr>
          <p:cNvPr id="3" name="Content Placeholder 2"/>
          <p:cNvSpPr>
            <a:spLocks noGrp="1"/>
          </p:cNvSpPr>
          <p:nvPr>
            <p:ph idx="1"/>
          </p:nvPr>
        </p:nvSpPr>
        <p:spPr/>
        <p:txBody>
          <a:bodyPr>
            <a:normAutofit fontScale="92500" lnSpcReduction="10000"/>
          </a:bodyPr>
          <a:lstStyle/>
          <a:p>
            <a:r>
              <a:rPr lang="en-CA" dirty="0"/>
              <a:t>The examples from the previous chapters are limited. They only create single objects.</a:t>
            </a:r>
          </a:p>
          <a:p>
            <a:r>
              <a:rPr lang="en-CA" dirty="0"/>
              <a:t>Sometimes we need a "</a:t>
            </a:r>
            <a:r>
              <a:rPr lang="en-CA" b="1" dirty="0"/>
              <a:t>blueprint</a:t>
            </a:r>
            <a:r>
              <a:rPr lang="en-CA" dirty="0"/>
              <a:t>" for creating many objects of the same "type".</a:t>
            </a:r>
          </a:p>
          <a:p>
            <a:r>
              <a:rPr lang="en-CA" dirty="0"/>
              <a:t>The way to create an "object type", is to use an </a:t>
            </a:r>
            <a:r>
              <a:rPr lang="en-CA" b="1" dirty="0"/>
              <a:t>object constructor function</a:t>
            </a:r>
            <a:r>
              <a:rPr lang="en-CA" dirty="0"/>
              <a:t>.</a:t>
            </a:r>
          </a:p>
          <a:p>
            <a:r>
              <a:rPr lang="en-CA" dirty="0"/>
              <a:t>In the example above, </a:t>
            </a:r>
            <a:r>
              <a:rPr lang="en-CA" b="1" dirty="0"/>
              <a:t>function Person()</a:t>
            </a:r>
            <a:r>
              <a:rPr lang="en-CA" dirty="0"/>
              <a:t> is an object constructor function.</a:t>
            </a:r>
          </a:p>
          <a:p>
            <a:r>
              <a:rPr lang="en-CA" dirty="0"/>
              <a:t>Objects of the same type are created by calling the constructor function with the </a:t>
            </a:r>
            <a:r>
              <a:rPr lang="en-CA" b="1" dirty="0"/>
              <a:t>new</a:t>
            </a:r>
            <a:r>
              <a:rPr lang="en-CA" dirty="0"/>
              <a:t> keyword:</a:t>
            </a:r>
          </a:p>
          <a:p>
            <a:pPr lvl="1"/>
            <a:r>
              <a:rPr lang="en-CA" dirty="0" err="1"/>
              <a:t>var</a:t>
            </a:r>
            <a:r>
              <a:rPr lang="en-CA" dirty="0"/>
              <a:t> </a:t>
            </a:r>
            <a:r>
              <a:rPr lang="en-CA" dirty="0" err="1"/>
              <a:t>myFather</a:t>
            </a:r>
            <a:r>
              <a:rPr lang="en-CA" dirty="0"/>
              <a:t> = new Person("John", "Doe", 50, "blue");</a:t>
            </a:r>
            <a:br>
              <a:rPr lang="en-CA" dirty="0"/>
            </a:br>
            <a:r>
              <a:rPr lang="en-CA" dirty="0" err="1"/>
              <a:t>var</a:t>
            </a:r>
            <a:r>
              <a:rPr lang="en-CA" dirty="0"/>
              <a:t> </a:t>
            </a:r>
            <a:r>
              <a:rPr lang="en-CA" dirty="0" err="1"/>
              <a:t>myMother</a:t>
            </a:r>
            <a:r>
              <a:rPr lang="en-CA" dirty="0"/>
              <a:t> = new Person("Sally", "Rally", 48, "green");</a:t>
            </a:r>
          </a:p>
          <a:p>
            <a:endParaRPr lang="en-US" dirty="0"/>
          </a:p>
        </p:txBody>
      </p:sp>
    </p:spTree>
    <p:extLst>
      <p:ext uri="{BB962C8B-B14F-4D97-AF65-F5344CB8AC3E}">
        <p14:creationId xmlns:p14="http://schemas.microsoft.com/office/powerpoint/2010/main" val="3427485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b="1" dirty="0"/>
              <a:t>this</a:t>
            </a:r>
            <a:r>
              <a:rPr lang="en-US" dirty="0"/>
              <a:t> Keyword</a:t>
            </a:r>
          </a:p>
        </p:txBody>
      </p:sp>
      <p:sp>
        <p:nvSpPr>
          <p:cNvPr id="3" name="Content Placeholder 2"/>
          <p:cNvSpPr>
            <a:spLocks noGrp="1"/>
          </p:cNvSpPr>
          <p:nvPr>
            <p:ph idx="1"/>
          </p:nvPr>
        </p:nvSpPr>
        <p:spPr/>
        <p:txBody>
          <a:bodyPr/>
          <a:lstStyle/>
          <a:p>
            <a:r>
              <a:rPr lang="en-CA" dirty="0"/>
              <a:t>In JavaScript, the thing called </a:t>
            </a:r>
            <a:r>
              <a:rPr lang="en-CA" b="1" dirty="0"/>
              <a:t>this</a:t>
            </a:r>
            <a:r>
              <a:rPr lang="en-CA" dirty="0"/>
              <a:t> is the object that "owns" the code.</a:t>
            </a:r>
          </a:p>
          <a:p>
            <a:r>
              <a:rPr lang="en-CA" dirty="0"/>
              <a:t>The value of </a:t>
            </a:r>
            <a:r>
              <a:rPr lang="en-CA" b="1" dirty="0"/>
              <a:t>this</a:t>
            </a:r>
            <a:r>
              <a:rPr lang="en-CA" dirty="0"/>
              <a:t>, when used in an object, is the object itself.</a:t>
            </a:r>
          </a:p>
          <a:p>
            <a:r>
              <a:rPr lang="en-CA" dirty="0"/>
              <a:t>In a constructor function </a:t>
            </a:r>
            <a:r>
              <a:rPr lang="en-CA" b="1" dirty="0"/>
              <a:t>this</a:t>
            </a:r>
            <a:r>
              <a:rPr lang="en-CA" dirty="0"/>
              <a:t> does not have a value. It is a substitute for the new object. The value of </a:t>
            </a:r>
            <a:r>
              <a:rPr lang="en-CA" b="1" dirty="0" err="1"/>
              <a:t>this</a:t>
            </a:r>
            <a:r>
              <a:rPr lang="en-CA" dirty="0" err="1"/>
              <a:t>will</a:t>
            </a:r>
            <a:r>
              <a:rPr lang="en-CA" dirty="0"/>
              <a:t> become the new object when a new object is created.</a:t>
            </a:r>
          </a:p>
          <a:p>
            <a:r>
              <a:rPr lang="en-CA" dirty="0"/>
              <a:t>Note that </a:t>
            </a:r>
            <a:r>
              <a:rPr lang="en-CA" b="1" dirty="0"/>
              <a:t>this</a:t>
            </a:r>
            <a:r>
              <a:rPr lang="en-CA" dirty="0"/>
              <a:t> is not a variable. It is a keyword. You cannot change the value of </a:t>
            </a:r>
            <a:r>
              <a:rPr lang="en-CA" b="1" dirty="0"/>
              <a:t>this</a:t>
            </a:r>
            <a:r>
              <a:rPr lang="en-CA" dirty="0"/>
              <a:t>.</a:t>
            </a:r>
          </a:p>
          <a:p>
            <a:endParaRPr lang="en-US" dirty="0"/>
          </a:p>
        </p:txBody>
      </p:sp>
    </p:spTree>
    <p:extLst>
      <p:ext uri="{BB962C8B-B14F-4D97-AF65-F5344CB8AC3E}">
        <p14:creationId xmlns:p14="http://schemas.microsoft.com/office/powerpoint/2010/main" val="216616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Adding a Property to an Object</a:t>
            </a:r>
            <a:endParaRPr lang="en-US" dirty="0"/>
          </a:p>
        </p:txBody>
      </p:sp>
      <p:sp>
        <p:nvSpPr>
          <p:cNvPr id="3" name="Content Placeholder 2"/>
          <p:cNvSpPr>
            <a:spLocks noGrp="1"/>
          </p:cNvSpPr>
          <p:nvPr>
            <p:ph idx="1"/>
          </p:nvPr>
        </p:nvSpPr>
        <p:spPr/>
        <p:txBody>
          <a:bodyPr/>
          <a:lstStyle/>
          <a:p>
            <a:r>
              <a:rPr lang="en-CA" dirty="0"/>
              <a:t>Adding a new property to an existing object is easy:</a:t>
            </a:r>
          </a:p>
          <a:p>
            <a:r>
              <a:rPr lang="en-CA" dirty="0"/>
              <a:t>Example</a:t>
            </a:r>
          </a:p>
          <a:p>
            <a:pPr lvl="1"/>
            <a:r>
              <a:rPr lang="en-CA" dirty="0" err="1"/>
              <a:t>myFather.nationality</a:t>
            </a:r>
            <a:r>
              <a:rPr lang="en-CA" dirty="0"/>
              <a:t> = "English";</a:t>
            </a:r>
          </a:p>
          <a:p>
            <a:r>
              <a:rPr lang="en-CA" dirty="0"/>
              <a:t>The property will be added to </a:t>
            </a:r>
            <a:r>
              <a:rPr lang="en-CA" dirty="0" err="1"/>
              <a:t>myFather</a:t>
            </a:r>
            <a:r>
              <a:rPr lang="en-CA" dirty="0"/>
              <a:t>. Not to </a:t>
            </a:r>
            <a:r>
              <a:rPr lang="en-CA" dirty="0" err="1"/>
              <a:t>myMother</a:t>
            </a:r>
            <a:r>
              <a:rPr lang="en-CA" dirty="0"/>
              <a:t>. (Not to any other person objects).</a:t>
            </a:r>
          </a:p>
          <a:p>
            <a:endParaRPr lang="en-US" dirty="0"/>
          </a:p>
        </p:txBody>
      </p:sp>
    </p:spTree>
    <p:extLst>
      <p:ext uri="{BB962C8B-B14F-4D97-AF65-F5344CB8AC3E}">
        <p14:creationId xmlns:p14="http://schemas.microsoft.com/office/powerpoint/2010/main" val="1526387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Adding a Method to an Object</a:t>
            </a:r>
            <a:endParaRPr lang="en-US" dirty="0"/>
          </a:p>
        </p:txBody>
      </p:sp>
      <p:sp>
        <p:nvSpPr>
          <p:cNvPr id="3" name="Content Placeholder 2"/>
          <p:cNvSpPr>
            <a:spLocks noGrp="1"/>
          </p:cNvSpPr>
          <p:nvPr>
            <p:ph idx="1"/>
          </p:nvPr>
        </p:nvSpPr>
        <p:spPr/>
        <p:txBody>
          <a:bodyPr/>
          <a:lstStyle/>
          <a:p>
            <a:r>
              <a:rPr lang="en-CA" dirty="0"/>
              <a:t>Adding a new method to an existing object is easy:</a:t>
            </a:r>
          </a:p>
          <a:p>
            <a:r>
              <a:rPr lang="en-CA" dirty="0"/>
              <a:t>Example</a:t>
            </a:r>
          </a:p>
          <a:p>
            <a:pPr lvl="1"/>
            <a:r>
              <a:rPr lang="en-CA" dirty="0"/>
              <a:t>myFather.name = function () {</a:t>
            </a:r>
            <a:br>
              <a:rPr lang="en-CA" dirty="0"/>
            </a:br>
            <a:r>
              <a:rPr lang="en-CA" dirty="0"/>
              <a:t>    return </a:t>
            </a:r>
            <a:r>
              <a:rPr lang="en-CA" dirty="0" err="1"/>
              <a:t>this.firstName</a:t>
            </a:r>
            <a:r>
              <a:rPr lang="en-CA" dirty="0"/>
              <a:t> + " " + </a:t>
            </a:r>
            <a:r>
              <a:rPr lang="en-CA" dirty="0" err="1"/>
              <a:t>this.lastName</a:t>
            </a:r>
            <a:r>
              <a:rPr lang="en-CA" dirty="0"/>
              <a:t>;</a:t>
            </a:r>
            <a:br>
              <a:rPr lang="en-CA" dirty="0"/>
            </a:br>
            <a:r>
              <a:rPr lang="en-CA" dirty="0"/>
              <a:t>};</a:t>
            </a:r>
          </a:p>
          <a:p>
            <a:r>
              <a:rPr lang="en-CA" dirty="0"/>
              <a:t>The method will be added to </a:t>
            </a:r>
            <a:r>
              <a:rPr lang="en-CA" dirty="0" err="1"/>
              <a:t>myFather</a:t>
            </a:r>
            <a:r>
              <a:rPr lang="en-CA" dirty="0"/>
              <a:t>. Not to </a:t>
            </a:r>
            <a:r>
              <a:rPr lang="en-CA" dirty="0" err="1"/>
              <a:t>myMother</a:t>
            </a:r>
            <a:r>
              <a:rPr lang="en-CA" dirty="0"/>
              <a:t>. (Not to any other person objects).</a:t>
            </a:r>
          </a:p>
          <a:p>
            <a:endParaRPr lang="en-US" dirty="0"/>
          </a:p>
        </p:txBody>
      </p:sp>
    </p:spTree>
    <p:extLst>
      <p:ext uri="{BB962C8B-B14F-4D97-AF65-F5344CB8AC3E}">
        <p14:creationId xmlns:p14="http://schemas.microsoft.com/office/powerpoint/2010/main" val="42378607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Adding a Property to a Constructor</a:t>
            </a:r>
            <a:endParaRPr lang="en-US" dirty="0"/>
          </a:p>
        </p:txBody>
      </p:sp>
      <p:sp>
        <p:nvSpPr>
          <p:cNvPr id="3" name="Content Placeholder 2"/>
          <p:cNvSpPr>
            <a:spLocks noGrp="1"/>
          </p:cNvSpPr>
          <p:nvPr>
            <p:ph idx="1"/>
          </p:nvPr>
        </p:nvSpPr>
        <p:spPr/>
        <p:txBody>
          <a:bodyPr>
            <a:normAutofit fontScale="85000" lnSpcReduction="20000"/>
          </a:bodyPr>
          <a:lstStyle/>
          <a:p>
            <a:r>
              <a:rPr lang="en-CA" dirty="0"/>
              <a:t>You cannot add a new property to an object constructor the same way you add a new property to an existing object:</a:t>
            </a:r>
          </a:p>
          <a:p>
            <a:r>
              <a:rPr lang="en-CA" dirty="0"/>
              <a:t>Example</a:t>
            </a:r>
          </a:p>
          <a:p>
            <a:pPr lvl="1"/>
            <a:r>
              <a:rPr lang="en-CA" dirty="0" err="1"/>
              <a:t>Person.nationality</a:t>
            </a:r>
            <a:r>
              <a:rPr lang="en-CA" dirty="0"/>
              <a:t> = "English";</a:t>
            </a:r>
          </a:p>
          <a:p>
            <a:r>
              <a:rPr lang="en-CA" dirty="0"/>
              <a:t>To add a new property to a constructor, you must add it to the constructor function:</a:t>
            </a:r>
          </a:p>
          <a:p>
            <a:r>
              <a:rPr lang="en-CA" dirty="0"/>
              <a:t>Example</a:t>
            </a:r>
          </a:p>
          <a:p>
            <a:pPr lvl="1"/>
            <a:r>
              <a:rPr lang="en-CA" dirty="0"/>
              <a:t>function Person(first, last, age, </a:t>
            </a:r>
            <a:r>
              <a:rPr lang="en-CA" dirty="0" err="1"/>
              <a:t>eyecolor</a:t>
            </a:r>
            <a:r>
              <a:rPr lang="en-CA" dirty="0"/>
              <a:t>) {</a:t>
            </a:r>
            <a:br>
              <a:rPr lang="en-CA" dirty="0"/>
            </a:br>
            <a:r>
              <a:rPr lang="en-CA" dirty="0"/>
              <a:t>    </a:t>
            </a:r>
            <a:r>
              <a:rPr lang="en-CA" dirty="0" err="1"/>
              <a:t>this.firstName</a:t>
            </a:r>
            <a:r>
              <a:rPr lang="en-CA" dirty="0"/>
              <a:t> = first;</a:t>
            </a:r>
            <a:br>
              <a:rPr lang="en-CA" dirty="0"/>
            </a:br>
            <a:r>
              <a:rPr lang="en-CA" dirty="0"/>
              <a:t>    </a:t>
            </a:r>
            <a:r>
              <a:rPr lang="en-CA" dirty="0" err="1"/>
              <a:t>this.lastName</a:t>
            </a:r>
            <a:r>
              <a:rPr lang="en-CA" dirty="0"/>
              <a:t> = last;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a:t>
            </a:r>
            <a:r>
              <a:rPr lang="en-CA" dirty="0" err="1"/>
              <a:t>eyecolor</a:t>
            </a:r>
            <a:r>
              <a:rPr lang="en-CA" dirty="0"/>
              <a:t>;</a:t>
            </a:r>
            <a:br>
              <a:rPr lang="en-CA" dirty="0"/>
            </a:br>
            <a:r>
              <a:rPr lang="en-CA" dirty="0"/>
              <a:t>    </a:t>
            </a:r>
            <a:r>
              <a:rPr lang="en-CA" dirty="0" err="1"/>
              <a:t>this.nationality</a:t>
            </a:r>
            <a:r>
              <a:rPr lang="en-CA" dirty="0"/>
              <a:t> = "English";</a:t>
            </a:r>
            <a:br>
              <a:rPr lang="en-CA" dirty="0"/>
            </a:br>
            <a:r>
              <a:rPr lang="en-CA" dirty="0"/>
              <a:t>}</a:t>
            </a:r>
          </a:p>
          <a:p>
            <a:r>
              <a:rPr lang="en-CA" dirty="0"/>
              <a:t>This way object properties can have default values.</a:t>
            </a:r>
          </a:p>
          <a:p>
            <a:endParaRPr lang="en-US" dirty="0"/>
          </a:p>
        </p:txBody>
      </p:sp>
    </p:spTree>
    <p:extLst>
      <p:ext uri="{BB962C8B-B14F-4D97-AF65-F5344CB8AC3E}">
        <p14:creationId xmlns:p14="http://schemas.microsoft.com/office/powerpoint/2010/main" val="1482226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Adding a Method to a Constructor</a:t>
            </a:r>
            <a:endParaRPr lang="en-US" dirty="0"/>
          </a:p>
        </p:txBody>
      </p:sp>
      <p:sp>
        <p:nvSpPr>
          <p:cNvPr id="3" name="Content Placeholder 2"/>
          <p:cNvSpPr>
            <a:spLocks noGrp="1"/>
          </p:cNvSpPr>
          <p:nvPr>
            <p:ph idx="1"/>
          </p:nvPr>
        </p:nvSpPr>
        <p:spPr/>
        <p:txBody>
          <a:bodyPr>
            <a:normAutofit/>
          </a:bodyPr>
          <a:lstStyle/>
          <a:p>
            <a:r>
              <a:rPr lang="en-CA" dirty="0"/>
              <a:t>Your constructor function can also define methods:</a:t>
            </a:r>
          </a:p>
          <a:p>
            <a:r>
              <a:rPr lang="en-CA" dirty="0"/>
              <a:t>Example</a:t>
            </a:r>
          </a:p>
          <a:p>
            <a:pPr lvl="1"/>
            <a:r>
              <a:rPr lang="en-CA" dirty="0"/>
              <a:t>function Person(first, last, age, </a:t>
            </a:r>
            <a:r>
              <a:rPr lang="en-CA" dirty="0" err="1"/>
              <a:t>eyecolor</a:t>
            </a:r>
            <a:r>
              <a:rPr lang="en-CA" dirty="0"/>
              <a:t>) {</a:t>
            </a:r>
            <a:br>
              <a:rPr lang="en-CA" dirty="0"/>
            </a:br>
            <a:r>
              <a:rPr lang="en-CA" dirty="0"/>
              <a:t>    </a:t>
            </a:r>
            <a:r>
              <a:rPr lang="en-CA" dirty="0" err="1"/>
              <a:t>this.firstName</a:t>
            </a:r>
            <a:r>
              <a:rPr lang="en-CA" dirty="0"/>
              <a:t> = first;</a:t>
            </a:r>
            <a:br>
              <a:rPr lang="en-CA" dirty="0"/>
            </a:br>
            <a:r>
              <a:rPr lang="en-CA" dirty="0"/>
              <a:t>    </a:t>
            </a:r>
            <a:r>
              <a:rPr lang="en-CA" dirty="0" err="1"/>
              <a:t>this.lastName</a:t>
            </a:r>
            <a:r>
              <a:rPr lang="en-CA" dirty="0"/>
              <a:t> = last;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a:t>
            </a:r>
            <a:r>
              <a:rPr lang="en-CA" dirty="0" err="1"/>
              <a:t>eyecolor</a:t>
            </a:r>
            <a:r>
              <a:rPr lang="en-CA" dirty="0"/>
              <a:t>;</a:t>
            </a:r>
            <a:br>
              <a:rPr lang="en-CA" dirty="0"/>
            </a:br>
            <a:r>
              <a:rPr lang="en-CA" dirty="0"/>
              <a:t>    this.name = function() {return </a:t>
            </a:r>
            <a:r>
              <a:rPr lang="en-CA" dirty="0" err="1"/>
              <a:t>this.firstName</a:t>
            </a:r>
            <a:r>
              <a:rPr lang="en-CA" dirty="0"/>
              <a:t> + " " + </a:t>
            </a:r>
            <a:r>
              <a:rPr lang="en-CA" dirty="0" err="1"/>
              <a:t>this.lastName</a:t>
            </a:r>
            <a:r>
              <a:rPr lang="en-CA" dirty="0"/>
              <a:t>;};</a:t>
            </a:r>
            <a:br>
              <a:rPr lang="en-CA" dirty="0"/>
            </a:br>
            <a:r>
              <a:rPr lang="en-CA" dirty="0"/>
              <a:t>}</a:t>
            </a:r>
          </a:p>
          <a:p>
            <a:r>
              <a:rPr lang="en-CA" dirty="0"/>
              <a:t>You cannot add a new method to an object constructor the same way you add a new method to an existing object.</a:t>
            </a:r>
          </a:p>
          <a:p>
            <a:endParaRPr lang="en-US" dirty="0"/>
          </a:p>
        </p:txBody>
      </p:sp>
    </p:spTree>
    <p:extLst>
      <p:ext uri="{BB962C8B-B14F-4D97-AF65-F5344CB8AC3E}">
        <p14:creationId xmlns:p14="http://schemas.microsoft.com/office/powerpoint/2010/main" val="32891605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CA" dirty="0"/>
              <a:t>Adding methods to an object must be done inside the constructor function:</a:t>
            </a:r>
          </a:p>
          <a:p>
            <a:r>
              <a:rPr lang="en-CA" dirty="0"/>
              <a:t>Example</a:t>
            </a:r>
          </a:p>
          <a:p>
            <a:pPr lvl="1"/>
            <a:r>
              <a:rPr lang="en-CA" dirty="0"/>
              <a:t>function Person(</a:t>
            </a:r>
            <a:r>
              <a:rPr lang="en-CA" dirty="0" err="1"/>
              <a:t>firstName</a:t>
            </a:r>
            <a:r>
              <a:rPr lang="en-CA" dirty="0"/>
              <a:t>, </a:t>
            </a:r>
            <a:r>
              <a:rPr lang="en-CA" dirty="0" err="1"/>
              <a:t>lastName</a:t>
            </a:r>
            <a:r>
              <a:rPr lang="en-CA" dirty="0"/>
              <a:t>, age, </a:t>
            </a:r>
            <a:r>
              <a:rPr lang="en-CA" dirty="0" err="1"/>
              <a:t>eyeColor</a:t>
            </a:r>
            <a:r>
              <a:rPr lang="en-CA" dirty="0"/>
              <a:t>) {</a:t>
            </a:r>
            <a:br>
              <a:rPr lang="en-CA" dirty="0"/>
            </a:br>
            <a:r>
              <a:rPr lang="en-CA" dirty="0"/>
              <a:t>    </a:t>
            </a:r>
            <a:r>
              <a:rPr lang="en-CA" dirty="0" err="1"/>
              <a:t>this.firstName</a:t>
            </a:r>
            <a:r>
              <a:rPr lang="en-CA" dirty="0"/>
              <a:t> = </a:t>
            </a:r>
            <a:r>
              <a:rPr lang="en-CA" dirty="0" err="1"/>
              <a:t>firstName</a:t>
            </a:r>
            <a:r>
              <a:rPr lang="en-CA" dirty="0"/>
              <a:t>;  </a:t>
            </a:r>
            <a:br>
              <a:rPr lang="en-CA" dirty="0"/>
            </a:br>
            <a:r>
              <a:rPr lang="en-CA" dirty="0"/>
              <a:t>    </a:t>
            </a:r>
            <a:r>
              <a:rPr lang="en-CA" dirty="0" err="1"/>
              <a:t>this.lastName</a:t>
            </a:r>
            <a:r>
              <a:rPr lang="en-CA" dirty="0"/>
              <a:t> = </a:t>
            </a:r>
            <a:r>
              <a:rPr lang="en-CA" dirty="0" err="1"/>
              <a:t>lastName</a:t>
            </a:r>
            <a:r>
              <a:rPr lang="en-CA" dirty="0"/>
              <a: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a:t>
            </a:r>
            <a:r>
              <a:rPr lang="en-CA" dirty="0" err="1"/>
              <a:t>eyeColor</a:t>
            </a:r>
            <a:r>
              <a:rPr lang="en-CA" dirty="0"/>
              <a:t>;</a:t>
            </a:r>
            <a:br>
              <a:rPr lang="en-CA" dirty="0"/>
            </a:br>
            <a:r>
              <a:rPr lang="en-CA" dirty="0"/>
              <a:t>    </a:t>
            </a:r>
            <a:r>
              <a:rPr lang="en-CA" dirty="0" err="1"/>
              <a:t>this.changeName</a:t>
            </a:r>
            <a:r>
              <a:rPr lang="en-CA" dirty="0"/>
              <a:t> = function (name) {</a:t>
            </a:r>
            <a:br>
              <a:rPr lang="en-CA" dirty="0"/>
            </a:br>
            <a:r>
              <a:rPr lang="en-CA" dirty="0"/>
              <a:t>        </a:t>
            </a:r>
            <a:r>
              <a:rPr lang="en-CA" dirty="0" err="1"/>
              <a:t>this.lastName</a:t>
            </a:r>
            <a:r>
              <a:rPr lang="en-CA" dirty="0"/>
              <a:t> = name;</a:t>
            </a:r>
            <a:br>
              <a:rPr lang="en-CA" dirty="0"/>
            </a:br>
            <a:r>
              <a:rPr lang="en-CA" dirty="0"/>
              <a:t>    };</a:t>
            </a:r>
            <a:br>
              <a:rPr lang="en-CA" dirty="0"/>
            </a:br>
            <a:r>
              <a:rPr lang="en-CA" dirty="0"/>
              <a:t>}</a:t>
            </a:r>
          </a:p>
          <a:p>
            <a:r>
              <a:rPr lang="en-CA" dirty="0"/>
              <a:t>The </a:t>
            </a:r>
            <a:r>
              <a:rPr lang="en-CA" dirty="0" err="1"/>
              <a:t>changeName</a:t>
            </a:r>
            <a:r>
              <a:rPr lang="en-CA" dirty="0"/>
              <a:t>() function assigns the value of name to the person's </a:t>
            </a:r>
            <a:r>
              <a:rPr lang="en-CA" dirty="0" err="1"/>
              <a:t>lastName</a:t>
            </a:r>
            <a:r>
              <a:rPr lang="en-CA" dirty="0"/>
              <a:t> property.</a:t>
            </a:r>
          </a:p>
          <a:p>
            <a:r>
              <a:rPr lang="en-CA" dirty="0"/>
              <a:t>Now You Can Try:</a:t>
            </a:r>
          </a:p>
          <a:p>
            <a:pPr lvl="1"/>
            <a:r>
              <a:rPr lang="en-CA" dirty="0" err="1"/>
              <a:t>myMother.changeName</a:t>
            </a:r>
            <a:r>
              <a:rPr lang="en-CA" dirty="0"/>
              <a:t>("Doe");</a:t>
            </a:r>
          </a:p>
          <a:p>
            <a:r>
              <a:rPr lang="en-CA" dirty="0"/>
              <a:t>JavaScript knows which person you are talking about by "substituting" </a:t>
            </a:r>
            <a:r>
              <a:rPr lang="en-CA" b="1" dirty="0"/>
              <a:t>this</a:t>
            </a:r>
            <a:r>
              <a:rPr lang="en-CA" dirty="0"/>
              <a:t> with </a:t>
            </a:r>
            <a:r>
              <a:rPr lang="en-CA" b="1" dirty="0" err="1"/>
              <a:t>myMother</a:t>
            </a:r>
            <a:r>
              <a:rPr lang="en-CA" dirty="0"/>
              <a:t>.</a:t>
            </a:r>
          </a:p>
          <a:p>
            <a:endParaRPr lang="en-US" dirty="0"/>
          </a:p>
        </p:txBody>
      </p:sp>
    </p:spTree>
    <p:extLst>
      <p:ext uri="{BB962C8B-B14F-4D97-AF65-F5344CB8AC3E}">
        <p14:creationId xmlns:p14="http://schemas.microsoft.com/office/powerpoint/2010/main" val="2541278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JavaScript Constructors</a:t>
            </a:r>
          </a:p>
        </p:txBody>
      </p:sp>
      <p:sp>
        <p:nvSpPr>
          <p:cNvPr id="3" name="Content Placeholder 2"/>
          <p:cNvSpPr>
            <a:spLocks noGrp="1"/>
          </p:cNvSpPr>
          <p:nvPr>
            <p:ph idx="1"/>
          </p:nvPr>
        </p:nvSpPr>
        <p:spPr/>
        <p:txBody>
          <a:bodyPr>
            <a:normAutofit lnSpcReduction="10000"/>
          </a:bodyPr>
          <a:lstStyle/>
          <a:p>
            <a:r>
              <a:rPr lang="en-CA" dirty="0"/>
              <a:t>JavaScript has built-in constructors for native objects:</a:t>
            </a:r>
          </a:p>
          <a:p>
            <a:r>
              <a:rPr lang="en-CA" dirty="0"/>
              <a:t>Example</a:t>
            </a:r>
          </a:p>
          <a:p>
            <a:pPr lvl="1"/>
            <a:r>
              <a:rPr lang="en-CA" dirty="0" err="1"/>
              <a:t>var</a:t>
            </a:r>
            <a:r>
              <a:rPr lang="en-CA" dirty="0"/>
              <a:t> x1 = new Object();    // A new Object </a:t>
            </a:r>
            <a:r>
              <a:rPr lang="en-CA" dirty="0" err="1"/>
              <a:t>object</a:t>
            </a:r>
            <a:br>
              <a:rPr lang="en-CA" dirty="0"/>
            </a:br>
            <a:r>
              <a:rPr lang="en-CA" dirty="0" err="1"/>
              <a:t>var</a:t>
            </a:r>
            <a:r>
              <a:rPr lang="en-CA" dirty="0"/>
              <a:t> x2 = new String();    // A new String object</a:t>
            </a:r>
            <a:br>
              <a:rPr lang="en-CA" dirty="0"/>
            </a:br>
            <a:r>
              <a:rPr lang="en-CA" dirty="0" err="1"/>
              <a:t>var</a:t>
            </a:r>
            <a:r>
              <a:rPr lang="en-CA" dirty="0"/>
              <a:t> x3 = new Number();    // A new Number object</a:t>
            </a:r>
            <a:br>
              <a:rPr lang="en-CA" dirty="0"/>
            </a:br>
            <a:r>
              <a:rPr lang="en-CA" dirty="0" err="1"/>
              <a:t>var</a:t>
            </a:r>
            <a:r>
              <a:rPr lang="en-CA" dirty="0"/>
              <a:t> x4 = new Boolean();   // A new Boolean object</a:t>
            </a:r>
            <a:br>
              <a:rPr lang="en-CA" dirty="0"/>
            </a:br>
            <a:r>
              <a:rPr lang="en-CA" dirty="0" err="1"/>
              <a:t>var</a:t>
            </a:r>
            <a:r>
              <a:rPr lang="en-CA" dirty="0"/>
              <a:t> x5 = new Array();     // A new Array object</a:t>
            </a:r>
            <a:br>
              <a:rPr lang="en-CA" dirty="0"/>
            </a:br>
            <a:r>
              <a:rPr lang="en-CA" dirty="0" err="1"/>
              <a:t>var</a:t>
            </a:r>
            <a:r>
              <a:rPr lang="en-CA" dirty="0"/>
              <a:t> x6 = new </a:t>
            </a:r>
            <a:r>
              <a:rPr lang="en-CA" dirty="0" err="1"/>
              <a:t>RegExp</a:t>
            </a:r>
            <a:r>
              <a:rPr lang="en-CA" dirty="0"/>
              <a:t>();    // A new </a:t>
            </a:r>
            <a:r>
              <a:rPr lang="en-CA" dirty="0" err="1"/>
              <a:t>RegExp</a:t>
            </a:r>
            <a:r>
              <a:rPr lang="en-CA" dirty="0"/>
              <a:t> object</a:t>
            </a:r>
            <a:br>
              <a:rPr lang="en-CA" dirty="0"/>
            </a:br>
            <a:r>
              <a:rPr lang="en-CA" dirty="0" err="1"/>
              <a:t>var</a:t>
            </a:r>
            <a:r>
              <a:rPr lang="en-CA" dirty="0"/>
              <a:t> x7 = new Function();  // A new Function object</a:t>
            </a:r>
            <a:br>
              <a:rPr lang="en-CA" dirty="0"/>
            </a:br>
            <a:r>
              <a:rPr lang="en-CA" dirty="0" err="1"/>
              <a:t>var</a:t>
            </a:r>
            <a:r>
              <a:rPr lang="en-CA" dirty="0"/>
              <a:t> x8 = new Date();      // A new Date object</a:t>
            </a:r>
          </a:p>
          <a:p>
            <a:r>
              <a:rPr lang="en-CA" dirty="0"/>
              <a:t>The Math() object is not in the list. Math is a global object. The new keyword cannot be used on Math.</a:t>
            </a:r>
          </a:p>
          <a:p>
            <a:endParaRPr lang="en-US" dirty="0"/>
          </a:p>
        </p:txBody>
      </p:sp>
    </p:spTree>
    <p:extLst>
      <p:ext uri="{BB962C8B-B14F-4D97-AF65-F5344CB8AC3E}">
        <p14:creationId xmlns:p14="http://schemas.microsoft.com/office/powerpoint/2010/main" val="1169369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Did You Know?</a:t>
            </a:r>
          </a:p>
        </p:txBody>
      </p:sp>
      <p:sp>
        <p:nvSpPr>
          <p:cNvPr id="3" name="Content Placeholder 2"/>
          <p:cNvSpPr>
            <a:spLocks noGrp="1"/>
          </p:cNvSpPr>
          <p:nvPr>
            <p:ph idx="1"/>
          </p:nvPr>
        </p:nvSpPr>
        <p:spPr/>
        <p:txBody>
          <a:bodyPr>
            <a:normAutofit fontScale="92500" lnSpcReduction="20000"/>
          </a:bodyPr>
          <a:lstStyle/>
          <a:p>
            <a:r>
              <a:rPr lang="en-CA" dirty="0"/>
              <a:t>As you can see above, JavaScript has object versions of the primitive data types String, Number, and Boolean. But there is no reason to create complex objects. Primitive values are much faster.</a:t>
            </a:r>
          </a:p>
          <a:p>
            <a:r>
              <a:rPr lang="en-CA" dirty="0"/>
              <a:t>ALSO:</a:t>
            </a:r>
          </a:p>
          <a:p>
            <a:r>
              <a:rPr lang="en-CA" dirty="0"/>
              <a:t>Use object literals </a:t>
            </a:r>
            <a:r>
              <a:rPr lang="en-CA" b="1" dirty="0"/>
              <a:t>{}</a:t>
            </a:r>
            <a:r>
              <a:rPr lang="en-CA" dirty="0"/>
              <a:t> instead of new Object().</a:t>
            </a:r>
          </a:p>
          <a:p>
            <a:r>
              <a:rPr lang="en-CA" dirty="0"/>
              <a:t>Use string literals </a:t>
            </a:r>
            <a:r>
              <a:rPr lang="en-CA" b="1" dirty="0"/>
              <a:t>""</a:t>
            </a:r>
            <a:r>
              <a:rPr lang="en-CA" dirty="0"/>
              <a:t> instead of new String().</a:t>
            </a:r>
          </a:p>
          <a:p>
            <a:r>
              <a:rPr lang="en-CA" dirty="0"/>
              <a:t>Use number literals </a:t>
            </a:r>
            <a:r>
              <a:rPr lang="en-CA" b="1" dirty="0"/>
              <a:t>12345</a:t>
            </a:r>
            <a:r>
              <a:rPr lang="en-CA" dirty="0"/>
              <a:t> instead of new Number().</a:t>
            </a:r>
          </a:p>
          <a:p>
            <a:r>
              <a:rPr lang="en-CA" dirty="0"/>
              <a:t>Use </a:t>
            </a:r>
            <a:r>
              <a:rPr lang="en-CA" dirty="0" err="1"/>
              <a:t>boolean</a:t>
            </a:r>
            <a:r>
              <a:rPr lang="en-CA" dirty="0"/>
              <a:t> literals </a:t>
            </a:r>
            <a:r>
              <a:rPr lang="en-CA" b="1" dirty="0"/>
              <a:t>true / false</a:t>
            </a:r>
            <a:r>
              <a:rPr lang="en-CA" dirty="0"/>
              <a:t> instead of new Boolean().</a:t>
            </a:r>
          </a:p>
          <a:p>
            <a:r>
              <a:rPr lang="en-CA" dirty="0"/>
              <a:t>Use array literals </a:t>
            </a:r>
            <a:r>
              <a:rPr lang="en-CA" b="1" dirty="0"/>
              <a:t>[]</a:t>
            </a:r>
            <a:r>
              <a:rPr lang="en-CA" dirty="0"/>
              <a:t> instead of new Array().</a:t>
            </a:r>
          </a:p>
          <a:p>
            <a:r>
              <a:rPr lang="en-CA" dirty="0"/>
              <a:t>Use pattern literals </a:t>
            </a:r>
            <a:r>
              <a:rPr lang="en-CA" b="1" dirty="0"/>
              <a:t>/()/</a:t>
            </a:r>
            <a:r>
              <a:rPr lang="en-CA" dirty="0"/>
              <a:t> instead of new </a:t>
            </a:r>
            <a:r>
              <a:rPr lang="en-CA" dirty="0" err="1"/>
              <a:t>RexExp</a:t>
            </a:r>
            <a:r>
              <a:rPr lang="en-CA" dirty="0"/>
              <a:t>().</a:t>
            </a:r>
          </a:p>
          <a:p>
            <a:r>
              <a:rPr lang="en-CA" dirty="0"/>
              <a:t>Use </a:t>
            </a:r>
            <a:r>
              <a:rPr lang="en-CA"/>
              <a:t>function expressions </a:t>
            </a:r>
            <a:r>
              <a:rPr lang="en-CA" b="1" dirty="0"/>
              <a:t>() {}</a:t>
            </a:r>
            <a:r>
              <a:rPr lang="en-CA" dirty="0"/>
              <a:t> instead of new Function().</a:t>
            </a:r>
          </a:p>
          <a:p>
            <a:endParaRPr lang="en-US" dirty="0"/>
          </a:p>
        </p:txBody>
      </p:sp>
    </p:spTree>
    <p:extLst>
      <p:ext uri="{BB962C8B-B14F-4D97-AF65-F5344CB8AC3E}">
        <p14:creationId xmlns:p14="http://schemas.microsoft.com/office/powerpoint/2010/main" val="83999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a:t>
            </a:r>
          </a:p>
          <a:p>
            <a:pPr lvl="1"/>
            <a:r>
              <a:rPr lang="en-US" dirty="0" err="1"/>
              <a:t>var</a:t>
            </a:r>
            <a:r>
              <a:rPr lang="en-US" dirty="0"/>
              <a:t> x1 = {};            // new object</a:t>
            </a:r>
            <a:br>
              <a:rPr lang="en-US" dirty="0"/>
            </a:br>
            <a:r>
              <a:rPr lang="en-US" dirty="0" err="1"/>
              <a:t>var</a:t>
            </a:r>
            <a:r>
              <a:rPr lang="en-US" dirty="0"/>
              <a:t> x2 = "";            // new primitive string</a:t>
            </a:r>
            <a:br>
              <a:rPr lang="en-US" dirty="0"/>
            </a:br>
            <a:r>
              <a:rPr lang="en-US" dirty="0" err="1"/>
              <a:t>var</a:t>
            </a:r>
            <a:r>
              <a:rPr lang="en-US" dirty="0"/>
              <a:t> x3 = 0;             // new primitive number</a:t>
            </a:r>
            <a:br>
              <a:rPr lang="en-US" dirty="0"/>
            </a:br>
            <a:r>
              <a:rPr lang="en-US" dirty="0" err="1"/>
              <a:t>var</a:t>
            </a:r>
            <a:r>
              <a:rPr lang="en-US" dirty="0"/>
              <a:t> x4 = false;         // new primitive </a:t>
            </a:r>
            <a:r>
              <a:rPr lang="en-US" dirty="0" err="1"/>
              <a:t>boolean</a:t>
            </a:r>
            <a:br>
              <a:rPr lang="en-US" dirty="0"/>
            </a:br>
            <a:r>
              <a:rPr lang="en-US" dirty="0" err="1"/>
              <a:t>var</a:t>
            </a:r>
            <a:r>
              <a:rPr lang="en-US" dirty="0"/>
              <a:t> x5 = [];            // new array object</a:t>
            </a:r>
            <a:br>
              <a:rPr lang="en-US" dirty="0"/>
            </a:br>
            <a:r>
              <a:rPr lang="en-US" dirty="0" err="1"/>
              <a:t>var</a:t>
            </a:r>
            <a:r>
              <a:rPr lang="en-US" dirty="0"/>
              <a:t> x6 = /()/           // new </a:t>
            </a:r>
            <a:r>
              <a:rPr lang="en-US" dirty="0" err="1"/>
              <a:t>regexp</a:t>
            </a:r>
            <a:r>
              <a:rPr lang="en-US" dirty="0"/>
              <a:t> object</a:t>
            </a:r>
            <a:br>
              <a:rPr lang="en-US" dirty="0"/>
            </a:br>
            <a:r>
              <a:rPr lang="en-US" dirty="0" err="1"/>
              <a:t>var</a:t>
            </a:r>
            <a:r>
              <a:rPr lang="en-US" dirty="0"/>
              <a:t> x7 = function(){};  // new function object</a:t>
            </a:r>
          </a:p>
          <a:p>
            <a:endParaRPr lang="en-US" dirty="0"/>
          </a:p>
        </p:txBody>
      </p:sp>
    </p:spTree>
    <p:extLst>
      <p:ext uri="{BB962C8B-B14F-4D97-AF65-F5344CB8AC3E}">
        <p14:creationId xmlns:p14="http://schemas.microsoft.com/office/powerpoint/2010/main" val="3742354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9709"/>
            <a:ext cx="10515600" cy="5387254"/>
          </a:xfrm>
        </p:spPr>
        <p:txBody>
          <a:bodyPr>
            <a:normAutofit lnSpcReduction="10000"/>
          </a:bodyPr>
          <a:lstStyle/>
          <a:p>
            <a:r>
              <a:rPr lang="en-CA" b="1" u="sng" dirty="0"/>
              <a:t>String Objects</a:t>
            </a:r>
          </a:p>
          <a:p>
            <a:r>
              <a:rPr lang="en-CA" dirty="0"/>
              <a:t>Normally, strings are created as primitives: </a:t>
            </a:r>
            <a:r>
              <a:rPr lang="en-CA" b="1" dirty="0" err="1"/>
              <a:t>var</a:t>
            </a:r>
            <a:r>
              <a:rPr lang="en-CA" b="1" dirty="0"/>
              <a:t> </a:t>
            </a:r>
            <a:r>
              <a:rPr lang="en-CA" b="1" dirty="0" err="1"/>
              <a:t>firstName</a:t>
            </a:r>
            <a:r>
              <a:rPr lang="en-CA" b="1" dirty="0"/>
              <a:t> = "John"</a:t>
            </a:r>
            <a:endParaRPr lang="en-CA" dirty="0"/>
          </a:p>
          <a:p>
            <a:r>
              <a:rPr lang="en-CA" dirty="0"/>
              <a:t>But strings can also be created as objects using the </a:t>
            </a:r>
            <a:r>
              <a:rPr lang="en-CA" b="1" dirty="0"/>
              <a:t>new</a:t>
            </a:r>
            <a:r>
              <a:rPr lang="en-CA" dirty="0"/>
              <a:t> keyword: </a:t>
            </a:r>
            <a:r>
              <a:rPr lang="en-CA" b="1" dirty="0" err="1"/>
              <a:t>var</a:t>
            </a:r>
            <a:r>
              <a:rPr lang="en-CA" b="1" dirty="0"/>
              <a:t> </a:t>
            </a:r>
            <a:r>
              <a:rPr lang="en-CA" b="1" dirty="0" err="1"/>
              <a:t>firstName</a:t>
            </a:r>
            <a:r>
              <a:rPr lang="en-CA" b="1" dirty="0"/>
              <a:t> = new String("John")</a:t>
            </a:r>
            <a:endParaRPr lang="en-CA" dirty="0"/>
          </a:p>
          <a:p>
            <a:r>
              <a:rPr lang="en-CA" b="1" u="sng" dirty="0"/>
              <a:t>Number Objects</a:t>
            </a:r>
          </a:p>
          <a:p>
            <a:r>
              <a:rPr lang="en-CA" dirty="0"/>
              <a:t>Normally, numbers are created as primitives: </a:t>
            </a:r>
            <a:r>
              <a:rPr lang="en-CA" b="1" dirty="0" err="1"/>
              <a:t>var</a:t>
            </a:r>
            <a:r>
              <a:rPr lang="en-CA" b="1" dirty="0"/>
              <a:t> x = 123</a:t>
            </a:r>
            <a:endParaRPr lang="en-CA" dirty="0"/>
          </a:p>
          <a:p>
            <a:r>
              <a:rPr lang="en-CA" dirty="0"/>
              <a:t>But numbers can also be created as objects using the </a:t>
            </a:r>
            <a:r>
              <a:rPr lang="en-CA" b="1" dirty="0"/>
              <a:t>new</a:t>
            </a:r>
            <a:r>
              <a:rPr lang="en-CA" dirty="0"/>
              <a:t> keyword: </a:t>
            </a:r>
            <a:r>
              <a:rPr lang="en-CA" b="1" dirty="0" err="1"/>
              <a:t>var</a:t>
            </a:r>
            <a:r>
              <a:rPr lang="en-CA" b="1" dirty="0"/>
              <a:t> x = new Number(123)</a:t>
            </a:r>
            <a:endParaRPr lang="en-CA" dirty="0"/>
          </a:p>
          <a:p>
            <a:r>
              <a:rPr lang="en-CA" b="1" u="sng" dirty="0"/>
              <a:t>Boolean Objects</a:t>
            </a:r>
          </a:p>
          <a:p>
            <a:r>
              <a:rPr lang="en-CA" dirty="0"/>
              <a:t>Normally, </a:t>
            </a:r>
            <a:r>
              <a:rPr lang="en-CA" dirty="0" err="1"/>
              <a:t>booleans</a:t>
            </a:r>
            <a:r>
              <a:rPr lang="en-CA" dirty="0"/>
              <a:t> are created as primitives: </a:t>
            </a:r>
            <a:r>
              <a:rPr lang="en-CA" b="1" dirty="0" err="1"/>
              <a:t>var</a:t>
            </a:r>
            <a:r>
              <a:rPr lang="en-CA" b="1" dirty="0"/>
              <a:t> x = false</a:t>
            </a:r>
            <a:endParaRPr lang="en-CA" dirty="0"/>
          </a:p>
          <a:p>
            <a:r>
              <a:rPr lang="en-CA" dirty="0"/>
              <a:t>But </a:t>
            </a:r>
            <a:r>
              <a:rPr lang="en-CA" dirty="0" err="1"/>
              <a:t>booleans</a:t>
            </a:r>
            <a:r>
              <a:rPr lang="en-CA" dirty="0"/>
              <a:t> can also be created as objects using the </a:t>
            </a:r>
            <a:r>
              <a:rPr lang="en-CA" b="1" dirty="0"/>
              <a:t>new</a:t>
            </a:r>
            <a:r>
              <a:rPr lang="en-CA" dirty="0"/>
              <a:t> keyword: </a:t>
            </a:r>
            <a:r>
              <a:rPr lang="en-CA" b="1" dirty="0" err="1"/>
              <a:t>var</a:t>
            </a:r>
            <a:r>
              <a:rPr lang="en-CA" b="1" dirty="0"/>
              <a:t> x = new Boolean(false)</a:t>
            </a:r>
            <a:endParaRPr lang="en-CA" dirty="0"/>
          </a:p>
          <a:p>
            <a:endParaRPr lang="en-CA" dirty="0"/>
          </a:p>
        </p:txBody>
      </p:sp>
    </p:spTree>
    <p:extLst>
      <p:ext uri="{BB962C8B-B14F-4D97-AF65-F5344CB8AC3E}">
        <p14:creationId xmlns:p14="http://schemas.microsoft.com/office/powerpoint/2010/main" val="3698966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JavaScript Object Prototypes</a:t>
            </a:r>
            <a:br>
              <a:rPr lang="en-US" dirty="0"/>
            </a:br>
            <a:endParaRPr lang="en-US" dirty="0"/>
          </a:p>
        </p:txBody>
      </p:sp>
      <p:sp>
        <p:nvSpPr>
          <p:cNvPr id="5" name="Text Placeholder 4"/>
          <p:cNvSpPr>
            <a:spLocks noGrp="1"/>
          </p:cNvSpPr>
          <p:nvPr>
            <p:ph type="body" idx="1"/>
          </p:nvPr>
        </p:nvSpPr>
        <p:spPr/>
        <p:txBody>
          <a:bodyPr/>
          <a:lstStyle/>
          <a:p>
            <a:r>
              <a:rPr lang="en-US" dirty="0">
                <a:solidFill>
                  <a:schemeClr val="bg1"/>
                </a:solidFill>
              </a:rPr>
              <a:t>JavaScript &amp; jQuery</a:t>
            </a:r>
          </a:p>
          <a:p>
            <a:endParaRPr lang="en-US" dirty="0"/>
          </a:p>
        </p:txBody>
      </p:sp>
    </p:spTree>
    <p:extLst>
      <p:ext uri="{BB962C8B-B14F-4D97-AF65-F5344CB8AC3E}">
        <p14:creationId xmlns:p14="http://schemas.microsoft.com/office/powerpoint/2010/main" val="2346654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Object Prototypes</a:t>
            </a:r>
          </a:p>
        </p:txBody>
      </p:sp>
      <p:sp>
        <p:nvSpPr>
          <p:cNvPr id="3" name="Content Placeholder 2"/>
          <p:cNvSpPr>
            <a:spLocks noGrp="1"/>
          </p:cNvSpPr>
          <p:nvPr>
            <p:ph idx="1"/>
          </p:nvPr>
        </p:nvSpPr>
        <p:spPr/>
        <p:txBody>
          <a:bodyPr>
            <a:normAutofit lnSpcReduction="10000"/>
          </a:bodyPr>
          <a:lstStyle/>
          <a:p>
            <a:r>
              <a:rPr lang="en-CA" dirty="0"/>
              <a:t>All JavaScript objects inherit properties and methods from a prototype.</a:t>
            </a:r>
          </a:p>
          <a:p>
            <a:r>
              <a:rPr lang="en-CA" dirty="0"/>
              <a:t>In the previous section we learned how to use an </a:t>
            </a:r>
            <a:r>
              <a:rPr lang="en-CA" b="1" dirty="0"/>
              <a:t>object constructor</a:t>
            </a:r>
            <a:r>
              <a:rPr lang="en-CA" dirty="0"/>
              <a:t>:</a:t>
            </a:r>
          </a:p>
          <a:p>
            <a:r>
              <a:rPr lang="en-CA" dirty="0"/>
              <a:t>Example</a:t>
            </a:r>
          </a:p>
          <a:p>
            <a:pPr lvl="1"/>
            <a:r>
              <a:rPr lang="en-CA" dirty="0"/>
              <a:t>function Person(first, last, age, </a:t>
            </a:r>
            <a:r>
              <a:rPr lang="en-CA" dirty="0" err="1"/>
              <a:t>eyecolor</a:t>
            </a:r>
            <a:r>
              <a:rPr lang="en-CA" dirty="0"/>
              <a:t>) {</a:t>
            </a:r>
            <a:br>
              <a:rPr lang="en-CA" dirty="0"/>
            </a:br>
            <a:r>
              <a:rPr lang="en-CA" dirty="0"/>
              <a:t>    </a:t>
            </a:r>
            <a:r>
              <a:rPr lang="en-CA" dirty="0" err="1"/>
              <a:t>this.firstName</a:t>
            </a:r>
            <a:r>
              <a:rPr lang="en-CA" dirty="0"/>
              <a:t> = first;</a:t>
            </a:r>
            <a:br>
              <a:rPr lang="en-CA" dirty="0"/>
            </a:br>
            <a:r>
              <a:rPr lang="en-CA" dirty="0"/>
              <a:t>    </a:t>
            </a:r>
            <a:r>
              <a:rPr lang="en-CA" dirty="0" err="1"/>
              <a:t>this.lastName</a:t>
            </a:r>
            <a:r>
              <a:rPr lang="en-CA" dirty="0"/>
              <a:t> = last;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a:t>
            </a:r>
            <a:r>
              <a:rPr lang="en-CA" dirty="0" err="1"/>
              <a:t>eyecolor</a:t>
            </a:r>
            <a:r>
              <a:rPr lang="en-CA" dirty="0"/>
              <a:t>;</a:t>
            </a:r>
            <a:br>
              <a:rPr lang="en-CA" dirty="0"/>
            </a:br>
            <a:r>
              <a:rPr lang="en-CA" dirty="0"/>
              <a:t>}</a:t>
            </a:r>
            <a:br>
              <a:rPr lang="en-CA" dirty="0"/>
            </a:br>
            <a:r>
              <a:rPr lang="en-CA" dirty="0" err="1"/>
              <a:t>var</a:t>
            </a:r>
            <a:r>
              <a:rPr lang="en-CA" dirty="0"/>
              <a:t> </a:t>
            </a:r>
            <a:r>
              <a:rPr lang="en-CA" dirty="0" err="1"/>
              <a:t>myFather</a:t>
            </a:r>
            <a:r>
              <a:rPr lang="en-CA" dirty="0"/>
              <a:t> = new Person("John", "Doe", 50, "blue");</a:t>
            </a:r>
            <a:br>
              <a:rPr lang="en-CA" dirty="0"/>
            </a:br>
            <a:r>
              <a:rPr lang="en-CA" dirty="0" err="1"/>
              <a:t>var</a:t>
            </a:r>
            <a:r>
              <a:rPr lang="en-CA" dirty="0"/>
              <a:t> </a:t>
            </a:r>
            <a:r>
              <a:rPr lang="en-CA" dirty="0" err="1"/>
              <a:t>myMother</a:t>
            </a:r>
            <a:r>
              <a:rPr lang="en-CA" dirty="0"/>
              <a:t> = new Person("Sally", "Rally", 48, "green");</a:t>
            </a:r>
          </a:p>
          <a:p>
            <a:endParaRPr lang="en-US" dirty="0"/>
          </a:p>
        </p:txBody>
      </p:sp>
    </p:spTree>
    <p:extLst>
      <p:ext uri="{BB962C8B-B14F-4D97-AF65-F5344CB8AC3E}">
        <p14:creationId xmlns:p14="http://schemas.microsoft.com/office/powerpoint/2010/main" val="27298152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0902"/>
            <a:ext cx="10515600" cy="5196061"/>
          </a:xfrm>
        </p:spPr>
        <p:txBody>
          <a:bodyPr>
            <a:normAutofit lnSpcReduction="10000"/>
          </a:bodyPr>
          <a:lstStyle/>
          <a:p>
            <a:r>
              <a:rPr lang="en-CA" dirty="0"/>
              <a:t>We also learned that you can </a:t>
            </a:r>
            <a:r>
              <a:rPr lang="en-CA" b="1" dirty="0"/>
              <a:t>not</a:t>
            </a:r>
            <a:r>
              <a:rPr lang="en-CA" dirty="0"/>
              <a:t> add a new property to an existing object constructor:</a:t>
            </a:r>
          </a:p>
          <a:p>
            <a:r>
              <a:rPr lang="en-CA" dirty="0"/>
              <a:t>Example</a:t>
            </a:r>
          </a:p>
          <a:p>
            <a:pPr lvl="1"/>
            <a:r>
              <a:rPr lang="en-CA" dirty="0" err="1"/>
              <a:t>Person.nationality</a:t>
            </a:r>
            <a:r>
              <a:rPr lang="en-CA" dirty="0"/>
              <a:t> = "English";</a:t>
            </a:r>
          </a:p>
          <a:p>
            <a:r>
              <a:rPr lang="en-CA" dirty="0"/>
              <a:t>To add a new property to a constructor, you must add it to the constructor function:</a:t>
            </a:r>
          </a:p>
          <a:p>
            <a:r>
              <a:rPr lang="en-CA" dirty="0"/>
              <a:t>Example</a:t>
            </a:r>
          </a:p>
          <a:p>
            <a:pPr lvl="1"/>
            <a:r>
              <a:rPr lang="en-CA" dirty="0"/>
              <a:t>function Person(first, last, age, </a:t>
            </a:r>
            <a:r>
              <a:rPr lang="en-CA" dirty="0" err="1"/>
              <a:t>eyecolor</a:t>
            </a:r>
            <a:r>
              <a:rPr lang="en-CA" dirty="0"/>
              <a:t>) {</a:t>
            </a:r>
            <a:br>
              <a:rPr lang="en-CA" dirty="0"/>
            </a:br>
            <a:r>
              <a:rPr lang="en-CA" dirty="0"/>
              <a:t>    </a:t>
            </a:r>
            <a:r>
              <a:rPr lang="en-CA" dirty="0" err="1"/>
              <a:t>this.firstName</a:t>
            </a:r>
            <a:r>
              <a:rPr lang="en-CA" dirty="0"/>
              <a:t> = first;</a:t>
            </a:r>
            <a:br>
              <a:rPr lang="en-CA" dirty="0"/>
            </a:br>
            <a:r>
              <a:rPr lang="en-CA" dirty="0"/>
              <a:t>    </a:t>
            </a:r>
            <a:r>
              <a:rPr lang="en-CA" dirty="0" err="1"/>
              <a:t>this.lastName</a:t>
            </a:r>
            <a:r>
              <a:rPr lang="en-CA" dirty="0"/>
              <a:t> = last;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a:t>
            </a:r>
            <a:r>
              <a:rPr lang="en-CA" dirty="0" err="1"/>
              <a:t>eyecolor</a:t>
            </a:r>
            <a:r>
              <a:rPr lang="en-CA" dirty="0"/>
              <a:t>;</a:t>
            </a:r>
            <a:br>
              <a:rPr lang="en-CA" dirty="0"/>
            </a:br>
            <a:r>
              <a:rPr lang="en-CA" dirty="0"/>
              <a:t>    </a:t>
            </a:r>
            <a:r>
              <a:rPr lang="en-CA" dirty="0" err="1"/>
              <a:t>this.nationality</a:t>
            </a:r>
            <a:r>
              <a:rPr lang="en-CA" dirty="0"/>
              <a:t> = "English";</a:t>
            </a:r>
            <a:br>
              <a:rPr lang="en-CA" dirty="0"/>
            </a:br>
            <a:r>
              <a:rPr lang="en-CA" dirty="0"/>
              <a:t>}</a:t>
            </a:r>
          </a:p>
          <a:p>
            <a:endParaRPr lang="en-US" dirty="0"/>
          </a:p>
        </p:txBody>
      </p:sp>
    </p:spTree>
    <p:extLst>
      <p:ext uri="{BB962C8B-B14F-4D97-AF65-F5344CB8AC3E}">
        <p14:creationId xmlns:p14="http://schemas.microsoft.com/office/powerpoint/2010/main" val="2957508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Inheritance</a:t>
            </a:r>
          </a:p>
        </p:txBody>
      </p:sp>
      <p:sp>
        <p:nvSpPr>
          <p:cNvPr id="3" name="Content Placeholder 2"/>
          <p:cNvSpPr>
            <a:spLocks noGrp="1"/>
          </p:cNvSpPr>
          <p:nvPr>
            <p:ph idx="1"/>
          </p:nvPr>
        </p:nvSpPr>
        <p:spPr/>
        <p:txBody>
          <a:bodyPr>
            <a:normAutofit/>
          </a:bodyPr>
          <a:lstStyle/>
          <a:p>
            <a:r>
              <a:rPr lang="en-CA" dirty="0"/>
              <a:t>All JavaScript objects inherit properties and methods from a prototype.</a:t>
            </a:r>
          </a:p>
          <a:p>
            <a:r>
              <a:rPr lang="en-CA" dirty="0"/>
              <a:t>Date objects inherit from </a:t>
            </a:r>
            <a:r>
              <a:rPr lang="en-CA" dirty="0" err="1"/>
              <a:t>Date.prototype</a:t>
            </a:r>
            <a:r>
              <a:rPr lang="en-CA" dirty="0"/>
              <a:t>. Array objects inherit from </a:t>
            </a:r>
            <a:r>
              <a:rPr lang="en-CA" dirty="0" err="1"/>
              <a:t>Array.prototype</a:t>
            </a:r>
            <a:r>
              <a:rPr lang="en-CA" dirty="0"/>
              <a:t>. Person objects inherit from </a:t>
            </a:r>
            <a:r>
              <a:rPr lang="en-CA" dirty="0" err="1"/>
              <a:t>Person.prototype</a:t>
            </a:r>
            <a:r>
              <a:rPr lang="en-CA" dirty="0"/>
              <a:t>.</a:t>
            </a:r>
          </a:p>
          <a:p>
            <a:r>
              <a:rPr lang="en-CA" dirty="0"/>
              <a:t>The </a:t>
            </a:r>
            <a:r>
              <a:rPr lang="en-CA" dirty="0" err="1"/>
              <a:t>Object.prototype</a:t>
            </a:r>
            <a:r>
              <a:rPr lang="en-CA" dirty="0"/>
              <a:t> is on the top of the prototype inheritance chain:</a:t>
            </a:r>
          </a:p>
          <a:p>
            <a:pPr lvl="1"/>
            <a:r>
              <a:rPr lang="en-CA" dirty="0"/>
              <a:t>Date objects, Array objects, and Person objects inherit from </a:t>
            </a:r>
            <a:r>
              <a:rPr lang="en-CA" dirty="0" err="1"/>
              <a:t>Object.prototype</a:t>
            </a:r>
            <a:r>
              <a:rPr lang="en-CA" dirty="0"/>
              <a:t>.</a:t>
            </a:r>
            <a:endParaRPr lang="en-US" dirty="0"/>
          </a:p>
          <a:p>
            <a:endParaRPr lang="en-CA" dirty="0"/>
          </a:p>
        </p:txBody>
      </p:sp>
    </p:spTree>
    <p:extLst>
      <p:ext uri="{BB962C8B-B14F-4D97-AF65-F5344CB8AC3E}">
        <p14:creationId xmlns:p14="http://schemas.microsoft.com/office/powerpoint/2010/main" val="41775022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Adding Properties and Methods to Objects</a:t>
            </a:r>
            <a:endParaRPr lang="en-US" dirty="0"/>
          </a:p>
        </p:txBody>
      </p:sp>
      <p:sp>
        <p:nvSpPr>
          <p:cNvPr id="3" name="Content Placeholder 2"/>
          <p:cNvSpPr>
            <a:spLocks noGrp="1"/>
          </p:cNvSpPr>
          <p:nvPr>
            <p:ph idx="1"/>
          </p:nvPr>
        </p:nvSpPr>
        <p:spPr/>
        <p:txBody>
          <a:bodyPr/>
          <a:lstStyle/>
          <a:p>
            <a:r>
              <a:rPr lang="en-CA" dirty="0"/>
              <a:t>Sometimes you want to add new properties (or methods) to all existing objects of a given type.</a:t>
            </a:r>
          </a:p>
          <a:p>
            <a:r>
              <a:rPr lang="en-CA" dirty="0"/>
              <a:t>Sometimes you want to add new properties (or methods) to an object constructor.</a:t>
            </a:r>
            <a:endParaRPr lang="en-US" dirty="0"/>
          </a:p>
          <a:p>
            <a:endParaRPr lang="en-CA" dirty="0"/>
          </a:p>
        </p:txBody>
      </p:sp>
    </p:spTree>
    <p:extLst>
      <p:ext uri="{BB962C8B-B14F-4D97-AF65-F5344CB8AC3E}">
        <p14:creationId xmlns:p14="http://schemas.microsoft.com/office/powerpoint/2010/main" val="39296259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a:t>
            </a:r>
            <a:r>
              <a:rPr lang="en-US" b="1" dirty="0"/>
              <a:t>prototype</a:t>
            </a:r>
            <a:r>
              <a:rPr lang="en-US" dirty="0"/>
              <a:t> Property</a:t>
            </a:r>
          </a:p>
        </p:txBody>
      </p:sp>
      <p:sp>
        <p:nvSpPr>
          <p:cNvPr id="3" name="Content Placeholder 2"/>
          <p:cNvSpPr>
            <a:spLocks noGrp="1"/>
          </p:cNvSpPr>
          <p:nvPr>
            <p:ph idx="1"/>
          </p:nvPr>
        </p:nvSpPr>
        <p:spPr/>
        <p:txBody>
          <a:bodyPr>
            <a:normAutofit fontScale="62500" lnSpcReduction="20000"/>
          </a:bodyPr>
          <a:lstStyle/>
          <a:p>
            <a:r>
              <a:rPr lang="en-CA" dirty="0"/>
              <a:t>The JavaScript prototype property allows you to add new properties to object constructors:</a:t>
            </a:r>
          </a:p>
          <a:p>
            <a:r>
              <a:rPr lang="en-CA" dirty="0"/>
              <a:t>Example</a:t>
            </a:r>
          </a:p>
          <a:p>
            <a:pPr lvl="1"/>
            <a:r>
              <a:rPr lang="en-CA" dirty="0"/>
              <a:t>function Person(first, last, age, </a:t>
            </a:r>
            <a:r>
              <a:rPr lang="en-CA" dirty="0" err="1"/>
              <a:t>eyecolor</a:t>
            </a:r>
            <a:r>
              <a:rPr lang="en-CA" dirty="0"/>
              <a:t>) {</a:t>
            </a:r>
            <a:br>
              <a:rPr lang="en-CA" dirty="0"/>
            </a:br>
            <a:r>
              <a:rPr lang="en-CA" dirty="0"/>
              <a:t>    </a:t>
            </a:r>
            <a:r>
              <a:rPr lang="en-CA" dirty="0" err="1"/>
              <a:t>this.firstName</a:t>
            </a:r>
            <a:r>
              <a:rPr lang="en-CA" dirty="0"/>
              <a:t> = first;</a:t>
            </a:r>
            <a:br>
              <a:rPr lang="en-CA" dirty="0"/>
            </a:br>
            <a:r>
              <a:rPr lang="en-CA" dirty="0"/>
              <a:t>    </a:t>
            </a:r>
            <a:r>
              <a:rPr lang="en-CA" dirty="0" err="1"/>
              <a:t>this.lastName</a:t>
            </a:r>
            <a:r>
              <a:rPr lang="en-CA" dirty="0"/>
              <a:t> = last;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a:t>
            </a:r>
            <a:r>
              <a:rPr lang="en-CA" dirty="0" err="1"/>
              <a:t>eyecolor</a:t>
            </a:r>
            <a:r>
              <a:rPr lang="en-CA" dirty="0"/>
              <a:t>;</a:t>
            </a:r>
            <a:br>
              <a:rPr lang="en-CA" dirty="0"/>
            </a:br>
            <a:r>
              <a:rPr lang="en-CA" dirty="0"/>
              <a:t>}</a:t>
            </a:r>
            <a:br>
              <a:rPr lang="en-CA" dirty="0"/>
            </a:br>
            <a:r>
              <a:rPr lang="en-CA" dirty="0" err="1"/>
              <a:t>Person.prototype.nationality</a:t>
            </a:r>
            <a:r>
              <a:rPr lang="en-CA" dirty="0"/>
              <a:t> = "English";</a:t>
            </a:r>
          </a:p>
          <a:p>
            <a:r>
              <a:rPr lang="en-CA" dirty="0"/>
              <a:t>The JavaScript prototype property also allows you to add new methods objects constructors:</a:t>
            </a:r>
          </a:p>
          <a:p>
            <a:r>
              <a:rPr lang="en-CA" dirty="0"/>
              <a:t>Example</a:t>
            </a:r>
          </a:p>
          <a:p>
            <a:pPr lvl="1"/>
            <a:r>
              <a:rPr lang="en-CA" dirty="0"/>
              <a:t>function Person(first, last, age, </a:t>
            </a:r>
            <a:r>
              <a:rPr lang="en-CA" dirty="0" err="1"/>
              <a:t>eyecolor</a:t>
            </a:r>
            <a:r>
              <a:rPr lang="en-CA" dirty="0"/>
              <a:t>) {</a:t>
            </a:r>
            <a:br>
              <a:rPr lang="en-CA" dirty="0"/>
            </a:br>
            <a:r>
              <a:rPr lang="en-CA" dirty="0"/>
              <a:t>    </a:t>
            </a:r>
            <a:r>
              <a:rPr lang="en-CA" dirty="0" err="1"/>
              <a:t>this.firstName</a:t>
            </a:r>
            <a:r>
              <a:rPr lang="en-CA" dirty="0"/>
              <a:t> = first;</a:t>
            </a:r>
            <a:br>
              <a:rPr lang="en-CA" dirty="0"/>
            </a:br>
            <a:r>
              <a:rPr lang="en-CA" dirty="0"/>
              <a:t>    </a:t>
            </a:r>
            <a:r>
              <a:rPr lang="en-CA" dirty="0" err="1"/>
              <a:t>this.lastName</a:t>
            </a:r>
            <a:r>
              <a:rPr lang="en-CA" dirty="0"/>
              <a:t> = last;</a:t>
            </a:r>
            <a:br>
              <a:rPr lang="en-CA" dirty="0"/>
            </a:br>
            <a:r>
              <a:rPr lang="en-CA" dirty="0"/>
              <a:t>    </a:t>
            </a:r>
            <a:r>
              <a:rPr lang="en-CA" dirty="0" err="1"/>
              <a:t>this.age</a:t>
            </a:r>
            <a:r>
              <a:rPr lang="en-CA" dirty="0"/>
              <a:t> = age;</a:t>
            </a:r>
            <a:br>
              <a:rPr lang="en-CA" dirty="0"/>
            </a:br>
            <a:r>
              <a:rPr lang="en-CA" dirty="0"/>
              <a:t>    </a:t>
            </a:r>
            <a:r>
              <a:rPr lang="en-CA" dirty="0" err="1"/>
              <a:t>this.eyeColor</a:t>
            </a:r>
            <a:r>
              <a:rPr lang="en-CA" dirty="0"/>
              <a:t> = </a:t>
            </a:r>
            <a:r>
              <a:rPr lang="en-CA" dirty="0" err="1"/>
              <a:t>eyecolor</a:t>
            </a:r>
            <a:r>
              <a:rPr lang="en-CA" dirty="0"/>
              <a:t>;</a:t>
            </a:r>
            <a:br>
              <a:rPr lang="en-CA" dirty="0"/>
            </a:br>
            <a:r>
              <a:rPr lang="en-CA" dirty="0"/>
              <a:t>}</a:t>
            </a:r>
            <a:br>
              <a:rPr lang="en-CA" dirty="0"/>
            </a:br>
            <a:r>
              <a:rPr lang="en-CA" dirty="0"/>
              <a:t>Person.prototype.name = function() {</a:t>
            </a:r>
            <a:br>
              <a:rPr lang="en-CA" dirty="0"/>
            </a:br>
            <a:r>
              <a:rPr lang="en-CA" dirty="0"/>
              <a:t>    return </a:t>
            </a:r>
            <a:r>
              <a:rPr lang="en-CA" dirty="0" err="1"/>
              <a:t>this.firstName</a:t>
            </a:r>
            <a:r>
              <a:rPr lang="en-CA" dirty="0"/>
              <a:t> + " " + </a:t>
            </a:r>
            <a:r>
              <a:rPr lang="en-CA" dirty="0" err="1"/>
              <a:t>this.lastName</a:t>
            </a:r>
            <a:r>
              <a:rPr lang="en-CA" dirty="0"/>
              <a:t>;</a:t>
            </a:r>
            <a:br>
              <a:rPr lang="en-CA" dirty="0"/>
            </a:br>
            <a:r>
              <a:rPr lang="en-CA" dirty="0"/>
              <a:t>};</a:t>
            </a:r>
          </a:p>
          <a:p>
            <a:r>
              <a:rPr lang="en-CA" dirty="0"/>
              <a:t>Only modify your </a:t>
            </a:r>
            <a:r>
              <a:rPr lang="en-CA" b="1" dirty="0"/>
              <a:t>own</a:t>
            </a:r>
            <a:r>
              <a:rPr lang="en-CA" dirty="0"/>
              <a:t> prototypes. Never modify the prototypes of standard JavaScript objects.</a:t>
            </a:r>
          </a:p>
          <a:p>
            <a:endParaRPr lang="en-US" dirty="0"/>
          </a:p>
        </p:txBody>
      </p:sp>
    </p:spTree>
    <p:extLst>
      <p:ext uri="{BB962C8B-B14F-4D97-AF65-F5344CB8AC3E}">
        <p14:creationId xmlns:p14="http://schemas.microsoft.com/office/powerpoint/2010/main" val="12610556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683365669"/>
      </p:ext>
    </p:extLst>
  </p:cSld>
  <p:clrMapOvr>
    <a:masterClrMapping/>
  </p:clrMapOvr>
</p:sld>
</file>

<file path=ppt/theme/theme1.xml><?xml version="1.0" encoding="utf-8"?>
<a:theme xmlns:a="http://schemas.openxmlformats.org/drawingml/2006/main" name="Vani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er" id="{9243BF55-9D1D-468A-9E61-7654222D46AF}" vid="{0BB589B0-ADB4-4621-B913-29A945F93B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Vanier (1)</Template>
  <TotalTime>181</TotalTime>
  <Words>3428</Words>
  <Application>Microsoft Office PowerPoint</Application>
  <PresentationFormat>Widescreen</PresentationFormat>
  <Paragraphs>294</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Vanier</vt:lpstr>
      <vt:lpstr>Javascript Objects</vt:lpstr>
      <vt:lpstr>JavaScript Object Definitions</vt:lpstr>
      <vt:lpstr>What is an object?</vt:lpstr>
      <vt:lpstr>JavaScript Primitives</vt:lpstr>
      <vt:lpstr>Objects are Variables Containing Variables</vt:lpstr>
      <vt:lpstr>Object Properties</vt:lpstr>
      <vt:lpstr>Object Properties</vt:lpstr>
      <vt:lpstr>Object Methods</vt:lpstr>
      <vt:lpstr>Object Methods</vt:lpstr>
      <vt:lpstr>Creating a JavaScript Object</vt:lpstr>
      <vt:lpstr>Using an Object Literal</vt:lpstr>
      <vt:lpstr>Using the JavaScript Keyword new</vt:lpstr>
      <vt:lpstr>JavaScript Objects are Mutable</vt:lpstr>
      <vt:lpstr>JavaScript Object Properties</vt:lpstr>
      <vt:lpstr>JavaScript Properties</vt:lpstr>
      <vt:lpstr>Accessing JavaScript Properties </vt:lpstr>
      <vt:lpstr>JavaScript for...in Loop</vt:lpstr>
      <vt:lpstr>Adding New Properties</vt:lpstr>
      <vt:lpstr>Deleting Properties</vt:lpstr>
      <vt:lpstr>Property Attributes</vt:lpstr>
      <vt:lpstr>Prototype Properties</vt:lpstr>
      <vt:lpstr>JavaScript Object Methods</vt:lpstr>
      <vt:lpstr>JavaScript Methods</vt:lpstr>
      <vt:lpstr>JavaScript Methods</vt:lpstr>
      <vt:lpstr>The this Keyword</vt:lpstr>
      <vt:lpstr>Accessing Object Methods</vt:lpstr>
      <vt:lpstr>Using Built-In Methods</vt:lpstr>
      <vt:lpstr>JavaScript Object Constructors</vt:lpstr>
      <vt:lpstr>PowerPoint Presentation</vt:lpstr>
      <vt:lpstr>Object Types (Blueprints) (Classes)</vt:lpstr>
      <vt:lpstr>The this Keyword</vt:lpstr>
      <vt:lpstr>Adding a Property to an Object</vt:lpstr>
      <vt:lpstr>Adding a Method to an Object</vt:lpstr>
      <vt:lpstr>Adding a Property to a Constructor</vt:lpstr>
      <vt:lpstr>Adding a Method to a Constructor</vt:lpstr>
      <vt:lpstr>PowerPoint Presentation</vt:lpstr>
      <vt:lpstr>Built-in JavaScript Constructors</vt:lpstr>
      <vt:lpstr>Did You Know?</vt:lpstr>
      <vt:lpstr>PowerPoint Presentation</vt:lpstr>
      <vt:lpstr>PowerPoint Presentation</vt:lpstr>
      <vt:lpstr>JavaScript Object Prototypes </vt:lpstr>
      <vt:lpstr>JavaScript Object Prototypes</vt:lpstr>
      <vt:lpstr>PowerPoint Presentation</vt:lpstr>
      <vt:lpstr>Prototype Inheritance</vt:lpstr>
      <vt:lpstr>Adding Properties and Methods to Objects</vt:lpstr>
      <vt:lpstr>Using the prototype Property</vt:lpstr>
      <vt:lpstr>PowerPoint Presentation</vt:lpstr>
    </vt:vector>
  </TitlesOfParts>
  <Company>CEGEP Vanier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Objects</dc:title>
  <dc:creator>cstuser</dc:creator>
  <cp:lastModifiedBy>Ronald Raphael</cp:lastModifiedBy>
  <cp:revision>83</cp:revision>
  <dcterms:created xsi:type="dcterms:W3CDTF">2018-05-02T14:59:24Z</dcterms:created>
  <dcterms:modified xsi:type="dcterms:W3CDTF">2020-09-21T17:49:38Z</dcterms:modified>
</cp:coreProperties>
</file>