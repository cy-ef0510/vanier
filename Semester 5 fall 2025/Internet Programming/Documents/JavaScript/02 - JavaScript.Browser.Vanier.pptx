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77" r:id="rId7"/>
    <p:sldId id="262" r:id="rId8"/>
    <p:sldId id="263" r:id="rId9"/>
    <p:sldId id="264" r:id="rId10"/>
    <p:sldId id="265" r:id="rId11"/>
    <p:sldId id="279" r:id="rId12"/>
    <p:sldId id="280" r:id="rId13"/>
    <p:sldId id="281" r:id="rId14"/>
    <p:sldId id="282" r:id="rId15"/>
    <p:sldId id="283" r:id="rId16"/>
    <p:sldId id="284" r:id="rId17"/>
    <p:sldId id="288" r:id="rId18"/>
    <p:sldId id="285" r:id="rId19"/>
    <p:sldId id="286" r:id="rId20"/>
    <p:sldId id="287" r:id="rId21"/>
    <p:sldId id="289" r:id="rId22"/>
    <p:sldId id="290" r:id="rId23"/>
    <p:sldId id="291" r:id="rId24"/>
    <p:sldId id="300" r:id="rId25"/>
    <p:sldId id="292" r:id="rId26"/>
    <p:sldId id="293" r:id="rId27"/>
    <p:sldId id="294" r:id="rId28"/>
    <p:sldId id="314" r:id="rId29"/>
    <p:sldId id="316" r:id="rId30"/>
    <p:sldId id="319" r:id="rId31"/>
    <p:sldId id="317" r:id="rId32"/>
    <p:sldId id="318" r:id="rId33"/>
    <p:sldId id="320" r:id="rId34"/>
    <p:sldId id="321" r:id="rId35"/>
    <p:sldId id="322" r:id="rId36"/>
    <p:sldId id="295" r:id="rId37"/>
    <p:sldId id="299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296" r:id="rId46"/>
    <p:sldId id="297" r:id="rId47"/>
    <p:sldId id="298" r:id="rId48"/>
    <p:sldId id="27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92321"/>
            <a:ext cx="9144000" cy="181764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2021-02-17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261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2021-02-17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904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2021-02-17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133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2021-02-17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8795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7313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2021-02-17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667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2021-02-17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176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2021-02-17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1472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3803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2021-02-17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7807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2057400"/>
            <a:ext cx="6172200" cy="38036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2021-02-17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7516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2021-02-17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895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787857"/>
            <a:ext cx="2628900" cy="43891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3152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C40C-72CE-4D68-996C-1841ACA94F8A}" type="datetimeFigureOut">
              <a:rPr lang="en-CA" smtClean="0"/>
              <a:t>2021-02-17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090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323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17699"/>
            <a:ext cx="10515600" cy="4259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C40C-72CE-4D68-996C-1841ACA94F8A}" type="datetimeFigureOut">
              <a:rPr lang="en-CA" smtClean="0"/>
              <a:t>2021-02-17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13825-A35C-4092-AA77-3AFA0A92E4E7}" type="slidenum">
              <a:rPr lang="en-CA" smtClean="0"/>
              <a:t>‹#›</a:t>
            </a:fld>
            <a:endParaRPr lang="en-C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050" y="365125"/>
            <a:ext cx="2952750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90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Tutorial</a:t>
            </a:r>
          </a:p>
        </p:txBody>
      </p:sp>
    </p:spTree>
    <p:extLst>
      <p:ext uri="{BB962C8B-B14F-4D97-AF65-F5344CB8AC3E}">
        <p14:creationId xmlns:p14="http://schemas.microsoft.com/office/powerpoint/2010/main" val="425765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JavaScript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JavaScript is the programming language of HTML and the Web</a:t>
            </a:r>
          </a:p>
          <a:p>
            <a:pPr lvl="1"/>
            <a:r>
              <a:rPr lang="en-CA" dirty="0"/>
              <a:t>Programming makes computers do what you want them to do</a:t>
            </a:r>
          </a:p>
        </p:txBody>
      </p:sp>
    </p:spTree>
    <p:extLst>
      <p:ext uri="{BB962C8B-B14F-4D97-AF65-F5344CB8AC3E}">
        <p14:creationId xmlns:p14="http://schemas.microsoft.com/office/powerpoint/2010/main" val="1563376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Study JavaScript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JavaScript is one of the </a:t>
            </a:r>
            <a:r>
              <a:rPr lang="en-CA" b="1" dirty="0"/>
              <a:t>3 languages</a:t>
            </a:r>
            <a:r>
              <a:rPr lang="en-CA" dirty="0"/>
              <a:t> all web developers </a:t>
            </a:r>
            <a:r>
              <a:rPr lang="en-CA" b="1" dirty="0"/>
              <a:t>must</a:t>
            </a:r>
            <a:r>
              <a:rPr lang="en-CA" dirty="0"/>
              <a:t> learn: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b="1" dirty="0"/>
              <a:t>HTML</a:t>
            </a:r>
            <a:r>
              <a:rPr lang="en-CA" dirty="0"/>
              <a:t> to define the content of web pages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b="1" dirty="0"/>
              <a:t>CSS</a:t>
            </a:r>
            <a:r>
              <a:rPr lang="en-CA" dirty="0"/>
              <a:t> to specify the layout of web pages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b="1" dirty="0"/>
              <a:t>JavaScript</a:t>
            </a:r>
            <a:r>
              <a:rPr lang="en-CA" dirty="0"/>
              <a:t> is used to program the behavior of web pages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20570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to put your JavaScript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JavaScript can be placed in either the &lt;head&gt; and/or the &lt;body&gt; sections of your HTML page</a:t>
            </a:r>
          </a:p>
        </p:txBody>
      </p:sp>
    </p:spTree>
    <p:extLst>
      <p:ext uri="{BB962C8B-B14F-4D97-AF65-F5344CB8AC3E}">
        <p14:creationId xmlns:p14="http://schemas.microsoft.com/office/powerpoint/2010/main" val="428888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 Functions and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JavaScript </a:t>
            </a:r>
            <a:r>
              <a:rPr lang="en-CA" b="1" dirty="0"/>
              <a:t>function</a:t>
            </a:r>
            <a:r>
              <a:rPr lang="en-CA" dirty="0"/>
              <a:t> is a block of JavaScript code, that can be executed when "asked" for</a:t>
            </a:r>
          </a:p>
          <a:p>
            <a:r>
              <a:rPr lang="en-CA" dirty="0"/>
              <a:t>For example, a function can be executed when an </a:t>
            </a:r>
            <a:r>
              <a:rPr lang="en-CA" b="1" dirty="0"/>
              <a:t>event</a:t>
            </a:r>
            <a:r>
              <a:rPr lang="en-CA" dirty="0"/>
              <a:t> occurs, like when the user clicks a button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9366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External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Scripts can also be placed in external files</a:t>
            </a:r>
          </a:p>
          <a:p>
            <a:r>
              <a:rPr lang="en-CA" dirty="0"/>
              <a:t>Example:</a:t>
            </a:r>
          </a:p>
          <a:p>
            <a:r>
              <a:rPr lang="en-CA" dirty="0"/>
              <a:t>Script.js</a:t>
            </a:r>
          </a:p>
          <a:p>
            <a:pPr lvl="1"/>
            <a:r>
              <a:rPr lang="en-CA" dirty="0"/>
              <a:t>function </a:t>
            </a:r>
            <a:r>
              <a:rPr lang="en-CA" dirty="0" err="1"/>
              <a:t>myFunction</a:t>
            </a:r>
            <a:r>
              <a:rPr lang="en-CA" dirty="0"/>
              <a:t>() {</a:t>
            </a:r>
            <a:br>
              <a:rPr lang="en-CA" dirty="0"/>
            </a:br>
            <a:r>
              <a:rPr lang="en-CA" dirty="0"/>
              <a:t>   </a:t>
            </a:r>
            <a:r>
              <a:rPr lang="en-CA" dirty="0" err="1"/>
              <a:t>document.getElementById</a:t>
            </a:r>
            <a:r>
              <a:rPr lang="en-CA" dirty="0"/>
              <a:t>("demo").</a:t>
            </a:r>
            <a:r>
              <a:rPr lang="en-CA" dirty="0" err="1"/>
              <a:t>innerHTML</a:t>
            </a:r>
            <a:r>
              <a:rPr lang="en-CA" dirty="0"/>
              <a:t> = "Paragraph changed.";</a:t>
            </a:r>
            <a:br>
              <a:rPr lang="en-CA" dirty="0"/>
            </a:br>
            <a:r>
              <a:rPr lang="en-CA" dirty="0"/>
              <a:t>}</a:t>
            </a:r>
          </a:p>
          <a:p>
            <a:r>
              <a:rPr lang="en-CA" dirty="0"/>
              <a:t>External scripts are practical when the same code is used in many different web pages</a:t>
            </a:r>
          </a:p>
          <a:p>
            <a:r>
              <a:rPr lang="en-CA" dirty="0"/>
              <a:t>JavaScript files have the file extension</a:t>
            </a:r>
            <a:r>
              <a:rPr lang="en-CA" b="1" dirty="0"/>
              <a:t> .</a:t>
            </a:r>
            <a:r>
              <a:rPr lang="en-CA" b="1" dirty="0" err="1"/>
              <a:t>js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51640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External JavaScript Files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To use an external script, put the name of the script file in the </a:t>
            </a:r>
            <a:r>
              <a:rPr lang="en-CA" dirty="0" err="1"/>
              <a:t>src</a:t>
            </a:r>
            <a:r>
              <a:rPr lang="en-CA" dirty="0"/>
              <a:t> (source) attribute of a &lt;script&gt; tag</a:t>
            </a:r>
          </a:p>
          <a:p>
            <a:r>
              <a:rPr lang="en-CA" dirty="0"/>
              <a:t>Example:</a:t>
            </a:r>
          </a:p>
          <a:p>
            <a:pPr lvl="1"/>
            <a:r>
              <a:rPr lang="en-CA" dirty="0"/>
              <a:t>&lt;!DOCTYPE html&gt;</a:t>
            </a:r>
            <a:br>
              <a:rPr lang="en-CA" dirty="0"/>
            </a:br>
            <a:r>
              <a:rPr lang="en-CA" dirty="0"/>
              <a:t>&lt;html&gt;</a:t>
            </a:r>
            <a:br>
              <a:rPr lang="en-CA" dirty="0"/>
            </a:br>
            <a:r>
              <a:rPr lang="en-CA" dirty="0"/>
              <a:t>	&lt;body&gt;</a:t>
            </a:r>
            <a:br>
              <a:rPr lang="en-CA" dirty="0"/>
            </a:br>
            <a:r>
              <a:rPr lang="en-CA" dirty="0"/>
              <a:t>		&lt;script </a:t>
            </a:r>
            <a:r>
              <a:rPr lang="en-CA" dirty="0" err="1"/>
              <a:t>src</a:t>
            </a:r>
            <a:r>
              <a:rPr lang="en-CA" dirty="0"/>
              <a:t>="myScript.js"&gt;&lt;/script&gt;</a:t>
            </a:r>
            <a:br>
              <a:rPr lang="en-CA" dirty="0"/>
            </a:br>
            <a:r>
              <a:rPr lang="en-CA" dirty="0"/>
              <a:t>	&lt;/body&gt;</a:t>
            </a:r>
            <a:br>
              <a:rPr lang="en-CA" dirty="0"/>
            </a:br>
            <a:r>
              <a:rPr lang="en-CA" dirty="0"/>
              <a:t>&lt;/html&gt;</a:t>
            </a:r>
          </a:p>
          <a:p>
            <a:r>
              <a:rPr lang="en-CA" dirty="0"/>
              <a:t>You can place an external script reference in &lt;head&gt; or &lt;body&gt; as you like</a:t>
            </a:r>
          </a:p>
          <a:p>
            <a:r>
              <a:rPr lang="en-CA" dirty="0"/>
              <a:t>The script will behave as if it was located exactly where the &lt;script&gt; tag is located</a:t>
            </a:r>
          </a:p>
        </p:txBody>
      </p:sp>
    </p:spTree>
    <p:extLst>
      <p:ext uri="{BB962C8B-B14F-4D97-AF65-F5344CB8AC3E}">
        <p14:creationId xmlns:p14="http://schemas.microsoft.com/office/powerpoint/2010/main" val="2168551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Advantages of using External JavaScript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Placing </a:t>
            </a:r>
            <a:r>
              <a:rPr lang="en-CA" dirty="0" err="1"/>
              <a:t>JavaScripts</a:t>
            </a:r>
            <a:r>
              <a:rPr lang="en-CA" dirty="0"/>
              <a:t> in external files has some advantages:</a:t>
            </a:r>
          </a:p>
          <a:p>
            <a:pPr lvl="1"/>
            <a:r>
              <a:rPr lang="en-CA" dirty="0"/>
              <a:t>It separates HTML and code</a:t>
            </a:r>
          </a:p>
          <a:p>
            <a:pPr lvl="1"/>
            <a:r>
              <a:rPr lang="en-CA" dirty="0"/>
              <a:t>It makes HTML and JavaScript easier to read and maintain</a:t>
            </a:r>
          </a:p>
          <a:p>
            <a:pPr lvl="1"/>
            <a:r>
              <a:rPr lang="en-CA" dirty="0"/>
              <a:t>Cached JavaScript files can speed up page loads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70237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Displaying information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JavaScript can "display" data in different ways:</a:t>
            </a:r>
          </a:p>
          <a:p>
            <a:pPr lvl="1"/>
            <a:r>
              <a:rPr lang="en-CA" dirty="0"/>
              <a:t>Writing into an alert box, using </a:t>
            </a:r>
            <a:r>
              <a:rPr lang="en-CA" b="1" dirty="0" err="1"/>
              <a:t>window.alert</a:t>
            </a:r>
            <a:r>
              <a:rPr lang="en-CA" b="1" dirty="0"/>
              <a:t>()</a:t>
            </a:r>
          </a:p>
          <a:p>
            <a:pPr lvl="1"/>
            <a:r>
              <a:rPr lang="en-CA" dirty="0"/>
              <a:t>Writing into the HTML output using </a:t>
            </a:r>
            <a:r>
              <a:rPr lang="en-CA" b="1" dirty="0" err="1"/>
              <a:t>document.write</a:t>
            </a:r>
            <a:r>
              <a:rPr lang="en-CA" b="1" dirty="0"/>
              <a:t>()</a:t>
            </a:r>
            <a:endParaRPr lang="en-CA" dirty="0"/>
          </a:p>
          <a:p>
            <a:pPr lvl="1"/>
            <a:r>
              <a:rPr lang="en-CA" dirty="0"/>
              <a:t>Writing into an HTML element, using </a:t>
            </a:r>
            <a:r>
              <a:rPr lang="en-CA" b="1" dirty="0" err="1"/>
              <a:t>innerHTML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20753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</a:t>
            </a:r>
            <a:r>
              <a:rPr lang="en-CA" dirty="0" err="1"/>
              <a:t>window.alert</a:t>
            </a:r>
            <a:r>
              <a:rPr lang="en-CA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You can use an alert box to display information:</a:t>
            </a:r>
          </a:p>
          <a:p>
            <a:pPr lvl="1"/>
            <a:r>
              <a:rPr lang="en-CA" dirty="0"/>
              <a:t>&lt;script&gt;</a:t>
            </a:r>
            <a:br>
              <a:rPr lang="en-CA" dirty="0"/>
            </a:br>
            <a:r>
              <a:rPr lang="en-CA" dirty="0" err="1"/>
              <a:t>window.alert</a:t>
            </a:r>
            <a:r>
              <a:rPr lang="en-CA" dirty="0"/>
              <a:t>(5 + 6);</a:t>
            </a:r>
            <a:br>
              <a:rPr lang="en-CA" dirty="0"/>
            </a:br>
            <a:r>
              <a:rPr lang="en-CA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97782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</a:t>
            </a:r>
            <a:r>
              <a:rPr lang="en-CA" dirty="0" err="1"/>
              <a:t>window.alert</a:t>
            </a:r>
            <a:r>
              <a:rPr lang="en-CA" dirty="0"/>
              <a:t>()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200" y="2872581"/>
            <a:ext cx="5689600" cy="2349500"/>
          </a:xfrm>
        </p:spPr>
      </p:pic>
    </p:spTree>
    <p:extLst>
      <p:ext uri="{BB962C8B-B14F-4D97-AF65-F5344CB8AC3E}">
        <p14:creationId xmlns:p14="http://schemas.microsoft.com/office/powerpoint/2010/main" val="2897753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</a:t>
            </a:r>
            <a:r>
              <a:rPr lang="en-CA" dirty="0" err="1"/>
              <a:t>document.write</a:t>
            </a:r>
            <a:r>
              <a:rPr lang="en-CA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For testing purposes, it is convenient to use </a:t>
            </a:r>
            <a:r>
              <a:rPr lang="en-CA" b="1" dirty="0" err="1"/>
              <a:t>document.write</a:t>
            </a:r>
            <a:r>
              <a:rPr lang="en-CA" b="1" dirty="0"/>
              <a:t>()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&lt;script&gt;</a:t>
            </a:r>
            <a:br>
              <a:rPr lang="en-CA" dirty="0"/>
            </a:br>
            <a:r>
              <a:rPr lang="en-CA" dirty="0" err="1"/>
              <a:t>document.write</a:t>
            </a:r>
            <a:r>
              <a:rPr lang="en-CA" dirty="0"/>
              <a:t>(5 + 6);</a:t>
            </a:r>
            <a:br>
              <a:rPr lang="en-CA" dirty="0"/>
            </a:br>
            <a:r>
              <a:rPr lang="en-CA" dirty="0"/>
              <a:t>&lt;/script&gt;</a:t>
            </a:r>
          </a:p>
          <a:p>
            <a:r>
              <a:rPr lang="en-CA" dirty="0" err="1"/>
              <a:t>Document.write</a:t>
            </a:r>
            <a:r>
              <a:rPr lang="en-CA" dirty="0"/>
              <a:t>() simply writes the information in the web browser</a:t>
            </a:r>
          </a:p>
        </p:txBody>
      </p:sp>
    </p:spTree>
    <p:extLst>
      <p:ext uri="{BB962C8B-B14F-4D97-AF65-F5344CB8AC3E}">
        <p14:creationId xmlns:p14="http://schemas.microsoft.com/office/powerpoint/2010/main" val="2657838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Using </a:t>
            </a:r>
            <a:r>
              <a:rPr lang="en-CA" dirty="0" err="1"/>
              <a:t>innerHTML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 access an HTML element, JavaScript can use the </a:t>
            </a:r>
            <a:r>
              <a:rPr lang="en-CA" b="1" dirty="0" err="1"/>
              <a:t>document.getElementById</a:t>
            </a:r>
            <a:r>
              <a:rPr lang="en-CA" b="1" dirty="0"/>
              <a:t>(id)</a:t>
            </a:r>
            <a:r>
              <a:rPr lang="en-CA" dirty="0"/>
              <a:t> method</a:t>
            </a:r>
          </a:p>
          <a:p>
            <a:pPr lvl="1"/>
            <a:r>
              <a:rPr lang="en-CA" dirty="0"/>
              <a:t>The </a:t>
            </a:r>
            <a:r>
              <a:rPr lang="en-CA" b="1" dirty="0"/>
              <a:t>id</a:t>
            </a:r>
            <a:r>
              <a:rPr lang="en-CA" dirty="0"/>
              <a:t> attribute defines the HTML element</a:t>
            </a:r>
          </a:p>
          <a:p>
            <a:pPr lvl="1"/>
            <a:r>
              <a:rPr lang="en-CA" dirty="0"/>
              <a:t>The </a:t>
            </a:r>
            <a:r>
              <a:rPr lang="en-CA" b="1" dirty="0" err="1"/>
              <a:t>innerHTML</a:t>
            </a:r>
            <a:r>
              <a:rPr lang="en-CA" dirty="0"/>
              <a:t> property defines the HTML content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56208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</a:t>
            </a:r>
            <a:r>
              <a:rPr lang="en-CA" dirty="0" err="1"/>
              <a:t>innerHTML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&lt;p id="demo"&gt;&lt;/p&gt;</a:t>
            </a:r>
            <a:br>
              <a:rPr lang="en-CA" dirty="0"/>
            </a:br>
            <a:r>
              <a:rPr lang="en-CA" dirty="0"/>
              <a:t>&lt;script&gt;</a:t>
            </a:r>
            <a:br>
              <a:rPr lang="en-CA" dirty="0"/>
            </a:br>
            <a:r>
              <a:rPr lang="en-CA" dirty="0" err="1"/>
              <a:t>document.getElementById</a:t>
            </a:r>
            <a:r>
              <a:rPr lang="en-CA" dirty="0"/>
              <a:t>("demo").</a:t>
            </a:r>
            <a:r>
              <a:rPr lang="en-CA" dirty="0" err="1"/>
              <a:t>innerHTML</a:t>
            </a:r>
            <a:r>
              <a:rPr lang="en-CA" dirty="0"/>
              <a:t> = 5 + 6;</a:t>
            </a:r>
            <a:br>
              <a:rPr lang="en-CA" dirty="0"/>
            </a:br>
            <a:r>
              <a:rPr lang="en-CA" dirty="0"/>
              <a:t>&lt;/script&gt;</a:t>
            </a:r>
          </a:p>
          <a:p>
            <a:r>
              <a:rPr lang="en-CA" dirty="0"/>
              <a:t>The result is the same as:</a:t>
            </a:r>
          </a:p>
          <a:p>
            <a:pPr lvl="1"/>
            <a:r>
              <a:rPr lang="en-CA" dirty="0"/>
              <a:t>&lt;p id="demo"&gt;11&lt;/p&gt;</a:t>
            </a:r>
          </a:p>
        </p:txBody>
      </p:sp>
    </p:spTree>
    <p:extLst>
      <p:ext uri="{BB962C8B-B14F-4D97-AF65-F5344CB8AC3E}">
        <p14:creationId xmlns:p14="http://schemas.microsoft.com/office/powerpoint/2010/main" val="4178712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Programming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 </a:t>
            </a:r>
            <a:r>
              <a:rPr lang="en-CA" b="1" dirty="0"/>
              <a:t>computer program</a:t>
            </a:r>
            <a:r>
              <a:rPr lang="en-CA" dirty="0"/>
              <a:t> is a list of "instructions" to be "executed" by the computer</a:t>
            </a:r>
          </a:p>
          <a:p>
            <a:r>
              <a:rPr lang="en-CA" dirty="0"/>
              <a:t>In a programming language, these program instructions are called </a:t>
            </a:r>
            <a:r>
              <a:rPr lang="en-CA" b="1" dirty="0"/>
              <a:t>statements</a:t>
            </a:r>
            <a:endParaRPr lang="en-CA" dirty="0"/>
          </a:p>
          <a:p>
            <a:r>
              <a:rPr lang="en-CA" dirty="0"/>
              <a:t>JavaScript is a </a:t>
            </a:r>
            <a:r>
              <a:rPr lang="en-CA" b="1" dirty="0"/>
              <a:t>programming language</a:t>
            </a:r>
            <a:endParaRPr lang="en-CA" dirty="0"/>
          </a:p>
          <a:p>
            <a:r>
              <a:rPr lang="en-CA" dirty="0"/>
              <a:t>JavaScript statements are separated by </a:t>
            </a:r>
            <a:r>
              <a:rPr lang="en-CA" b="1" dirty="0"/>
              <a:t>semicolons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25692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a programming language, </a:t>
            </a:r>
            <a:r>
              <a:rPr lang="en-CA" b="1" dirty="0"/>
              <a:t>variables</a:t>
            </a:r>
            <a:r>
              <a:rPr lang="en-CA" dirty="0"/>
              <a:t> are used to </a:t>
            </a:r>
            <a:r>
              <a:rPr lang="en-CA" b="1" dirty="0"/>
              <a:t>store</a:t>
            </a:r>
            <a:r>
              <a:rPr lang="en-CA" dirty="0"/>
              <a:t> data values</a:t>
            </a:r>
          </a:p>
          <a:p>
            <a:r>
              <a:rPr lang="en-CA" dirty="0"/>
              <a:t>JavaScript uses the </a:t>
            </a:r>
            <a:r>
              <a:rPr lang="en-CA" b="1" dirty="0" err="1"/>
              <a:t>var</a:t>
            </a:r>
            <a:r>
              <a:rPr lang="en-CA" b="1" dirty="0"/>
              <a:t> </a:t>
            </a:r>
            <a:r>
              <a:rPr lang="en-CA" dirty="0"/>
              <a:t>keyword to </a:t>
            </a:r>
            <a:r>
              <a:rPr lang="en-CA" b="1" dirty="0"/>
              <a:t>declare</a:t>
            </a:r>
            <a:r>
              <a:rPr lang="en-CA" dirty="0"/>
              <a:t> variables</a:t>
            </a:r>
          </a:p>
          <a:p>
            <a:r>
              <a:rPr lang="en-CA" dirty="0"/>
              <a:t>An </a:t>
            </a:r>
            <a:r>
              <a:rPr lang="en-CA" b="1" dirty="0"/>
              <a:t>equal sign</a:t>
            </a:r>
            <a:r>
              <a:rPr lang="en-CA" dirty="0"/>
              <a:t> is used to </a:t>
            </a:r>
            <a:r>
              <a:rPr lang="en-CA" b="1" dirty="0"/>
              <a:t>assign values</a:t>
            </a:r>
            <a:r>
              <a:rPr lang="en-CA" dirty="0"/>
              <a:t> to variables</a:t>
            </a:r>
          </a:p>
          <a:p>
            <a:r>
              <a:rPr lang="en-CA" dirty="0"/>
              <a:t>In this example, x is defined as a variable. Then, x is assigned (or given) the value 6:</a:t>
            </a:r>
          </a:p>
          <a:p>
            <a:pPr lvl="1"/>
            <a:r>
              <a:rPr lang="en-CA" dirty="0" err="1"/>
              <a:t>var</a:t>
            </a:r>
            <a:r>
              <a:rPr lang="en-CA" dirty="0"/>
              <a:t> x;</a:t>
            </a:r>
            <a:br>
              <a:rPr lang="en-CA" dirty="0"/>
            </a:br>
            <a:r>
              <a:rPr lang="en-CA" dirty="0"/>
              <a:t>x = 6;</a:t>
            </a:r>
          </a:p>
        </p:txBody>
      </p:sp>
    </p:spTree>
    <p:extLst>
      <p:ext uri="{BB962C8B-B14F-4D97-AF65-F5344CB8AC3E}">
        <p14:creationId xmlns:p14="http://schemas.microsoft.com/office/powerpoint/2010/main" val="2993276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 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JavaScript variables are containers for storing data values.</a:t>
            </a:r>
          </a:p>
          <a:p>
            <a:r>
              <a:rPr lang="en-CA" dirty="0"/>
              <a:t>In programming, just like in algebra, we use variables to hold values.</a:t>
            </a:r>
          </a:p>
          <a:p>
            <a:r>
              <a:rPr lang="en-CA" dirty="0"/>
              <a:t>In programming, just like in algebra, we use variables in expressions (total = price1 + price2).</a:t>
            </a:r>
          </a:p>
        </p:txBody>
      </p:sp>
    </p:spTree>
    <p:extLst>
      <p:ext uri="{BB962C8B-B14F-4D97-AF65-F5344CB8AC3E}">
        <p14:creationId xmlns:p14="http://schemas.microsoft.com/office/powerpoint/2010/main" val="810958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 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HTML, JavaScript statements are "instructions" to be "executed" by the web browser</a:t>
            </a:r>
          </a:p>
          <a:p>
            <a:r>
              <a:rPr lang="en-CA" dirty="0"/>
              <a:t>This statement tells the browser to write "Hello Dolly." inside an HTML element with id="demo":</a:t>
            </a:r>
          </a:p>
          <a:p>
            <a:pPr lvl="1"/>
            <a:r>
              <a:rPr lang="en-CA" dirty="0" err="1"/>
              <a:t>document.getElementById</a:t>
            </a:r>
            <a:r>
              <a:rPr lang="en-CA" dirty="0"/>
              <a:t>("demo").</a:t>
            </a:r>
            <a:r>
              <a:rPr lang="en-CA" dirty="0" err="1"/>
              <a:t>innerHTML</a:t>
            </a:r>
            <a:r>
              <a:rPr lang="en-CA" dirty="0"/>
              <a:t> = "Hello Dolly.";</a:t>
            </a:r>
          </a:p>
        </p:txBody>
      </p:sp>
    </p:spTree>
    <p:extLst>
      <p:ext uri="{BB962C8B-B14F-4D97-AF65-F5344CB8AC3E}">
        <p14:creationId xmlns:p14="http://schemas.microsoft.com/office/powerpoint/2010/main" val="1724631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Most JavaScript programs contain many JavaScript statements</a:t>
            </a:r>
          </a:p>
          <a:p>
            <a:r>
              <a:rPr lang="en-CA" dirty="0"/>
              <a:t>The statements are executed, one by one, in the same order as they are written</a:t>
            </a:r>
          </a:p>
          <a:p>
            <a:r>
              <a:rPr lang="en-CA" dirty="0"/>
              <a:t>In this example x, y, and z are given values, and finally z is displayed:</a:t>
            </a:r>
          </a:p>
          <a:p>
            <a:pPr lvl="1"/>
            <a:r>
              <a:rPr lang="en-CA" dirty="0" err="1"/>
              <a:t>var</a:t>
            </a:r>
            <a:r>
              <a:rPr lang="en-CA" dirty="0"/>
              <a:t> x = 5;</a:t>
            </a:r>
            <a:br>
              <a:rPr lang="en-CA" dirty="0"/>
            </a:br>
            <a:r>
              <a:rPr lang="en-CA" dirty="0" err="1"/>
              <a:t>var</a:t>
            </a:r>
            <a:r>
              <a:rPr lang="en-CA" dirty="0"/>
              <a:t> y = 6;</a:t>
            </a:r>
            <a:br>
              <a:rPr lang="en-CA" dirty="0"/>
            </a:br>
            <a:r>
              <a:rPr lang="en-CA" dirty="0" err="1"/>
              <a:t>var</a:t>
            </a:r>
            <a:r>
              <a:rPr lang="en-CA" dirty="0"/>
              <a:t> z = x + y;</a:t>
            </a:r>
            <a:br>
              <a:rPr lang="en-CA" dirty="0"/>
            </a:br>
            <a:r>
              <a:rPr lang="en-CA" dirty="0" err="1"/>
              <a:t>document.getElementById</a:t>
            </a:r>
            <a:r>
              <a:rPr lang="en-CA" dirty="0"/>
              <a:t>("demo").</a:t>
            </a:r>
            <a:r>
              <a:rPr lang="en-CA" dirty="0" err="1"/>
              <a:t>innerHTML</a:t>
            </a:r>
            <a:r>
              <a:rPr lang="en-CA" dirty="0"/>
              <a:t> = z;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00684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 Code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JavaScript statements can be grouped together in code blocks, inside curly brackets {...}.</a:t>
            </a:r>
          </a:p>
          <a:p>
            <a:r>
              <a:rPr lang="en-CA" dirty="0"/>
              <a:t>The purpose of code blocks is to define statements to be executed together.</a:t>
            </a:r>
          </a:p>
          <a:p>
            <a:r>
              <a:rPr lang="en-CA" dirty="0"/>
              <a:t>One place you will find statements grouped together in blocks, are in JavaScript functions:</a:t>
            </a:r>
          </a:p>
          <a:p>
            <a:pPr lvl="1"/>
            <a:r>
              <a:rPr lang="en-CA" dirty="0"/>
              <a:t>function </a:t>
            </a:r>
            <a:r>
              <a:rPr lang="en-CA" dirty="0" err="1"/>
              <a:t>myFunction</a:t>
            </a:r>
            <a:r>
              <a:rPr lang="en-CA" dirty="0"/>
              <a:t>() {</a:t>
            </a:r>
            <a:br>
              <a:rPr lang="en-CA" dirty="0"/>
            </a:br>
            <a:r>
              <a:rPr lang="en-CA" dirty="0"/>
              <a:t>    </a:t>
            </a:r>
            <a:r>
              <a:rPr lang="en-CA" dirty="0" err="1"/>
              <a:t>document.getElementById</a:t>
            </a:r>
            <a:r>
              <a:rPr lang="en-CA" dirty="0"/>
              <a:t>("demo").</a:t>
            </a:r>
            <a:r>
              <a:rPr lang="en-CA" dirty="0" err="1"/>
              <a:t>innerHTML</a:t>
            </a:r>
            <a:r>
              <a:rPr lang="en-CA" dirty="0"/>
              <a:t> = "Hello Dolly.";</a:t>
            </a:r>
            <a:br>
              <a:rPr lang="en-CA" dirty="0"/>
            </a:br>
            <a:r>
              <a:rPr lang="en-CA" dirty="0"/>
              <a:t>    </a:t>
            </a:r>
            <a:r>
              <a:rPr lang="en-CA" dirty="0" err="1"/>
              <a:t>document.getElementById</a:t>
            </a:r>
            <a:r>
              <a:rPr lang="en-CA" dirty="0"/>
              <a:t>("</a:t>
            </a:r>
            <a:r>
              <a:rPr lang="en-CA" dirty="0" err="1"/>
              <a:t>myDIV</a:t>
            </a:r>
            <a:r>
              <a:rPr lang="en-CA" dirty="0"/>
              <a:t>").</a:t>
            </a:r>
            <a:r>
              <a:rPr lang="en-CA" dirty="0" err="1"/>
              <a:t>innerHTML</a:t>
            </a:r>
            <a:r>
              <a:rPr lang="en-CA" dirty="0"/>
              <a:t> = "How are you?";</a:t>
            </a:r>
            <a:br>
              <a:rPr lang="en-CA" dirty="0"/>
            </a:br>
            <a:r>
              <a:rPr lang="en-CA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8254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All JavaScript </a:t>
            </a:r>
            <a:r>
              <a:rPr lang="en-CA" b="1" dirty="0"/>
              <a:t>variables</a:t>
            </a:r>
            <a:r>
              <a:rPr lang="en-CA" dirty="0"/>
              <a:t> must be </a:t>
            </a:r>
            <a:r>
              <a:rPr lang="en-CA" b="1" dirty="0"/>
              <a:t>identified</a:t>
            </a:r>
            <a:r>
              <a:rPr lang="en-CA" dirty="0"/>
              <a:t> with </a:t>
            </a:r>
            <a:r>
              <a:rPr lang="en-CA" b="1" dirty="0"/>
              <a:t>unique names</a:t>
            </a:r>
            <a:r>
              <a:rPr lang="en-CA" dirty="0"/>
              <a:t>.</a:t>
            </a:r>
          </a:p>
          <a:p>
            <a:r>
              <a:rPr lang="en-CA" dirty="0"/>
              <a:t>These unique names are called </a:t>
            </a:r>
            <a:r>
              <a:rPr lang="en-CA" b="1" dirty="0"/>
              <a:t>identifiers</a:t>
            </a:r>
            <a:r>
              <a:rPr lang="en-CA" dirty="0"/>
              <a:t>.</a:t>
            </a:r>
          </a:p>
          <a:p>
            <a:r>
              <a:rPr lang="en-CA" dirty="0"/>
              <a:t>Identifiers can be short names (like x and y), or more descriptive names (age, sum, </a:t>
            </a:r>
            <a:r>
              <a:rPr lang="en-CA" dirty="0" err="1"/>
              <a:t>totalVolume</a:t>
            </a:r>
            <a:r>
              <a:rPr lang="en-CA" dirty="0"/>
              <a:t>).</a:t>
            </a:r>
          </a:p>
          <a:p>
            <a:r>
              <a:rPr lang="en-CA" dirty="0"/>
              <a:t>The general rules for constructing names for variables (unique identifiers) are:</a:t>
            </a:r>
          </a:p>
          <a:p>
            <a:pPr lvl="1"/>
            <a:r>
              <a:rPr lang="en-CA" dirty="0"/>
              <a:t>Names can contain letters, digits, underscores, and dollar signs.</a:t>
            </a:r>
          </a:p>
          <a:p>
            <a:pPr lvl="1"/>
            <a:r>
              <a:rPr lang="en-CA" dirty="0"/>
              <a:t>Names must begin with a letter</a:t>
            </a:r>
          </a:p>
          <a:p>
            <a:pPr lvl="1"/>
            <a:r>
              <a:rPr lang="en-CA" dirty="0"/>
              <a:t>Names can also begin with $ and _ (but we will not use it in this tutorial)</a:t>
            </a:r>
          </a:p>
          <a:p>
            <a:pPr lvl="1"/>
            <a:r>
              <a:rPr lang="en-CA" dirty="0"/>
              <a:t>Names are case sensitive (y and Y are different variables)</a:t>
            </a:r>
          </a:p>
          <a:p>
            <a:pPr lvl="1"/>
            <a:r>
              <a:rPr lang="en-CA" dirty="0"/>
              <a:t>Reserved words (like JavaScript keywords) cannot be used as names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83311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Assignment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JavaScript, the equal sign (=) is an "assignment" operator, not an "equal to" operator.</a:t>
            </a:r>
          </a:p>
          <a:p>
            <a:r>
              <a:rPr lang="en-CA" dirty="0"/>
              <a:t>In JavaScript, x = x + 5 makes perfect sense: </a:t>
            </a:r>
          </a:p>
          <a:p>
            <a:pPr lvl="1"/>
            <a:r>
              <a:rPr lang="en-CA" dirty="0"/>
              <a:t>it assigns the value of x + 5 to x.</a:t>
            </a:r>
          </a:p>
        </p:txBody>
      </p:sp>
    </p:spTree>
    <p:extLst>
      <p:ext uri="{BB962C8B-B14F-4D97-AF65-F5344CB8AC3E}">
        <p14:creationId xmlns:p14="http://schemas.microsoft.com/office/powerpoint/2010/main" val="255780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JavaScript variables can hold numbers like 100, and text values like "John Doe".</a:t>
            </a:r>
          </a:p>
          <a:p>
            <a:r>
              <a:rPr lang="en-CA" dirty="0"/>
              <a:t>In programming, text values are called text strings.</a:t>
            </a:r>
          </a:p>
          <a:p>
            <a:r>
              <a:rPr lang="en-CA" dirty="0"/>
              <a:t>JavaScript can handle many types of data.</a:t>
            </a:r>
          </a:p>
          <a:p>
            <a:r>
              <a:rPr lang="en-CA" dirty="0"/>
              <a:t>Strings are written inside double or single quotes. Numbers are written without quotes.</a:t>
            </a:r>
          </a:p>
          <a:p>
            <a:r>
              <a:rPr lang="en-CA" dirty="0"/>
              <a:t>If you put quotes around a number, it will be treated as a text string.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30842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 JavaScript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Booleans can only have two values: true or false.</a:t>
            </a:r>
          </a:p>
          <a:p>
            <a:pPr lvl="1"/>
            <a:r>
              <a:rPr lang="en-CA" dirty="0"/>
              <a:t>Booleans are often used in conditional testing.</a:t>
            </a:r>
          </a:p>
          <a:p>
            <a:r>
              <a:rPr lang="en-CA" dirty="0"/>
              <a:t>JavaScript arrays are written with square brackets.</a:t>
            </a:r>
          </a:p>
          <a:p>
            <a:pPr lvl="1"/>
            <a:r>
              <a:rPr lang="en-CA" dirty="0"/>
              <a:t>Array items are separated by commas.</a:t>
            </a:r>
          </a:p>
          <a:p>
            <a:pPr lvl="1"/>
            <a:r>
              <a:rPr lang="en-CA" dirty="0" err="1"/>
              <a:t>var</a:t>
            </a:r>
            <a:r>
              <a:rPr lang="en-CA" dirty="0"/>
              <a:t> cars = ["Saab", "Volvo", "BMW"];</a:t>
            </a:r>
          </a:p>
          <a:p>
            <a:r>
              <a:rPr lang="en-CA" dirty="0"/>
              <a:t>An empty value has nothing to do with undefined.</a:t>
            </a:r>
          </a:p>
          <a:p>
            <a:pPr lvl="1"/>
            <a:r>
              <a:rPr lang="en-CA" dirty="0"/>
              <a:t>An empty string variable has both a value and a type.</a:t>
            </a:r>
          </a:p>
          <a:p>
            <a:pPr lvl="1"/>
            <a:r>
              <a:rPr lang="en-CA" dirty="0" err="1"/>
              <a:t>var</a:t>
            </a:r>
            <a:r>
              <a:rPr lang="en-CA" dirty="0"/>
              <a:t> car = "";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98448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Declaring JavaScript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Creating a variable in JavaScript is called "declaring" a variable.</a:t>
            </a:r>
          </a:p>
          <a:p>
            <a:r>
              <a:rPr lang="en-CA" dirty="0"/>
              <a:t>You declare a JavaScript variable with the </a:t>
            </a:r>
            <a:r>
              <a:rPr lang="en-CA" b="1" dirty="0" err="1"/>
              <a:t>var</a:t>
            </a:r>
            <a:r>
              <a:rPr lang="en-CA" dirty="0"/>
              <a:t> keyword:</a:t>
            </a:r>
          </a:p>
          <a:p>
            <a:pPr lvl="1"/>
            <a:r>
              <a:rPr lang="en-CA" dirty="0" err="1"/>
              <a:t>var</a:t>
            </a:r>
            <a:r>
              <a:rPr lang="en-CA" dirty="0"/>
              <a:t> </a:t>
            </a:r>
            <a:r>
              <a:rPr lang="en-CA" dirty="0" err="1"/>
              <a:t>carName</a:t>
            </a:r>
            <a:r>
              <a:rPr lang="en-CA" dirty="0"/>
              <a:t>;</a:t>
            </a:r>
          </a:p>
          <a:p>
            <a:r>
              <a:rPr lang="en-CA" dirty="0"/>
              <a:t>After the declaration, the variable has no value. (Technically it has the value of </a:t>
            </a:r>
            <a:r>
              <a:rPr lang="en-CA" b="1" dirty="0"/>
              <a:t>undefined</a:t>
            </a:r>
            <a:r>
              <a:rPr lang="en-CA" dirty="0"/>
              <a:t>)</a:t>
            </a:r>
          </a:p>
          <a:p>
            <a:r>
              <a:rPr lang="en-CA" dirty="0"/>
              <a:t>To </a:t>
            </a:r>
            <a:r>
              <a:rPr lang="en-CA" b="1" dirty="0"/>
              <a:t>assign</a:t>
            </a:r>
            <a:r>
              <a:rPr lang="en-CA" dirty="0"/>
              <a:t> a value to the variable, use the equal sign:</a:t>
            </a:r>
          </a:p>
          <a:p>
            <a:pPr lvl="1"/>
            <a:r>
              <a:rPr lang="en-CA" dirty="0" err="1"/>
              <a:t>carName</a:t>
            </a:r>
            <a:r>
              <a:rPr lang="en-CA" dirty="0"/>
              <a:t> = "Volvo";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95144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 Operators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0842436"/>
              </p:ext>
            </p:extLst>
          </p:nvPr>
        </p:nvGraphicFramePr>
        <p:xfrm>
          <a:off x="838200" y="1816885"/>
          <a:ext cx="10515600" cy="2905776"/>
        </p:xfrm>
        <a:graphic>
          <a:graphicData uri="http://schemas.openxmlformats.org/drawingml/2006/table">
            <a:tbl>
              <a:tblPr/>
              <a:tblGrid>
                <a:gridCol w="2626873">
                  <a:extLst>
                    <a:ext uri="{9D8B030D-6E8A-4147-A177-3AD203B41FA5}">
                      <a16:colId xmlns:a16="http://schemas.microsoft.com/office/drawing/2014/main" val="920118981"/>
                    </a:ext>
                  </a:extLst>
                </a:gridCol>
                <a:gridCol w="7888727">
                  <a:extLst>
                    <a:ext uri="{9D8B030D-6E8A-4147-A177-3AD203B41FA5}">
                      <a16:colId xmlns:a16="http://schemas.microsoft.com/office/drawing/2014/main" val="788053631"/>
                    </a:ext>
                  </a:extLst>
                </a:gridCol>
              </a:tblGrid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Operator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Description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498273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+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Addition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583212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-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 dirty="0">
                          <a:effectLst/>
                        </a:rPr>
                        <a:t>Subtraction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113644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*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Multiplication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060628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/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Division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658876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%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Modulus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18662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++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Increment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240717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--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 dirty="0">
                          <a:effectLst/>
                        </a:rPr>
                        <a:t>Decrement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817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927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 String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4604"/>
            <a:ext cx="10515600" cy="4672359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The + operator can also be used to add (concatenate) strings.</a:t>
            </a:r>
          </a:p>
          <a:p>
            <a:r>
              <a:rPr lang="en-CA" dirty="0"/>
              <a:t>The += assignment operator can also be used to add (concatenate) strings:</a:t>
            </a:r>
          </a:p>
          <a:p>
            <a:pPr lvl="1"/>
            <a:r>
              <a:rPr lang="en-CA" dirty="0"/>
              <a:t>txt1 = "What a very ";</a:t>
            </a:r>
            <a:br>
              <a:rPr lang="en-CA" dirty="0"/>
            </a:br>
            <a:r>
              <a:rPr lang="en-CA" dirty="0"/>
              <a:t>txt1 += "nice day";</a:t>
            </a:r>
          </a:p>
          <a:p>
            <a:pPr lvl="1"/>
            <a:r>
              <a:rPr lang="en-CA" dirty="0"/>
              <a:t>The result of </a:t>
            </a:r>
            <a:r>
              <a:rPr lang="en-CA" b="1" dirty="0"/>
              <a:t>txt1</a:t>
            </a:r>
            <a:r>
              <a:rPr lang="en-CA" dirty="0"/>
              <a:t> will be:</a:t>
            </a:r>
          </a:p>
          <a:p>
            <a:pPr lvl="1"/>
            <a:r>
              <a:rPr lang="en-CA" dirty="0"/>
              <a:t>What a very nice day</a:t>
            </a:r>
          </a:p>
          <a:p>
            <a:r>
              <a:rPr lang="en-CA" dirty="0"/>
              <a:t>Adding two numbers will return the sum, but adding a number and a string will return a string:</a:t>
            </a:r>
          </a:p>
          <a:p>
            <a:pPr lvl="1"/>
            <a:r>
              <a:rPr lang="es-ES" dirty="0"/>
              <a:t>x = 5 + 5;</a:t>
            </a:r>
            <a:br>
              <a:rPr lang="es-ES" dirty="0"/>
            </a:br>
            <a:r>
              <a:rPr lang="es-ES" dirty="0"/>
              <a:t>y = "5" + 5;</a:t>
            </a:r>
          </a:p>
          <a:p>
            <a:r>
              <a:rPr lang="en-CA" dirty="0"/>
              <a:t>The result of </a:t>
            </a:r>
            <a:r>
              <a:rPr lang="en-CA" i="1" dirty="0"/>
              <a:t>x and y</a:t>
            </a:r>
            <a:r>
              <a:rPr lang="en-CA" dirty="0"/>
              <a:t> will be:</a:t>
            </a:r>
          </a:p>
          <a:p>
            <a:pPr marL="0" indent="0">
              <a:buNone/>
            </a:pPr>
            <a:r>
              <a:rPr lang="en-CA" dirty="0"/>
              <a:t>	10</a:t>
            </a:r>
            <a:br>
              <a:rPr lang="en-CA" dirty="0"/>
            </a:br>
            <a:r>
              <a:rPr lang="en-CA" dirty="0"/>
              <a:t>	55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339541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Working with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JavaScript string simply stores a series of characters like "John Doe".</a:t>
            </a:r>
          </a:p>
          <a:p>
            <a:r>
              <a:rPr lang="en-CA" dirty="0"/>
              <a:t>A string can be any text inside quotes. You can use single or double quotes</a:t>
            </a:r>
          </a:p>
          <a:p>
            <a:pPr lvl="1"/>
            <a:r>
              <a:rPr lang="pt-BR" dirty="0"/>
              <a:t>var carname = "Volvo XC60";</a:t>
            </a:r>
            <a:br>
              <a:rPr lang="pt-BR" dirty="0"/>
            </a:br>
            <a:r>
              <a:rPr lang="pt-BR" dirty="0"/>
              <a:t>var carname = 'Volvo XC60';</a:t>
            </a:r>
          </a:p>
          <a:p>
            <a:r>
              <a:rPr lang="en-CA" dirty="0"/>
              <a:t>The length of a string is found in the built in property </a:t>
            </a:r>
            <a:r>
              <a:rPr lang="en-CA" b="1" dirty="0"/>
              <a:t>length</a:t>
            </a:r>
            <a:r>
              <a:rPr lang="en-CA" dirty="0"/>
              <a:t>:</a:t>
            </a:r>
          </a:p>
          <a:p>
            <a:pPr lvl="1"/>
            <a:r>
              <a:rPr lang="en-CA" dirty="0" err="1"/>
              <a:t>var</a:t>
            </a:r>
            <a:r>
              <a:rPr lang="en-CA" dirty="0"/>
              <a:t> txt = "ABCDEFGHIJKLMNOPQRSTUVWXYZ";</a:t>
            </a:r>
            <a:br>
              <a:rPr lang="en-CA" dirty="0"/>
            </a:br>
            <a:r>
              <a:rPr lang="en-CA" dirty="0" err="1"/>
              <a:t>var</a:t>
            </a:r>
            <a:r>
              <a:rPr lang="en-CA" dirty="0"/>
              <a:t> </a:t>
            </a:r>
            <a:r>
              <a:rPr lang="en-CA" dirty="0" err="1"/>
              <a:t>sln</a:t>
            </a:r>
            <a:r>
              <a:rPr lang="en-CA" dirty="0"/>
              <a:t> = </a:t>
            </a:r>
            <a:r>
              <a:rPr lang="en-CA" dirty="0" err="1"/>
              <a:t>txt.length</a:t>
            </a:r>
            <a:r>
              <a:rPr lang="en-CA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82699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Working with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JavaScript has only one type of number.</a:t>
            </a:r>
          </a:p>
          <a:p>
            <a:r>
              <a:rPr lang="en-CA" dirty="0"/>
              <a:t>Numbers can be written with, or without, decimals.</a:t>
            </a:r>
          </a:p>
          <a:p>
            <a:pPr lvl="1"/>
            <a:r>
              <a:rPr lang="en-CA" dirty="0" err="1"/>
              <a:t>var</a:t>
            </a:r>
            <a:r>
              <a:rPr lang="en-CA" dirty="0"/>
              <a:t> x = 34.00;    // A number with decimals</a:t>
            </a:r>
            <a:br>
              <a:rPr lang="en-CA" dirty="0"/>
            </a:br>
            <a:r>
              <a:rPr lang="en-CA" dirty="0" err="1"/>
              <a:t>var</a:t>
            </a:r>
            <a:r>
              <a:rPr lang="en-CA" dirty="0"/>
              <a:t> y = 34;       // A number without decimals</a:t>
            </a:r>
          </a:p>
          <a:p>
            <a:r>
              <a:rPr lang="en-CA" dirty="0"/>
              <a:t>Extra large or extra small numbers can be written with scientific (exponent) notation:</a:t>
            </a:r>
          </a:p>
          <a:p>
            <a:pPr lvl="1"/>
            <a:r>
              <a:rPr lang="en-CA" dirty="0" err="1"/>
              <a:t>var</a:t>
            </a:r>
            <a:r>
              <a:rPr lang="en-CA" dirty="0"/>
              <a:t> x = 123e5;    // 12300000</a:t>
            </a:r>
            <a:br>
              <a:rPr lang="en-CA" dirty="0"/>
            </a:br>
            <a:r>
              <a:rPr lang="en-CA" dirty="0" err="1"/>
              <a:t>var</a:t>
            </a:r>
            <a:r>
              <a:rPr lang="en-CA" dirty="0"/>
              <a:t> y = 123e-5;   // 0.00123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35056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 Math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Math object allows you to perform mathematical tasks.</a:t>
            </a:r>
          </a:p>
          <a:p>
            <a:r>
              <a:rPr lang="en-CA" dirty="0"/>
              <a:t>The Math object includes several mathematical methods.</a:t>
            </a:r>
          </a:p>
          <a:p>
            <a:pPr lvl="1"/>
            <a:r>
              <a:rPr lang="en-CA" dirty="0" err="1"/>
              <a:t>Math.random</a:t>
            </a:r>
            <a:r>
              <a:rPr lang="en-CA" dirty="0"/>
              <a:t>() returns a random number between 0 (inclusive),  and 1 (exclusive)</a:t>
            </a:r>
          </a:p>
          <a:p>
            <a:pPr lvl="1"/>
            <a:r>
              <a:rPr lang="en-CA" dirty="0" err="1"/>
              <a:t>Math.min</a:t>
            </a:r>
            <a:r>
              <a:rPr lang="en-CA" dirty="0"/>
              <a:t>() and </a:t>
            </a:r>
            <a:r>
              <a:rPr lang="en-CA" dirty="0" err="1"/>
              <a:t>Math.max</a:t>
            </a:r>
            <a:r>
              <a:rPr lang="en-CA" dirty="0"/>
              <a:t>() can be used to find the lowest or highest value in a list of arguments</a:t>
            </a:r>
          </a:p>
          <a:p>
            <a:pPr lvl="1"/>
            <a:r>
              <a:rPr lang="en-CA" dirty="0" err="1"/>
              <a:t>Math.round</a:t>
            </a:r>
            <a:r>
              <a:rPr lang="en-CA" dirty="0"/>
              <a:t>() rounds a number to the nearest integer</a:t>
            </a:r>
          </a:p>
          <a:p>
            <a:pPr lvl="1"/>
            <a:r>
              <a:rPr lang="en-CA" dirty="0"/>
              <a:t>And many more …</a:t>
            </a:r>
          </a:p>
        </p:txBody>
      </p:sp>
    </p:spTree>
    <p:extLst>
      <p:ext uri="{BB962C8B-B14F-4D97-AF65-F5344CB8AC3E}">
        <p14:creationId xmlns:p14="http://schemas.microsoft.com/office/powerpoint/2010/main" val="13229610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 Math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JavaScript provides 8 mathematical constants that can be accessed with the Math object:</a:t>
            </a:r>
          </a:p>
          <a:p>
            <a:pPr lvl="1"/>
            <a:r>
              <a:rPr lang="en-CA" dirty="0" err="1"/>
              <a:t>Math.E</a:t>
            </a:r>
            <a:r>
              <a:rPr lang="en-CA" dirty="0"/>
              <a:t>          // returns Euler's number</a:t>
            </a:r>
            <a:br>
              <a:rPr lang="en-CA" dirty="0"/>
            </a:br>
            <a:r>
              <a:rPr lang="en-CA" dirty="0" err="1"/>
              <a:t>Math.PI</a:t>
            </a:r>
            <a:r>
              <a:rPr lang="en-CA" dirty="0"/>
              <a:t>         // returns PI</a:t>
            </a:r>
            <a:br>
              <a:rPr lang="en-CA" dirty="0"/>
            </a:br>
            <a:r>
              <a:rPr lang="en-CA" dirty="0"/>
              <a:t>Math.SQRT2      // returns the square root of 2</a:t>
            </a:r>
            <a:br>
              <a:rPr lang="en-CA" dirty="0"/>
            </a:br>
            <a:r>
              <a:rPr lang="en-CA" dirty="0"/>
              <a:t>Math.SQRT1_2    // returns the square root of 1/2</a:t>
            </a:r>
            <a:br>
              <a:rPr lang="en-CA" dirty="0"/>
            </a:br>
            <a:r>
              <a:rPr lang="en-CA" dirty="0"/>
              <a:t>Math.LN2        // returns the natural logarithm of 2</a:t>
            </a:r>
            <a:br>
              <a:rPr lang="en-CA" dirty="0"/>
            </a:br>
            <a:r>
              <a:rPr lang="en-CA" dirty="0"/>
              <a:t>Math.LN10       // returns the natural logarithm of 10</a:t>
            </a:r>
            <a:br>
              <a:rPr lang="en-CA" dirty="0"/>
            </a:br>
            <a:r>
              <a:rPr lang="en-CA" dirty="0"/>
              <a:t>Math.LOG2E      // returns base 2 logarithm of E</a:t>
            </a:r>
            <a:br>
              <a:rPr lang="en-CA" dirty="0"/>
            </a:br>
            <a:r>
              <a:rPr lang="en-CA" dirty="0"/>
              <a:t>Math.LOG10E     // returns base 10 logarithm of E</a:t>
            </a:r>
          </a:p>
        </p:txBody>
      </p:sp>
    </p:spTree>
    <p:extLst>
      <p:ext uri="{BB962C8B-B14F-4D97-AF65-F5344CB8AC3E}">
        <p14:creationId xmlns:p14="http://schemas.microsoft.com/office/powerpoint/2010/main" val="10793891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 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Date object lets you work with dates (years, months, days, hours, minutes, seconds, and milliseconds)</a:t>
            </a:r>
          </a:p>
          <a:p>
            <a:r>
              <a:rPr lang="en-CA" dirty="0"/>
              <a:t>A JavaScript date can be written as a string:</a:t>
            </a:r>
          </a:p>
          <a:p>
            <a:pPr lvl="1"/>
            <a:r>
              <a:rPr lang="en-CA" b="1" dirty="0"/>
              <a:t>Thu Apr 14 2016 13:49:53 GMT-0400 (Eastern Daylight Time)</a:t>
            </a:r>
            <a:endParaRPr lang="en-CA" dirty="0"/>
          </a:p>
          <a:p>
            <a:pPr marL="0" indent="0">
              <a:buNone/>
            </a:pPr>
            <a:r>
              <a:rPr lang="en-CA" dirty="0"/>
              <a:t>or as a number:</a:t>
            </a:r>
          </a:p>
          <a:p>
            <a:pPr lvl="1"/>
            <a:r>
              <a:rPr lang="en-CA" b="1" dirty="0"/>
              <a:t>1460656193711</a:t>
            </a:r>
            <a:endParaRPr lang="en-CA" dirty="0"/>
          </a:p>
          <a:p>
            <a:r>
              <a:rPr lang="en-CA" dirty="0"/>
              <a:t>Dates written as numbers, specifies the number of milliseconds since January 1, 1970, 00:00:00.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7395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Creating Date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The Date object lets us work with dates.</a:t>
            </a:r>
          </a:p>
          <a:p>
            <a:r>
              <a:rPr lang="en-CA" dirty="0"/>
              <a:t>A date consists of a year, a month, a day, an hour, a minute, a second, and milliseconds.</a:t>
            </a:r>
          </a:p>
          <a:p>
            <a:r>
              <a:rPr lang="en-CA" dirty="0"/>
              <a:t>Date objects are created with the </a:t>
            </a:r>
            <a:r>
              <a:rPr lang="en-CA" b="1" dirty="0"/>
              <a:t>new Date()</a:t>
            </a:r>
            <a:r>
              <a:rPr lang="en-CA" dirty="0"/>
              <a:t> constructor.</a:t>
            </a:r>
          </a:p>
          <a:p>
            <a:r>
              <a:rPr lang="en-CA" dirty="0"/>
              <a:t>There are </a:t>
            </a:r>
            <a:r>
              <a:rPr lang="en-CA" b="1" dirty="0"/>
              <a:t>4 ways</a:t>
            </a:r>
            <a:r>
              <a:rPr lang="en-CA" dirty="0"/>
              <a:t> of initiating a date:</a:t>
            </a:r>
          </a:p>
          <a:p>
            <a:pPr lvl="1"/>
            <a:r>
              <a:rPr lang="en-CA" dirty="0"/>
              <a:t>new Date()</a:t>
            </a:r>
            <a:br>
              <a:rPr lang="en-CA" dirty="0"/>
            </a:br>
            <a:r>
              <a:rPr lang="en-CA" dirty="0"/>
              <a:t>new Date(milliseconds)</a:t>
            </a:r>
            <a:br>
              <a:rPr lang="en-CA" dirty="0"/>
            </a:br>
            <a:r>
              <a:rPr lang="en-CA" dirty="0"/>
              <a:t>new Date(</a:t>
            </a:r>
            <a:r>
              <a:rPr lang="en-CA" dirty="0" err="1"/>
              <a:t>dateString</a:t>
            </a:r>
            <a:r>
              <a:rPr lang="en-CA" dirty="0"/>
              <a:t>)</a:t>
            </a:r>
            <a:br>
              <a:rPr lang="en-CA" dirty="0"/>
            </a:br>
            <a:r>
              <a:rPr lang="en-CA" dirty="0"/>
              <a:t>new Date(year</a:t>
            </a:r>
            <a:r>
              <a:rPr lang="en-CA"/>
              <a:t>, month, day=1, hours=0, minutes=0, seconds=0, milliseconds=0)</a:t>
            </a:r>
            <a:endParaRPr lang="en-CA" dirty="0"/>
          </a:p>
          <a:p>
            <a:r>
              <a:rPr lang="en-CA" dirty="0"/>
              <a:t>Using new Date(), creates a new date object with the </a:t>
            </a:r>
            <a:r>
              <a:rPr lang="en-CA" b="1" dirty="0"/>
              <a:t>current date and time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3994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Creating Date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Using new Date(), creates a new date object with the </a:t>
            </a:r>
            <a:r>
              <a:rPr lang="en-CA" b="1" dirty="0"/>
              <a:t>current date and time</a:t>
            </a:r>
            <a:endParaRPr lang="en-CA" dirty="0"/>
          </a:p>
          <a:p>
            <a:r>
              <a:rPr lang="en-CA" dirty="0"/>
              <a:t>Using new Date(</a:t>
            </a:r>
            <a:r>
              <a:rPr lang="en-CA" b="1" dirty="0"/>
              <a:t>number</a:t>
            </a:r>
            <a:r>
              <a:rPr lang="en-CA" dirty="0"/>
              <a:t>), creates a new date object as</a:t>
            </a:r>
            <a:r>
              <a:rPr lang="en-CA" b="1" dirty="0"/>
              <a:t> zero time plus the number</a:t>
            </a:r>
            <a:r>
              <a:rPr lang="en-CA" dirty="0"/>
              <a:t>.</a:t>
            </a:r>
          </a:p>
          <a:p>
            <a:pPr lvl="1"/>
            <a:r>
              <a:rPr lang="en-CA" dirty="0"/>
              <a:t>Zero time is 01 January 1970 00:00:00 UTC. The number is specified in milliseconds</a:t>
            </a:r>
          </a:p>
          <a:p>
            <a:r>
              <a:rPr lang="en-CA" dirty="0"/>
              <a:t>Using new Date(</a:t>
            </a:r>
            <a:r>
              <a:rPr lang="en-CA" b="1" dirty="0"/>
              <a:t>7 numbers</a:t>
            </a:r>
            <a:r>
              <a:rPr lang="en-CA" dirty="0"/>
              <a:t>), creates a new date object with the </a:t>
            </a:r>
            <a:r>
              <a:rPr lang="en-CA" b="1" dirty="0"/>
              <a:t>specified date and time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The 7 numbers specify the year, month, day, hour, minute, second, and millisecond, in that order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270834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Displaying Dates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When you display a date object in HTML, it is automatically converted to a string, with the </a:t>
            </a:r>
            <a:r>
              <a:rPr lang="en-CA" b="1" dirty="0" err="1"/>
              <a:t>toString</a:t>
            </a:r>
            <a:r>
              <a:rPr lang="en-CA" b="1" dirty="0"/>
              <a:t>()</a:t>
            </a:r>
            <a:r>
              <a:rPr lang="en-CA" dirty="0"/>
              <a:t> method</a:t>
            </a:r>
          </a:p>
          <a:p>
            <a:pPr marL="457200" lvl="1" indent="0">
              <a:buNone/>
            </a:pPr>
            <a:r>
              <a:rPr lang="en-CA" dirty="0" err="1"/>
              <a:t>document.getElementById</a:t>
            </a:r>
            <a:r>
              <a:rPr lang="en-CA" dirty="0"/>
              <a:t>("demo").</a:t>
            </a:r>
            <a:r>
              <a:rPr lang="en-CA" dirty="0" err="1"/>
              <a:t>innerHTML</a:t>
            </a:r>
            <a:r>
              <a:rPr lang="en-CA" dirty="0"/>
              <a:t> = d;  </a:t>
            </a:r>
          </a:p>
          <a:p>
            <a:pPr marL="457200" lvl="1" indent="0">
              <a:buNone/>
            </a:pPr>
            <a:r>
              <a:rPr lang="en-CA" dirty="0"/>
              <a:t>is the same as </a:t>
            </a:r>
          </a:p>
          <a:p>
            <a:pPr marL="457200" lvl="1" indent="0">
              <a:buNone/>
            </a:pPr>
            <a:r>
              <a:rPr lang="en-CA" dirty="0" err="1"/>
              <a:t>document.getElementById</a:t>
            </a:r>
            <a:r>
              <a:rPr lang="en-CA" dirty="0"/>
              <a:t>("demo").</a:t>
            </a:r>
            <a:r>
              <a:rPr lang="en-CA" dirty="0" err="1"/>
              <a:t>innerHTML</a:t>
            </a:r>
            <a:r>
              <a:rPr lang="en-CA" dirty="0"/>
              <a:t> = </a:t>
            </a:r>
            <a:r>
              <a:rPr lang="en-CA" dirty="0" err="1"/>
              <a:t>d.toString</a:t>
            </a:r>
            <a:r>
              <a:rPr lang="en-CA" dirty="0"/>
              <a:t>();</a:t>
            </a:r>
          </a:p>
          <a:p>
            <a:r>
              <a:rPr lang="en-CA" dirty="0"/>
              <a:t>The </a:t>
            </a:r>
            <a:r>
              <a:rPr lang="en-CA" b="1" dirty="0" err="1"/>
              <a:t>toDateString</a:t>
            </a:r>
            <a:r>
              <a:rPr lang="en-CA" b="1" dirty="0"/>
              <a:t>()</a:t>
            </a:r>
            <a:r>
              <a:rPr lang="en-CA" dirty="0"/>
              <a:t> method converts a date to a more readable format</a:t>
            </a:r>
          </a:p>
          <a:p>
            <a:r>
              <a:rPr lang="en-CA"/>
              <a:t>And more …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99216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 Comparison and Logical Operators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185184"/>
          <a:ext cx="10515600" cy="3632220"/>
        </p:xfrm>
        <a:graphic>
          <a:graphicData uri="http://schemas.openxmlformats.org/drawingml/2006/table">
            <a:tbl>
              <a:tblPr/>
              <a:tblGrid>
                <a:gridCol w="1256683">
                  <a:extLst>
                    <a:ext uri="{9D8B030D-6E8A-4147-A177-3AD203B41FA5}">
                      <a16:colId xmlns:a16="http://schemas.microsoft.com/office/drawing/2014/main" val="3399209192"/>
                    </a:ext>
                  </a:extLst>
                </a:gridCol>
                <a:gridCol w="9258917">
                  <a:extLst>
                    <a:ext uri="{9D8B030D-6E8A-4147-A177-3AD203B41FA5}">
                      <a16:colId xmlns:a16="http://schemas.microsoft.com/office/drawing/2014/main" val="1482792646"/>
                    </a:ext>
                  </a:extLst>
                </a:gridCol>
              </a:tblGrid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Operator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Description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962283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==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equal to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067779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===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equal value and equal type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61125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!=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not equal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760561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!==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not equal value or not equal type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882717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&gt;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greater than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89662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&lt;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less than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96894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&gt;=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greater than or equal to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42078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&lt;=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less than or equal to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785013"/>
                  </a:ext>
                </a:extLst>
              </a:tr>
              <a:tr h="363222"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>
                          <a:effectLst/>
                        </a:rPr>
                        <a:t>?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CA" sz="1500" dirty="0">
                          <a:effectLst/>
                        </a:rPr>
                        <a:t>ternary operator</a:t>
                      </a:r>
                    </a:p>
                  </a:txBody>
                  <a:tcPr marL="64861" marR="64861" marT="64861" marB="648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207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781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 If...Else 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Very often when you write code, you want to perform different actions for different decisions.</a:t>
            </a:r>
          </a:p>
          <a:p>
            <a:r>
              <a:rPr lang="en-CA" dirty="0"/>
              <a:t>You can use conditional statements in your code to do this.</a:t>
            </a:r>
          </a:p>
          <a:p>
            <a:r>
              <a:rPr lang="en-CA" dirty="0"/>
              <a:t>In JavaScript we have the following conditional statements:</a:t>
            </a:r>
          </a:p>
          <a:p>
            <a:pPr lvl="1"/>
            <a:r>
              <a:rPr lang="en-CA" dirty="0"/>
              <a:t>Use</a:t>
            </a:r>
            <a:r>
              <a:rPr lang="en-CA" b="1" dirty="0"/>
              <a:t> if </a:t>
            </a:r>
            <a:r>
              <a:rPr lang="en-CA" dirty="0"/>
              <a:t>to specify a block of code to be executed, if a specified condition is true</a:t>
            </a:r>
          </a:p>
          <a:p>
            <a:pPr lvl="1"/>
            <a:r>
              <a:rPr lang="en-CA" dirty="0"/>
              <a:t>Use </a:t>
            </a:r>
            <a:r>
              <a:rPr lang="en-CA" b="1" dirty="0"/>
              <a:t>else</a:t>
            </a:r>
            <a:r>
              <a:rPr lang="en-CA" dirty="0"/>
              <a:t> to specify a block of code to be executed, if the same condition is false</a:t>
            </a:r>
          </a:p>
          <a:p>
            <a:pPr lvl="1"/>
            <a:r>
              <a:rPr lang="en-CA" dirty="0"/>
              <a:t>Use </a:t>
            </a:r>
            <a:r>
              <a:rPr lang="en-CA" b="1" dirty="0"/>
              <a:t>else if</a:t>
            </a:r>
            <a:r>
              <a:rPr lang="en-CA" dirty="0"/>
              <a:t> to specify a new condition to test, if the first condition is false</a:t>
            </a:r>
          </a:p>
          <a:p>
            <a:pPr lvl="1"/>
            <a:r>
              <a:rPr lang="en-CA" dirty="0"/>
              <a:t>Use </a:t>
            </a:r>
            <a:r>
              <a:rPr lang="en-CA" b="1" dirty="0"/>
              <a:t>switch</a:t>
            </a:r>
            <a:r>
              <a:rPr lang="en-CA" dirty="0"/>
              <a:t> to specify many alternative blocks of code to be executed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33349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Use the </a:t>
            </a:r>
            <a:r>
              <a:rPr lang="en-CA" b="1" dirty="0"/>
              <a:t>if</a:t>
            </a:r>
            <a:r>
              <a:rPr lang="en-CA" dirty="0"/>
              <a:t> statement to specify a block of JavaScript code to be executed if a condition is true.</a:t>
            </a:r>
          </a:p>
          <a:p>
            <a:pPr lvl="1"/>
            <a:r>
              <a:rPr lang="en-CA" dirty="0"/>
              <a:t>if (</a:t>
            </a:r>
            <a:r>
              <a:rPr lang="en-CA" i="1" dirty="0"/>
              <a:t>condition</a:t>
            </a:r>
            <a:r>
              <a:rPr lang="en-CA" dirty="0"/>
              <a:t>) {</a:t>
            </a:r>
            <a:br>
              <a:rPr lang="en-CA" dirty="0"/>
            </a:br>
            <a:r>
              <a:rPr lang="en-CA" i="1" dirty="0"/>
              <a:t>    block of code to be executed if the condition is true</a:t>
            </a:r>
            <a:br>
              <a:rPr lang="en-CA" i="1" dirty="0"/>
            </a:br>
            <a:r>
              <a:rPr lang="en-CA" dirty="0"/>
              <a:t>}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638274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Use the </a:t>
            </a:r>
            <a:r>
              <a:rPr lang="en-CA" b="1" dirty="0"/>
              <a:t>else</a:t>
            </a:r>
            <a:r>
              <a:rPr lang="en-CA" dirty="0"/>
              <a:t> statement to specify a block of code to be executed if the condition is false.</a:t>
            </a:r>
          </a:p>
          <a:p>
            <a:pPr lvl="1"/>
            <a:r>
              <a:rPr lang="en-CA" dirty="0"/>
              <a:t>if (</a:t>
            </a:r>
            <a:r>
              <a:rPr lang="en-CA" i="1" dirty="0"/>
              <a:t>condition</a:t>
            </a:r>
            <a:r>
              <a:rPr lang="en-CA" dirty="0"/>
              <a:t>) {</a:t>
            </a:r>
            <a:br>
              <a:rPr lang="en-CA" dirty="0"/>
            </a:br>
            <a:r>
              <a:rPr lang="en-CA" i="1" dirty="0"/>
              <a:t>    block of code to be executed if the condition is true</a:t>
            </a:r>
            <a:br>
              <a:rPr lang="en-CA" i="1" dirty="0"/>
            </a:br>
            <a:r>
              <a:rPr lang="en-CA" dirty="0"/>
              <a:t>} else { </a:t>
            </a:r>
            <a:br>
              <a:rPr lang="en-CA" dirty="0"/>
            </a:br>
            <a:r>
              <a:rPr lang="en-CA" i="1" dirty="0"/>
              <a:t>    block of code to be executed if the condition is false</a:t>
            </a:r>
            <a:br>
              <a:rPr lang="en-CA" i="1" dirty="0"/>
            </a:br>
            <a:r>
              <a:rPr lang="en-CA" dirty="0"/>
              <a:t>}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544071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else if 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Use the </a:t>
            </a:r>
            <a:r>
              <a:rPr lang="en-CA" b="1" dirty="0"/>
              <a:t>else if</a:t>
            </a:r>
            <a:r>
              <a:rPr lang="en-CA" dirty="0"/>
              <a:t> statement to specify a new condition if the first condition is false.</a:t>
            </a:r>
          </a:p>
          <a:p>
            <a:pPr lvl="1"/>
            <a:r>
              <a:rPr lang="en-CA" dirty="0"/>
              <a:t>if (</a:t>
            </a:r>
            <a:r>
              <a:rPr lang="en-CA" i="1" dirty="0"/>
              <a:t>condition1</a:t>
            </a:r>
            <a:r>
              <a:rPr lang="en-CA" dirty="0"/>
              <a:t>) {</a:t>
            </a:r>
            <a:br>
              <a:rPr lang="en-CA" dirty="0"/>
            </a:br>
            <a:r>
              <a:rPr lang="en-CA" i="1" dirty="0"/>
              <a:t>    block of code to be executed if condition1 is true</a:t>
            </a:r>
            <a:br>
              <a:rPr lang="en-CA" i="1" dirty="0"/>
            </a:br>
            <a:r>
              <a:rPr lang="en-CA" dirty="0"/>
              <a:t>} else if (</a:t>
            </a:r>
            <a:r>
              <a:rPr lang="en-CA" i="1" dirty="0"/>
              <a:t>condition2</a:t>
            </a:r>
            <a:r>
              <a:rPr lang="en-CA" dirty="0"/>
              <a:t>) {</a:t>
            </a:r>
            <a:br>
              <a:rPr lang="en-CA" dirty="0"/>
            </a:br>
            <a:r>
              <a:rPr lang="en-CA" i="1" dirty="0"/>
              <a:t>    block of code to be executed if the condition1 is false and condition2 is true</a:t>
            </a:r>
            <a:br>
              <a:rPr lang="en-CA" dirty="0"/>
            </a:br>
            <a:r>
              <a:rPr lang="en-CA" dirty="0"/>
              <a:t>} else {</a:t>
            </a:r>
            <a:br>
              <a:rPr lang="en-CA" dirty="0"/>
            </a:br>
            <a:r>
              <a:rPr lang="en-CA" i="1" dirty="0"/>
              <a:t>    block of code to be executed if the condition1 is false and condition2 is false</a:t>
            </a:r>
            <a:br>
              <a:rPr lang="en-CA" i="1" dirty="0"/>
            </a:br>
            <a:r>
              <a:rPr lang="en-CA" dirty="0"/>
              <a:t>}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021520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JavaScript 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A" dirty="0"/>
              <a:t>Use the switch statement to select one of many blocks of code to be executed.</a:t>
            </a:r>
          </a:p>
          <a:p>
            <a:r>
              <a:rPr lang="en-CA" dirty="0"/>
              <a:t>This is how it works:</a:t>
            </a:r>
          </a:p>
          <a:p>
            <a:pPr lvl="1"/>
            <a:r>
              <a:rPr lang="en-CA" dirty="0"/>
              <a:t>The switch expression is evaluated once.</a:t>
            </a:r>
          </a:p>
          <a:p>
            <a:pPr lvl="1"/>
            <a:r>
              <a:rPr lang="en-CA" dirty="0"/>
              <a:t>The value of the expression is compared with the values of each case.</a:t>
            </a:r>
          </a:p>
          <a:p>
            <a:pPr lvl="1"/>
            <a:r>
              <a:rPr lang="en-CA" dirty="0"/>
              <a:t>If there is a match, the associated block of code is executed.</a:t>
            </a:r>
          </a:p>
          <a:p>
            <a:r>
              <a:rPr lang="en-CA" dirty="0"/>
              <a:t>Syntax</a:t>
            </a:r>
          </a:p>
          <a:p>
            <a:pPr lvl="1"/>
            <a:r>
              <a:rPr lang="en-CA" dirty="0"/>
              <a:t>switch(</a:t>
            </a:r>
            <a:r>
              <a:rPr lang="en-CA" i="1" dirty="0"/>
              <a:t>expression</a:t>
            </a:r>
            <a:r>
              <a:rPr lang="en-CA" dirty="0"/>
              <a:t>) {</a:t>
            </a:r>
            <a:br>
              <a:rPr lang="en-CA" dirty="0"/>
            </a:br>
            <a:r>
              <a:rPr lang="en-CA" dirty="0"/>
              <a:t>    case </a:t>
            </a:r>
            <a:r>
              <a:rPr lang="en-CA" i="1" dirty="0"/>
              <a:t>n</a:t>
            </a:r>
            <a:r>
              <a:rPr lang="en-CA" dirty="0"/>
              <a:t>:</a:t>
            </a:r>
            <a:br>
              <a:rPr lang="en-CA" dirty="0"/>
            </a:br>
            <a:r>
              <a:rPr lang="en-CA" i="1" dirty="0"/>
              <a:t>        code block</a:t>
            </a:r>
            <a:br>
              <a:rPr lang="en-CA" i="1" dirty="0"/>
            </a:br>
            <a:r>
              <a:rPr lang="en-CA" dirty="0"/>
              <a:t>        break;</a:t>
            </a:r>
            <a:br>
              <a:rPr lang="en-CA" dirty="0"/>
            </a:br>
            <a:r>
              <a:rPr lang="en-CA" dirty="0"/>
              <a:t>    case </a:t>
            </a:r>
            <a:r>
              <a:rPr lang="en-CA" i="1" dirty="0"/>
              <a:t>n</a:t>
            </a:r>
            <a:r>
              <a:rPr lang="en-CA" dirty="0"/>
              <a:t>:</a:t>
            </a:r>
            <a:br>
              <a:rPr lang="en-CA" dirty="0"/>
            </a:br>
            <a:r>
              <a:rPr lang="en-CA" i="1" dirty="0"/>
              <a:t>        code block</a:t>
            </a:r>
            <a:br>
              <a:rPr lang="en-CA" i="1" dirty="0"/>
            </a:br>
            <a:r>
              <a:rPr lang="en-CA" dirty="0"/>
              <a:t>        break;</a:t>
            </a:r>
            <a:br>
              <a:rPr lang="en-CA" dirty="0"/>
            </a:br>
            <a:r>
              <a:rPr lang="en-CA" dirty="0"/>
              <a:t>    default:</a:t>
            </a:r>
            <a:br>
              <a:rPr lang="en-CA" dirty="0"/>
            </a:br>
            <a:r>
              <a:rPr lang="en-CA" dirty="0"/>
              <a:t>        </a:t>
            </a:r>
            <a:r>
              <a:rPr lang="en-CA" i="1" dirty="0"/>
              <a:t>default code block</a:t>
            </a:r>
            <a:br>
              <a:rPr lang="en-CA" dirty="0"/>
            </a:br>
            <a:r>
              <a:rPr lang="en-CA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79248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Loops are handy, if you want to run the same code over and over again, each time with a different value.</a:t>
            </a:r>
          </a:p>
          <a:p>
            <a:r>
              <a:rPr lang="en-CA" dirty="0"/>
              <a:t>JavaScript supports different kinds of loops, mainly:</a:t>
            </a:r>
          </a:p>
          <a:p>
            <a:pPr lvl="1"/>
            <a:r>
              <a:rPr lang="en-CA" b="1" dirty="0"/>
              <a:t>for </a:t>
            </a:r>
            <a:r>
              <a:rPr lang="en-CA" dirty="0"/>
              <a:t>- loops through a block of code a number of times</a:t>
            </a:r>
          </a:p>
          <a:p>
            <a:pPr lvl="1"/>
            <a:r>
              <a:rPr lang="en-CA" b="1" dirty="0"/>
              <a:t>while </a:t>
            </a:r>
            <a:r>
              <a:rPr lang="en-CA" dirty="0"/>
              <a:t>- loops through a block of code while a specified condition is true</a:t>
            </a:r>
          </a:p>
        </p:txBody>
      </p:sp>
    </p:spTree>
    <p:extLst>
      <p:ext uri="{BB962C8B-B14F-4D97-AF65-F5344CB8AC3E}">
        <p14:creationId xmlns:p14="http://schemas.microsoft.com/office/powerpoint/2010/main" val="23940654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The for loop is often the tool you will use when you want to create a loop.</a:t>
            </a:r>
          </a:p>
          <a:p>
            <a:r>
              <a:rPr lang="en-CA" dirty="0"/>
              <a:t>The for loop has the following syntax:</a:t>
            </a:r>
          </a:p>
          <a:p>
            <a:pPr lvl="1"/>
            <a:r>
              <a:rPr lang="en-CA" dirty="0"/>
              <a:t>for (</a:t>
            </a:r>
            <a:r>
              <a:rPr lang="en-CA" i="1" dirty="0"/>
              <a:t>statement 1</a:t>
            </a:r>
            <a:r>
              <a:rPr lang="en-CA" dirty="0"/>
              <a:t>;</a:t>
            </a:r>
            <a:r>
              <a:rPr lang="en-CA" i="1" dirty="0"/>
              <a:t> statement 2</a:t>
            </a:r>
            <a:r>
              <a:rPr lang="en-CA" dirty="0"/>
              <a:t>;</a:t>
            </a:r>
            <a:r>
              <a:rPr lang="en-CA" i="1" dirty="0"/>
              <a:t> statement 3</a:t>
            </a:r>
            <a:r>
              <a:rPr lang="en-CA" dirty="0"/>
              <a:t>) {</a:t>
            </a:r>
            <a:br>
              <a:rPr lang="en-CA" dirty="0"/>
            </a:br>
            <a:r>
              <a:rPr lang="en-CA" dirty="0"/>
              <a:t>    </a:t>
            </a:r>
            <a:r>
              <a:rPr lang="en-CA" i="1" dirty="0"/>
              <a:t>code block to be executed</a:t>
            </a:r>
            <a:br>
              <a:rPr lang="en-CA" dirty="0"/>
            </a:br>
            <a:r>
              <a:rPr lang="en-CA" dirty="0"/>
              <a:t>}</a:t>
            </a:r>
          </a:p>
          <a:p>
            <a:pPr lvl="1"/>
            <a:r>
              <a:rPr lang="en-CA" b="1" dirty="0"/>
              <a:t>Statement 1</a:t>
            </a:r>
            <a:r>
              <a:rPr lang="en-CA" dirty="0"/>
              <a:t> is executed before the loop (the code block) starts.</a:t>
            </a:r>
          </a:p>
          <a:p>
            <a:pPr lvl="1"/>
            <a:r>
              <a:rPr lang="en-CA" b="1" dirty="0"/>
              <a:t>Statement 2</a:t>
            </a:r>
            <a:r>
              <a:rPr lang="en-CA" dirty="0"/>
              <a:t> defines the condition for running the loop (the code block).</a:t>
            </a:r>
          </a:p>
          <a:p>
            <a:pPr lvl="1"/>
            <a:r>
              <a:rPr lang="en-CA" b="1" dirty="0"/>
              <a:t>Statement 3</a:t>
            </a:r>
            <a:r>
              <a:rPr lang="en-CA" dirty="0"/>
              <a:t> is executed each time after the loop (the code block) has been executed.</a:t>
            </a:r>
          </a:p>
          <a:p>
            <a:r>
              <a:rPr lang="en-CA" dirty="0"/>
              <a:t>Example</a:t>
            </a:r>
          </a:p>
          <a:p>
            <a:pPr lvl="1"/>
            <a:r>
              <a:rPr lang="en-CA" dirty="0"/>
              <a:t>for (</a:t>
            </a:r>
            <a:r>
              <a:rPr lang="en-CA" dirty="0" err="1"/>
              <a:t>i</a:t>
            </a:r>
            <a:r>
              <a:rPr lang="en-CA" dirty="0"/>
              <a:t> = 0; </a:t>
            </a:r>
            <a:r>
              <a:rPr lang="en-CA" dirty="0" err="1"/>
              <a:t>i</a:t>
            </a:r>
            <a:r>
              <a:rPr lang="en-CA" dirty="0"/>
              <a:t> &lt; 5; </a:t>
            </a:r>
            <a:r>
              <a:rPr lang="en-CA" dirty="0" err="1"/>
              <a:t>i</a:t>
            </a:r>
            <a:r>
              <a:rPr lang="en-CA" dirty="0"/>
              <a:t>++) {</a:t>
            </a:r>
            <a:br>
              <a:rPr lang="en-CA" dirty="0"/>
            </a:br>
            <a:r>
              <a:rPr lang="en-CA" dirty="0"/>
              <a:t>    text += "The number is " + </a:t>
            </a:r>
            <a:r>
              <a:rPr lang="en-CA" dirty="0" err="1"/>
              <a:t>i</a:t>
            </a:r>
            <a:r>
              <a:rPr lang="en-CA" dirty="0"/>
              <a:t> + "&lt;</a:t>
            </a:r>
            <a:r>
              <a:rPr lang="en-CA" dirty="0" err="1"/>
              <a:t>br</a:t>
            </a:r>
            <a:r>
              <a:rPr lang="en-CA" dirty="0"/>
              <a:t>&gt;";</a:t>
            </a:r>
            <a:br>
              <a:rPr lang="en-CA" dirty="0"/>
            </a:br>
            <a:r>
              <a:rPr lang="en-CA" dirty="0"/>
              <a:t>}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014055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The while loop loops through a block of code as long as a specified condition is true.</a:t>
            </a:r>
          </a:p>
          <a:p>
            <a:pPr lvl="1"/>
            <a:r>
              <a:rPr lang="en-CA" dirty="0"/>
              <a:t>while (</a:t>
            </a:r>
            <a:r>
              <a:rPr lang="en-CA" i="1" dirty="0"/>
              <a:t>condition</a:t>
            </a:r>
            <a:r>
              <a:rPr lang="en-CA" dirty="0"/>
              <a:t>) {</a:t>
            </a:r>
            <a:br>
              <a:rPr lang="en-CA" dirty="0"/>
            </a:br>
            <a:r>
              <a:rPr lang="en-CA" i="1" dirty="0"/>
              <a:t>    code block to be executed</a:t>
            </a:r>
            <a:br>
              <a:rPr lang="en-CA" dirty="0"/>
            </a:br>
            <a:r>
              <a:rPr lang="en-CA" dirty="0"/>
              <a:t>}</a:t>
            </a:r>
          </a:p>
          <a:p>
            <a:endParaRPr lang="en-CA" dirty="0"/>
          </a:p>
          <a:p>
            <a:r>
              <a:rPr lang="en-CA" dirty="0"/>
              <a:t>Example</a:t>
            </a:r>
          </a:p>
          <a:p>
            <a:pPr lvl="1"/>
            <a:r>
              <a:rPr lang="en-CA" dirty="0"/>
              <a:t>while (</a:t>
            </a:r>
            <a:r>
              <a:rPr lang="en-CA" dirty="0" err="1"/>
              <a:t>i</a:t>
            </a:r>
            <a:r>
              <a:rPr lang="en-CA" dirty="0"/>
              <a:t> &lt; 10) {</a:t>
            </a:r>
            <a:br>
              <a:rPr lang="en-CA" dirty="0"/>
            </a:br>
            <a:r>
              <a:rPr lang="en-CA" dirty="0"/>
              <a:t>    text += "The number is " + </a:t>
            </a:r>
            <a:r>
              <a:rPr lang="en-CA" dirty="0" err="1"/>
              <a:t>i</a:t>
            </a:r>
            <a:r>
              <a:rPr lang="en-CA" dirty="0"/>
              <a:t>;</a:t>
            </a:r>
            <a:br>
              <a:rPr lang="en-CA" dirty="0"/>
            </a:br>
            <a:r>
              <a:rPr lang="en-CA" dirty="0"/>
              <a:t>    </a:t>
            </a:r>
            <a:r>
              <a:rPr lang="en-CA" dirty="0" err="1"/>
              <a:t>i</a:t>
            </a:r>
            <a:r>
              <a:rPr lang="en-CA" dirty="0"/>
              <a:t>++;</a:t>
            </a:r>
            <a:br>
              <a:rPr lang="en-CA" dirty="0"/>
            </a:br>
            <a:r>
              <a:rPr lang="en-CA" dirty="0"/>
              <a:t>}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32463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 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A JavaScript function is a block of code designed to perform a particular task.</a:t>
            </a:r>
          </a:p>
          <a:p>
            <a:r>
              <a:rPr lang="en-CA" dirty="0"/>
              <a:t>A JavaScript function is executed when "something" invokes it (calls it).</a:t>
            </a:r>
          </a:p>
          <a:p>
            <a:r>
              <a:rPr lang="en-CA" dirty="0"/>
              <a:t>A JavaScript function is defined with the </a:t>
            </a:r>
            <a:r>
              <a:rPr lang="en-CA" b="1" dirty="0"/>
              <a:t>function</a:t>
            </a:r>
            <a:r>
              <a:rPr lang="en-CA" dirty="0"/>
              <a:t> keyword, followed by a </a:t>
            </a:r>
            <a:r>
              <a:rPr lang="en-CA" b="1" dirty="0"/>
              <a:t>name</a:t>
            </a:r>
            <a:r>
              <a:rPr lang="en-CA" dirty="0"/>
              <a:t>, followed by parentheses </a:t>
            </a:r>
            <a:r>
              <a:rPr lang="en-CA" b="1" dirty="0"/>
              <a:t>()</a:t>
            </a:r>
            <a:r>
              <a:rPr lang="en-CA" dirty="0"/>
              <a:t>.</a:t>
            </a:r>
          </a:p>
          <a:p>
            <a:r>
              <a:rPr lang="en-CA" dirty="0"/>
              <a:t>Function names can contain letters, digits, underscores, and dollar signs (same rules as variables).</a:t>
            </a:r>
          </a:p>
          <a:p>
            <a:r>
              <a:rPr lang="en-CA" dirty="0"/>
              <a:t>The parentheses may include parameter names separated by commas: </a:t>
            </a:r>
            <a:r>
              <a:rPr lang="en-CA" b="1" dirty="0"/>
              <a:t>(</a:t>
            </a:r>
            <a:r>
              <a:rPr lang="en-CA" b="1" i="1" dirty="0"/>
              <a:t>parameter1,  parameter2, ...</a:t>
            </a:r>
            <a:r>
              <a:rPr lang="en-CA" b="1" dirty="0"/>
              <a:t>)</a:t>
            </a:r>
            <a:endParaRPr lang="en-CA" dirty="0"/>
          </a:p>
          <a:p>
            <a:r>
              <a:rPr lang="en-CA" dirty="0"/>
              <a:t>The code to be executed, by the function, is placed inside curly brackets: </a:t>
            </a:r>
            <a:r>
              <a:rPr lang="en-CA" b="1" dirty="0"/>
              <a:t>{}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70650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JavaScript Functions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function </a:t>
            </a:r>
            <a:r>
              <a:rPr lang="en-CA" i="1" dirty="0"/>
              <a:t>name</a:t>
            </a:r>
            <a:r>
              <a:rPr lang="en-CA" dirty="0"/>
              <a:t>(</a:t>
            </a:r>
            <a:r>
              <a:rPr lang="en-CA" i="1" dirty="0"/>
              <a:t>parameter1, parameter2, parameter3</a:t>
            </a:r>
            <a:r>
              <a:rPr lang="en-CA" dirty="0"/>
              <a:t>) {</a:t>
            </a:r>
            <a:br>
              <a:rPr lang="en-CA" dirty="0"/>
            </a:br>
            <a:r>
              <a:rPr lang="en-CA" dirty="0"/>
              <a:t>    </a:t>
            </a:r>
            <a:r>
              <a:rPr lang="en-CA" i="1" dirty="0"/>
              <a:t>code to be executed</a:t>
            </a:r>
            <a:br>
              <a:rPr lang="en-CA" dirty="0"/>
            </a:br>
            <a:r>
              <a:rPr lang="en-CA" dirty="0"/>
              <a:t>}</a:t>
            </a:r>
          </a:p>
          <a:p>
            <a:r>
              <a:rPr lang="en-CA" dirty="0"/>
              <a:t>Function </a:t>
            </a:r>
            <a:r>
              <a:rPr lang="en-CA" b="1" dirty="0"/>
              <a:t>parameters</a:t>
            </a:r>
            <a:r>
              <a:rPr lang="en-CA" dirty="0"/>
              <a:t> are the </a:t>
            </a:r>
            <a:r>
              <a:rPr lang="en-CA" b="1" dirty="0"/>
              <a:t>names</a:t>
            </a:r>
            <a:r>
              <a:rPr lang="en-CA" dirty="0"/>
              <a:t> listed in the function definition.</a:t>
            </a:r>
          </a:p>
          <a:p>
            <a:r>
              <a:rPr lang="en-CA" dirty="0"/>
              <a:t>Function </a:t>
            </a:r>
            <a:r>
              <a:rPr lang="en-CA" b="1" dirty="0"/>
              <a:t>arguments</a:t>
            </a:r>
            <a:r>
              <a:rPr lang="en-CA" dirty="0"/>
              <a:t> are the real </a:t>
            </a:r>
            <a:r>
              <a:rPr lang="en-CA" b="1" dirty="0"/>
              <a:t>values</a:t>
            </a:r>
            <a:r>
              <a:rPr lang="en-CA" dirty="0"/>
              <a:t> received by the function when it is invoked.</a:t>
            </a:r>
          </a:p>
          <a:p>
            <a:r>
              <a:rPr lang="en-CA" dirty="0"/>
              <a:t>Inside the function, the arguments behave as local variables.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74942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Function Invocation/Return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code inside the function will execute when "something" </a:t>
            </a:r>
            <a:r>
              <a:rPr lang="en-CA" b="1" dirty="0"/>
              <a:t>invokes</a:t>
            </a:r>
            <a:r>
              <a:rPr lang="en-CA" dirty="0"/>
              <a:t> (calls) the function.</a:t>
            </a:r>
          </a:p>
          <a:p>
            <a:r>
              <a:rPr lang="en-CA" dirty="0"/>
              <a:t>When JavaScript reaches a </a:t>
            </a:r>
            <a:r>
              <a:rPr lang="en-CA" b="1" dirty="0"/>
              <a:t>return statement</a:t>
            </a:r>
            <a:r>
              <a:rPr lang="en-CA" dirty="0"/>
              <a:t>, the function will stop executing.</a:t>
            </a:r>
          </a:p>
          <a:p>
            <a:r>
              <a:rPr lang="en-CA" dirty="0"/>
              <a:t>Functions often compute a </a:t>
            </a:r>
            <a:r>
              <a:rPr lang="en-CA" b="1" dirty="0"/>
              <a:t>return value</a:t>
            </a:r>
            <a:r>
              <a:rPr lang="en-CA" dirty="0"/>
              <a:t>. The return value is "returned" back to the "caller“.</a:t>
            </a:r>
          </a:p>
        </p:txBody>
      </p:sp>
    </p:spTree>
    <p:extLst>
      <p:ext uri="{BB962C8B-B14F-4D97-AF65-F5344CB8AC3E}">
        <p14:creationId xmlns:p14="http://schemas.microsoft.com/office/powerpoint/2010/main" val="18158676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www.w3schools.com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0296916"/>
      </p:ext>
    </p:extLst>
  </p:cSld>
  <p:clrMapOvr>
    <a:masterClrMapping/>
  </p:clrMapOvr>
</p:sld>
</file>

<file path=ppt/theme/theme1.xml><?xml version="1.0" encoding="utf-8"?>
<a:theme xmlns:a="http://schemas.openxmlformats.org/drawingml/2006/main" name="Vani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601EB27-C4D3-4ADE-B073-F7C1590DA955}" vid="{ADCC8685-53B0-4134-BCBE-E9A7ECBBB4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Vanier</Template>
  <TotalTime>545</TotalTime>
  <Words>3087</Words>
  <Application>Microsoft Office PowerPoint</Application>
  <PresentationFormat>Widescreen</PresentationFormat>
  <Paragraphs>279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Calibri Light</vt:lpstr>
      <vt:lpstr>Vanier</vt:lpstr>
      <vt:lpstr>JavaScript</vt:lpstr>
      <vt:lpstr>What is JavaScript </vt:lpstr>
      <vt:lpstr>Why Study JavaScript </vt:lpstr>
      <vt:lpstr>Where to put your JavaScript code</vt:lpstr>
      <vt:lpstr>JavaScript Functions and Events</vt:lpstr>
      <vt:lpstr>External JavaScript</vt:lpstr>
      <vt:lpstr>Using External JavaScript Files </vt:lpstr>
      <vt:lpstr>Advantages of using External JavaScript Files</vt:lpstr>
      <vt:lpstr>Displaying information in JavaScript</vt:lpstr>
      <vt:lpstr>Using window.alert()</vt:lpstr>
      <vt:lpstr>Using window.alert()</vt:lpstr>
      <vt:lpstr>Using document.write()</vt:lpstr>
      <vt:lpstr>Using innerHTML</vt:lpstr>
      <vt:lpstr>Using innerHTML</vt:lpstr>
      <vt:lpstr>Programming in JavaScript</vt:lpstr>
      <vt:lpstr>JavaScript Variables</vt:lpstr>
      <vt:lpstr>JavaScript Variables</vt:lpstr>
      <vt:lpstr>JavaScript Statements</vt:lpstr>
      <vt:lpstr>JavaScript Programs</vt:lpstr>
      <vt:lpstr>JavaScript Code Blocks</vt:lpstr>
      <vt:lpstr>JavaScript Identifiers</vt:lpstr>
      <vt:lpstr>The Assignment Operator</vt:lpstr>
      <vt:lpstr>JavaScript Data Types</vt:lpstr>
      <vt:lpstr>Other JavaScript Data Types</vt:lpstr>
      <vt:lpstr>Declaring JavaScript Variables</vt:lpstr>
      <vt:lpstr>JavaScript Operators</vt:lpstr>
      <vt:lpstr>JavaScript String Operators</vt:lpstr>
      <vt:lpstr>Working with Strings</vt:lpstr>
      <vt:lpstr>Working with Numbers</vt:lpstr>
      <vt:lpstr>JavaScript Math Object</vt:lpstr>
      <vt:lpstr>JavaScript Math Constants</vt:lpstr>
      <vt:lpstr>JavaScript Dates</vt:lpstr>
      <vt:lpstr>Creating Date Objects</vt:lpstr>
      <vt:lpstr>Creating Date Objects</vt:lpstr>
      <vt:lpstr>Displaying Dates </vt:lpstr>
      <vt:lpstr>JavaScript Comparison and Logical Operators</vt:lpstr>
      <vt:lpstr>JavaScript If...Else Statements</vt:lpstr>
      <vt:lpstr>The if Statement</vt:lpstr>
      <vt:lpstr>The else Statement</vt:lpstr>
      <vt:lpstr>The else if Statement</vt:lpstr>
      <vt:lpstr>The JavaScript Switch Statement</vt:lpstr>
      <vt:lpstr>JavaScript Loops</vt:lpstr>
      <vt:lpstr>The For Loop</vt:lpstr>
      <vt:lpstr>The While Loop</vt:lpstr>
      <vt:lpstr>JavaScript Functions</vt:lpstr>
      <vt:lpstr>JavaScript Functions (example)</vt:lpstr>
      <vt:lpstr>Function Invocation/Return</vt:lpstr>
      <vt:lpstr>References</vt:lpstr>
    </vt:vector>
  </TitlesOfParts>
  <Company>CEGEP Vanier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</dc:title>
  <dc:creator>Ronald Raphael</dc:creator>
  <cp:lastModifiedBy>Ronald Raphael</cp:lastModifiedBy>
  <cp:revision>164</cp:revision>
  <dcterms:created xsi:type="dcterms:W3CDTF">2016-02-11T12:39:09Z</dcterms:created>
  <dcterms:modified xsi:type="dcterms:W3CDTF">2021-02-17T21:50:11Z</dcterms:modified>
</cp:coreProperties>
</file>