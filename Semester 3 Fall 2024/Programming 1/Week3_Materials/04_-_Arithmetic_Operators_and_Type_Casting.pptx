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911F30E-F811-4B0A-A50C-B072DD303825}">
          <p14:sldIdLst>
            <p14:sldId id="256"/>
          </p14:sldIdLst>
        </p14:section>
        <p14:section name="Arithmetic Operators" id="{23AF97AC-32D2-4FBB-9EEB-D1253087FC58}">
          <p14:sldIdLst>
            <p14:sldId id="258"/>
            <p14:sldId id="259"/>
            <p14:sldId id="260"/>
            <p14:sldId id="261"/>
          </p14:sldIdLst>
        </p14:section>
        <p14:section name="Integer Division and Modulus" id="{C60342D8-F308-46BF-8930-53366C1858B0}">
          <p14:sldIdLst>
            <p14:sldId id="262"/>
          </p14:sldIdLst>
        </p14:section>
        <p14:section name="Division by 0" id="{81B86796-BBF9-46E0-86F9-1E886CF1E855}">
          <p14:sldIdLst>
            <p14:sldId id="263"/>
            <p14:sldId id="264"/>
          </p14:sldIdLst>
        </p14:section>
        <p14:section name="Mixed-Type Arithmetic and Type Casting" id="{01FD200A-B17E-4128-9F60-318CE1A76965}">
          <p14:sldIdLst>
            <p14:sldId id="265"/>
            <p14:sldId id="266"/>
            <p14:sldId id="267"/>
            <p14:sldId id="268"/>
          </p14:sldIdLst>
        </p14:section>
        <p14:section name="References" id="{7A1B7B76-CE42-4F61-AF47-D87823311B7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ald Raphael" initials="RR" lastIdx="1" clrIdx="0">
    <p:extLst>
      <p:ext uri="{19B8F6BF-5375-455C-9EA6-DF929625EA0E}">
        <p15:presenceInfo xmlns:p15="http://schemas.microsoft.com/office/powerpoint/2012/main" userId="S-1-5-21-916696058-2672773846-924747076-99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6-14T14:18:02.915" idx="1">
    <p:pos x="7227" y="997"/>
    <p:text>Promotions are performed using the first of these rules that fits the situation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33383"/>
            <a:ext cx="9144000" cy="207657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68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02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1147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89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2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0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2811"/>
            <a:ext cx="6172200" cy="43782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93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1049"/>
            <a:ext cx="6172200" cy="4370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43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8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82811"/>
            <a:ext cx="2628900" cy="4694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98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058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5DA88-BE35-46EA-8123-B1EAF6CED2DD}" type="datetimeFigureOut">
              <a:rPr lang="en-CA" smtClean="0"/>
              <a:t>2024-08-31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5" y="638608"/>
            <a:ext cx="2333625" cy="7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6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nutsandbolts/op1.html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71718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Java’s arithmetic operators are used for performing calculations on numeric data 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All these operators take 2 operands; thus they are called binary operators </a:t>
            </a:r>
            <a:r>
              <a:rPr lang="en-CA" i="1" baseline="30000" dirty="0"/>
              <a:t>1</a:t>
            </a:r>
          </a:p>
          <a:p>
            <a:endParaRPr lang="en-CA" i="1" dirty="0"/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428267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100193"/>
              </p:ext>
            </p:extLst>
          </p:nvPr>
        </p:nvGraphicFramePr>
        <p:xfrm>
          <a:off x="838200" y="1825625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314571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02950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15867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81047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Operator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Name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Example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9159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+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Addition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Adds together two values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+ 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944265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-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Subtraction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Subtracts one value from another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- 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55048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*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Multiplication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Multiplies two values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* 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9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/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Division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Divides one value from another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/ 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68578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%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Modulus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Returns the division remainder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% 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79695483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11712" y="1825625"/>
            <a:ext cx="246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433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Operator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Java compiler follows a set of rules called operator precedence to determine the order in which the operations should be performed </a:t>
            </a:r>
            <a:r>
              <a:rPr lang="en-CA" i="1" baseline="30000" dirty="0"/>
              <a:t>1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35756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1738894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003674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379044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7346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Operator 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Order of Same-Statement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1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parentheses for explicit grouping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85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*, /,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multiplication, division,</a:t>
                      </a:r>
                      <a:r>
                        <a:rPr lang="en-CA" baseline="0" dirty="0"/>
                        <a:t> modulus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7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+,</a:t>
                      </a:r>
                      <a:r>
                        <a:rPr lang="en-CA" baseline="0" dirty="0"/>
                        <a:t> -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addition, 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07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3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222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Integer Division and Modulus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Division of a floating-point number by another floating-point number will result in a floating-point number. </a:t>
            </a:r>
            <a:r>
              <a:rPr lang="en-CA" i="1" baseline="30000" dirty="0"/>
              <a:t>1</a:t>
            </a:r>
          </a:p>
          <a:p>
            <a:pPr lvl="1"/>
            <a:r>
              <a:rPr lang="en-CA" i="1" dirty="0"/>
              <a:t>Ex.: 12.6 / 2.4 = 5.25</a:t>
            </a:r>
          </a:p>
          <a:p>
            <a:r>
              <a:rPr lang="en-CA" i="1" dirty="0"/>
              <a:t>Division with 2 integer operands, however, is performed in the Arithmetic Logic Unit (ALU), which can calculate only an integer result.</a:t>
            </a:r>
            <a:r>
              <a:rPr lang="en-CA" i="1" baseline="30000" dirty="0"/>
              <a:t> 1</a:t>
            </a:r>
            <a:endParaRPr lang="en-CA" i="1" dirty="0"/>
          </a:p>
          <a:p>
            <a:pPr lvl="1"/>
            <a:r>
              <a:rPr lang="en-CA" i="1" dirty="0"/>
              <a:t>Any fractional part is </a:t>
            </a:r>
            <a:r>
              <a:rPr lang="en-CA" b="1" i="1" dirty="0"/>
              <a:t>truncated</a:t>
            </a:r>
            <a:r>
              <a:rPr lang="en-CA" i="1" dirty="0"/>
              <a:t>, no rounding is performed.</a:t>
            </a:r>
          </a:p>
          <a:p>
            <a:r>
              <a:rPr lang="en-CA" i="1" dirty="0"/>
              <a:t>The remainder after division is available, however, as an integer, by taking the modulus (%) of the 2 integer operands. </a:t>
            </a:r>
            <a:r>
              <a:rPr lang="en-CA" i="1" baseline="30000" dirty="0"/>
              <a:t>1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922402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Division by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 does not allow integer division by 0. </a:t>
            </a:r>
            <a:r>
              <a:rPr lang="en-CA" baseline="30000" dirty="0"/>
              <a:t>1</a:t>
            </a:r>
          </a:p>
          <a:p>
            <a:endParaRPr lang="en-CA" dirty="0"/>
          </a:p>
          <a:p>
            <a:r>
              <a:rPr lang="en-CA" dirty="0"/>
              <a:t>If you try the following:</a:t>
            </a:r>
          </a:p>
          <a:p>
            <a:pPr marL="457200" lvl="1" indent="0">
              <a:buNone/>
            </a:pPr>
            <a:r>
              <a:rPr lang="en-CA" dirty="0" err="1"/>
              <a:t>int</a:t>
            </a:r>
            <a:r>
              <a:rPr lang="en-CA" dirty="0"/>
              <a:t> result = 4 / 0;</a:t>
            </a:r>
          </a:p>
          <a:p>
            <a:r>
              <a:rPr lang="en-CA" dirty="0"/>
              <a:t>The JVM will generate an exception and you will see the following error message: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Exception in thread "main" </a:t>
            </a:r>
            <a:r>
              <a:rPr lang="en-CA" dirty="0" err="1">
                <a:solidFill>
                  <a:srgbClr val="FF0000"/>
                </a:solidFill>
              </a:rPr>
              <a:t>java.lang.ArithmeticException</a:t>
            </a:r>
            <a:r>
              <a:rPr lang="en-CA" dirty="0">
                <a:solidFill>
                  <a:srgbClr val="FF0000"/>
                </a:solidFill>
              </a:rPr>
              <a:t>: / by zero</a:t>
            </a:r>
          </a:p>
          <a:p>
            <a:r>
              <a:rPr lang="en-CA" dirty="0"/>
              <a:t>In most cases, this stops the program.</a:t>
            </a:r>
          </a:p>
        </p:txBody>
      </p:sp>
    </p:spTree>
    <p:extLst>
      <p:ext uri="{BB962C8B-B14F-4D97-AF65-F5344CB8AC3E}">
        <p14:creationId xmlns:p14="http://schemas.microsoft.com/office/powerpoint/2010/main" val="271034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In contrast, floating-point division by zero does not generate an exception. 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If the dividend is not zero, the answer is </a:t>
            </a:r>
            <a:r>
              <a:rPr lang="en-CA" i="1" u="sng" dirty="0"/>
              <a:t>Infinity</a:t>
            </a:r>
            <a:r>
              <a:rPr lang="en-CA" i="1" dirty="0"/>
              <a:t>. </a:t>
            </a:r>
            <a:r>
              <a:rPr lang="en-CA" i="1" baseline="30000" dirty="0"/>
              <a:t>1</a:t>
            </a:r>
            <a:endParaRPr lang="en-CA" i="1" dirty="0"/>
          </a:p>
          <a:p>
            <a:r>
              <a:rPr lang="en-CA" i="1" dirty="0"/>
              <a:t>If both the dividend and the divisor are zero, the answer is </a:t>
            </a:r>
            <a:r>
              <a:rPr lang="en-CA" i="1" u="sng" dirty="0" err="1"/>
              <a:t>NaN</a:t>
            </a:r>
            <a:r>
              <a:rPr lang="en-CA" i="1" dirty="0"/>
              <a:t>, which stands for “Not a Number”</a:t>
            </a:r>
            <a:r>
              <a:rPr lang="en-CA" i="1" baseline="30000" dirty="0"/>
              <a:t> 1</a:t>
            </a:r>
          </a:p>
          <a:p>
            <a:endParaRPr lang="en-CA" i="1" dirty="0"/>
          </a:p>
          <a:p>
            <a:endParaRPr lang="en-CA" i="1" dirty="0"/>
          </a:p>
          <a:p>
            <a:pPr algn="r"/>
            <a:r>
              <a:rPr lang="en-CA" sz="1800" i="1" dirty="0"/>
              <a:t>Although floating-point division by zero doesn’t bring our program to a halt, it does not provide useful results either.</a:t>
            </a:r>
          </a:p>
          <a:p>
            <a:pPr algn="r"/>
            <a:r>
              <a:rPr lang="en-CA" sz="1800" i="1" dirty="0"/>
              <a:t>It’s a good practice to avoid dividing by zero in the first place</a:t>
            </a:r>
          </a:p>
        </p:txBody>
      </p:sp>
    </p:spTree>
    <p:extLst>
      <p:ext uri="{BB962C8B-B14F-4D97-AF65-F5344CB8AC3E}">
        <p14:creationId xmlns:p14="http://schemas.microsoft.com/office/powerpoint/2010/main" val="285261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Mixed-Type Arithmetic and Type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Calculations often involve data of different primitive types.</a:t>
            </a:r>
          </a:p>
          <a:p>
            <a:r>
              <a:rPr lang="en-CA" dirty="0"/>
              <a:t>When calculations of mixed types are performed, lower-precision operands are converted, or </a:t>
            </a:r>
            <a:r>
              <a:rPr lang="en-CA" b="1" dirty="0"/>
              <a:t>promoted</a:t>
            </a:r>
            <a:r>
              <a:rPr lang="en-CA" dirty="0"/>
              <a:t>, to the type of the operand that has the higher precision. </a:t>
            </a:r>
            <a:r>
              <a:rPr lang="en-CA" baseline="30000" dirty="0"/>
              <a:t>1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518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Rules </a:t>
            </a:r>
            <a:r>
              <a:rPr lang="en-CA" baseline="30000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i="1" dirty="0"/>
              <a:t>If either operand is a </a:t>
            </a:r>
            <a:r>
              <a:rPr lang="en-CA" i="1" u="sng" dirty="0"/>
              <a:t>double</a:t>
            </a:r>
            <a:r>
              <a:rPr lang="en-CA" i="1" dirty="0"/>
              <a:t>, the other operand is converted into a </a:t>
            </a:r>
            <a:r>
              <a:rPr lang="en-CA" i="1" u="sng" dirty="0"/>
              <a:t>double</a:t>
            </a:r>
            <a:r>
              <a:rPr lang="en-CA" i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CA" i="1" dirty="0"/>
              <a:t>If either operand is a </a:t>
            </a:r>
            <a:r>
              <a:rPr lang="en-CA" i="1" u="sng" dirty="0"/>
              <a:t>float</a:t>
            </a:r>
            <a:r>
              <a:rPr lang="en-CA" i="1" dirty="0"/>
              <a:t> , the other operand is converted into a </a:t>
            </a:r>
            <a:r>
              <a:rPr lang="en-CA" i="1" u="sng" dirty="0"/>
              <a:t>float</a:t>
            </a:r>
            <a:r>
              <a:rPr lang="en-CA" i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CA" i="1" dirty="0"/>
              <a:t>If either operand is a </a:t>
            </a:r>
            <a:r>
              <a:rPr lang="en-CA" i="1" u="sng" dirty="0"/>
              <a:t>long</a:t>
            </a:r>
            <a:r>
              <a:rPr lang="en-CA" i="1" dirty="0"/>
              <a:t>, the other operand is converted into a </a:t>
            </a:r>
            <a:r>
              <a:rPr lang="en-CA" i="1" u="sng" dirty="0"/>
              <a:t>long</a:t>
            </a:r>
            <a:r>
              <a:rPr lang="en-CA" i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CA" i="1" dirty="0"/>
              <a:t>If either operand is an </a:t>
            </a:r>
            <a:r>
              <a:rPr lang="en-CA" i="1" u="sng" dirty="0" err="1"/>
              <a:t>int</a:t>
            </a:r>
            <a:r>
              <a:rPr lang="en-CA" i="1" dirty="0"/>
              <a:t>, the other operand is converted into a </a:t>
            </a:r>
            <a:r>
              <a:rPr lang="en-CA" i="1" u="sng" dirty="0"/>
              <a:t>int</a:t>
            </a:r>
            <a:r>
              <a:rPr lang="en-CA" i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CA" i="1" dirty="0"/>
              <a:t>If neither operand is a </a:t>
            </a:r>
            <a:r>
              <a:rPr lang="en-CA" i="1" u="sng" dirty="0"/>
              <a:t>double</a:t>
            </a:r>
            <a:r>
              <a:rPr lang="en-CA" i="1" dirty="0"/>
              <a:t>, </a:t>
            </a:r>
            <a:r>
              <a:rPr lang="en-CA" i="1" u="sng" dirty="0"/>
              <a:t>float</a:t>
            </a:r>
            <a:r>
              <a:rPr lang="en-CA" i="1" dirty="0"/>
              <a:t>, </a:t>
            </a:r>
            <a:r>
              <a:rPr lang="en-CA" i="1" u="sng" dirty="0"/>
              <a:t>long</a:t>
            </a:r>
            <a:r>
              <a:rPr lang="en-CA" i="1" dirty="0"/>
              <a:t>, or an </a:t>
            </a:r>
            <a:r>
              <a:rPr lang="en-CA" i="1" u="sng" dirty="0" err="1"/>
              <a:t>int</a:t>
            </a:r>
            <a:r>
              <a:rPr lang="en-CA" i="1" dirty="0"/>
              <a:t>, both operands are promoted to </a:t>
            </a:r>
            <a:r>
              <a:rPr lang="en-CA" i="1" u="sng" dirty="0"/>
              <a:t>int</a:t>
            </a:r>
            <a:r>
              <a:rPr lang="en-CA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77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This arithmetic promotion of operands is called </a:t>
            </a:r>
            <a:r>
              <a:rPr lang="en-CA" b="1" i="1" dirty="0"/>
              <a:t>implicit type casting </a:t>
            </a:r>
            <a:r>
              <a:rPr lang="en-CA" i="1" dirty="0"/>
              <a:t>because the compiler performs the promotions automatically. </a:t>
            </a:r>
            <a:r>
              <a:rPr lang="en-CA" i="1" baseline="30000" dirty="0"/>
              <a:t>1</a:t>
            </a:r>
          </a:p>
          <a:p>
            <a:pPr lvl="1"/>
            <a:r>
              <a:rPr lang="en-CA" i="1" dirty="0"/>
              <a:t>Note that the data type of any promoted variable is not permanently changed; its type remains the same after the calculation has been performed.</a:t>
            </a:r>
          </a:p>
        </p:txBody>
      </p:sp>
    </p:spTree>
    <p:extLst>
      <p:ext uri="{BB962C8B-B14F-4D97-AF65-F5344CB8AC3E}">
        <p14:creationId xmlns:p14="http://schemas.microsoft.com/office/powerpoint/2010/main" val="302235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Sometimes, it’s useful to instruct the compiler specifically to convert the type of a variable. 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In this case, we use </a:t>
            </a:r>
            <a:r>
              <a:rPr lang="en-CA" b="1" i="1" dirty="0"/>
              <a:t>explicit type casting</a:t>
            </a:r>
            <a:r>
              <a:rPr lang="en-CA" i="1" dirty="0"/>
              <a:t>, which uses the this syntax: </a:t>
            </a:r>
            <a:r>
              <a:rPr lang="en-CA" i="1" baseline="30000" dirty="0"/>
              <a:t>1</a:t>
            </a:r>
          </a:p>
          <a:p>
            <a:pPr marL="457200" lvl="1" indent="0">
              <a:buNone/>
            </a:pPr>
            <a:r>
              <a:rPr lang="en-CA" i="1" dirty="0"/>
              <a:t>(datatype) ( expression ) </a:t>
            </a:r>
          </a:p>
          <a:p>
            <a:pPr defTabSz="265113"/>
            <a:r>
              <a:rPr lang="en-CA" i="1" dirty="0"/>
              <a:t>The expression will be converted, or type cast, to the datatype specified. </a:t>
            </a:r>
            <a:r>
              <a:rPr lang="en-CA" i="1" baseline="30000" dirty="0"/>
              <a:t>1</a:t>
            </a:r>
          </a:p>
          <a:p>
            <a:pPr lvl="1" defTabSz="265113"/>
            <a:r>
              <a:rPr lang="en-CA" i="1" dirty="0"/>
              <a:t>The parenthesis around the </a:t>
            </a:r>
            <a:r>
              <a:rPr lang="en-CA" i="1" u="sng" dirty="0"/>
              <a:t>expression</a:t>
            </a:r>
            <a:r>
              <a:rPr lang="en-CA" i="1" dirty="0"/>
              <a:t> are needed only when the expression consists of a calculation that we want to performed before the type casting.</a:t>
            </a:r>
          </a:p>
        </p:txBody>
      </p:sp>
    </p:spTree>
    <p:extLst>
      <p:ext uri="{BB962C8B-B14F-4D97-AF65-F5344CB8AC3E}">
        <p14:creationId xmlns:p14="http://schemas.microsoft.com/office/powerpoint/2010/main" val="2785972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Java Illuminated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2"/>
              </a:rPr>
              <a:t>w3schools.com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3"/>
              </a:rPr>
              <a:t>Oracle Docs (Assignment, Arithmetic, and Unary Operators)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34628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er" id="{9243BF55-9D1D-468A-9E61-7654222D46AF}" vid="{0BB589B0-ADB4-4621-B913-29A945F93B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118</TotalTime>
  <Words>663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Vanier</vt:lpstr>
      <vt:lpstr>Programming 1</vt:lpstr>
      <vt:lpstr>Arithmetic Operators</vt:lpstr>
      <vt:lpstr>PowerPoint Presentation</vt:lpstr>
      <vt:lpstr>Operator Precedence</vt:lpstr>
      <vt:lpstr>PowerPoint Presentation</vt:lpstr>
      <vt:lpstr>Integer Division and Modulus</vt:lpstr>
      <vt:lpstr>Division by 0</vt:lpstr>
      <vt:lpstr>PowerPoint Presentation</vt:lpstr>
      <vt:lpstr>Mixed-Type Arithmetic and Type Casting</vt:lpstr>
      <vt:lpstr>Rules 1</vt:lpstr>
      <vt:lpstr>PowerPoint Presentation</vt:lpstr>
      <vt:lpstr>PowerPoint Presentation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Raphael</dc:creator>
  <cp:lastModifiedBy>Ronald Raphael</cp:lastModifiedBy>
  <cp:revision>84</cp:revision>
  <dcterms:created xsi:type="dcterms:W3CDTF">2019-06-13T17:37:23Z</dcterms:created>
  <dcterms:modified xsi:type="dcterms:W3CDTF">2024-08-31T16:28:56Z</dcterms:modified>
</cp:coreProperties>
</file>