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handoutMasterIdLst>
    <p:handoutMasterId r:id="rId19"/>
  </p:handoutMasterIdLst>
  <p:sldIdLst>
    <p:sldId id="256" r:id="rId2"/>
    <p:sldId id="257" r:id="rId3"/>
    <p:sldId id="258" r:id="rId4"/>
    <p:sldId id="259" r:id="rId5"/>
    <p:sldId id="260" r:id="rId6"/>
    <p:sldId id="261" r:id="rId7"/>
    <p:sldId id="262" r:id="rId8"/>
    <p:sldId id="263" r:id="rId9"/>
    <p:sldId id="264" r:id="rId10"/>
    <p:sldId id="265" r:id="rId11"/>
    <p:sldId id="280" r:id="rId12"/>
    <p:sldId id="282" r:id="rId13"/>
    <p:sldId id="281" r:id="rId14"/>
    <p:sldId id="283" r:id="rId15"/>
    <p:sldId id="284" r:id="rId16"/>
    <p:sldId id="285"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3" autoAdjust="0"/>
    <p:restoredTop sz="94660"/>
  </p:normalViewPr>
  <p:slideViewPr>
    <p:cSldViewPr snapToGrid="0">
      <p:cViewPr varScale="1">
        <p:scale>
          <a:sx n="111" d="100"/>
          <a:sy n="111" d="100"/>
        </p:scale>
        <p:origin x="222" y="114"/>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0BE69-F37F-4E3E-AA43-36ADEEBE5036}" type="datetimeFigureOut">
              <a:rPr lang="en-CA" smtClean="0"/>
              <a:t>2019-06-03</a:t>
            </a:fld>
            <a:endParaRPr lang="en-CA"/>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D93B28-F9F2-4682-857E-AF7AC495605F}" type="slidenum">
              <a:rPr lang="en-CA" smtClean="0"/>
              <a:t>‹#›</a:t>
            </a:fld>
            <a:endParaRPr lang="en-CA"/>
          </a:p>
        </p:txBody>
      </p:sp>
    </p:spTree>
    <p:extLst>
      <p:ext uri="{BB962C8B-B14F-4D97-AF65-F5344CB8AC3E}">
        <p14:creationId xmlns:p14="http://schemas.microsoft.com/office/powerpoint/2010/main" val="428366851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33383"/>
            <a:ext cx="9144000" cy="2076579"/>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23CFE5D-81CA-4461-B05B-F5358A13C834}" type="datetimeFigureOut">
              <a:rPr lang="en-CA" smtClean="0"/>
              <a:t>2019-05-30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3986622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3CFE5D-81CA-4461-B05B-F5358A13C834}" type="datetimeFigureOut">
              <a:rPr lang="en-CA" smtClean="0"/>
              <a:t>2019-05-30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D79F2FC-3E25-4357-BF93-7A99BA830685}" type="slidenum">
              <a:rPr lang="en-CA" smtClean="0"/>
              <a:t>‹#›</a:t>
            </a:fld>
            <a:endParaRPr lang="en-CA" dirty="0"/>
          </a:p>
        </p:txBody>
      </p:sp>
      <p:sp>
        <p:nvSpPr>
          <p:cNvPr id="9" name="Text Placeholder 8"/>
          <p:cNvSpPr>
            <a:spLocks noGrp="1"/>
          </p:cNvSpPr>
          <p:nvPr>
            <p:ph type="body" sz="quarter" idx="13"/>
          </p:nvPr>
        </p:nvSpPr>
        <p:spPr>
          <a:xfrm>
            <a:off x="10067853" y="6457018"/>
            <a:ext cx="2084839" cy="365125"/>
          </a:xfrm>
        </p:spPr>
        <p:txBody>
          <a:bodyPr>
            <a:noAutofit/>
          </a:bodyPr>
          <a:lstStyle>
            <a:lvl1pPr marL="0" indent="0">
              <a:buNone/>
              <a:defRPr sz="1400"/>
            </a:lvl1pPr>
            <a:lvl2pPr>
              <a:defRPr sz="1400"/>
            </a:lvl2pPr>
            <a:lvl3pPr>
              <a:defRPr sz="1400"/>
            </a:lvl3pPr>
            <a:lvl4pPr>
              <a:defRPr sz="1400"/>
            </a:lvl4pPr>
            <a:lvl5pPr>
              <a:defRPr sz="1400"/>
            </a:lvl5pPr>
          </a:lstStyle>
          <a:p>
            <a:pPr lvl="0"/>
            <a:r>
              <a:rPr lang="en-US" dirty="0" smtClean="0"/>
              <a:t>Edit Master text styles</a:t>
            </a:r>
          </a:p>
        </p:txBody>
      </p:sp>
    </p:spTree>
    <p:extLst>
      <p:ext uri="{BB962C8B-B14F-4D97-AF65-F5344CB8AC3E}">
        <p14:creationId xmlns:p14="http://schemas.microsoft.com/office/powerpoint/2010/main" val="3388131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3CFE5D-81CA-4461-B05B-F5358A13C834}" type="datetimeFigureOut">
              <a:rPr lang="en-CA" smtClean="0"/>
              <a:t>2019-05-30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3105919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23CFE5D-81CA-4461-B05B-F5358A13C834}" type="datetimeFigureOut">
              <a:rPr lang="en-CA" smtClean="0"/>
              <a:t>2019-05-30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72530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8114742"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23CFE5D-81CA-4461-B05B-F5358A13C834}" type="datetimeFigureOut">
              <a:rPr lang="en-CA" smtClean="0"/>
              <a:t>2019-05-30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322753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23CFE5D-81CA-4461-B05B-F5358A13C834}" type="datetimeFigureOut">
              <a:rPr lang="en-CA" smtClean="0"/>
              <a:t>2019-05-30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899805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CFE5D-81CA-4461-B05B-F5358A13C834}" type="datetimeFigureOut">
              <a:rPr lang="en-CA" smtClean="0"/>
              <a:t>2019-05-30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464523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1482811"/>
            <a:ext cx="6172200" cy="437823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3CFE5D-81CA-4461-B05B-F5358A13C834}" type="datetimeFigureOut">
              <a:rPr lang="en-CA" smtClean="0"/>
              <a:t>2019-05-30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282338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1491049"/>
            <a:ext cx="6172200" cy="437000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3CFE5D-81CA-4461-B05B-F5358A13C834}" type="datetimeFigureOut">
              <a:rPr lang="en-CA" smtClean="0"/>
              <a:t>2019-05-30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4175939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3CFE5D-81CA-4461-B05B-F5358A13C834}" type="datetimeFigureOut">
              <a:rPr lang="en-CA" smtClean="0"/>
              <a:t>2019-05-30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1050172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482811"/>
            <a:ext cx="2628900" cy="469415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23CFE5D-81CA-4461-B05B-F5358A13C834}" type="datetimeFigureOut">
              <a:rPr lang="en-CA" smtClean="0"/>
              <a:t>2019-05-30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D79F2FC-3E25-4357-BF93-7A99BA830685}" type="slidenum">
              <a:rPr lang="en-CA" smtClean="0"/>
              <a:t>‹#›</a:t>
            </a:fld>
            <a:endParaRPr lang="en-CA"/>
          </a:p>
        </p:txBody>
      </p:sp>
    </p:spTree>
    <p:extLst>
      <p:ext uri="{BB962C8B-B14F-4D97-AF65-F5344CB8AC3E}">
        <p14:creationId xmlns:p14="http://schemas.microsoft.com/office/powerpoint/2010/main" val="722989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8058664"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3CFE5D-81CA-4461-B05B-F5358A13C834}" type="datetimeFigureOut">
              <a:rPr lang="en-CA" smtClean="0"/>
              <a:t>2019-05-30</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79F2FC-3E25-4357-BF93-7A99BA830685}" type="slidenum">
              <a:rPr lang="en-CA" smtClean="0"/>
              <a:t>‹#›</a:t>
            </a:fld>
            <a:endParaRPr lang="en-CA"/>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20175" y="638608"/>
            <a:ext cx="2333625" cy="707159"/>
          </a:xfrm>
          <a:prstGeom prst="rect">
            <a:avLst/>
          </a:prstGeom>
        </p:spPr>
      </p:pic>
    </p:spTree>
    <p:extLst>
      <p:ext uri="{BB962C8B-B14F-4D97-AF65-F5344CB8AC3E}">
        <p14:creationId xmlns:p14="http://schemas.microsoft.com/office/powerpoint/2010/main" val="10124233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oracle.com/technetwork/java"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www.techopedia.com/" TargetMode="External"/><Relationship Id="rId3" Type="http://schemas.openxmlformats.org/officeDocument/2006/relationships/hyperlink" Target="https://www.javaworld.com/" TargetMode="External"/><Relationship Id="rId7" Type="http://schemas.openxmlformats.org/officeDocument/2006/relationships/hyperlink" Target="https://docs.microsoft.com/" TargetMode="External"/><Relationship Id="rId2" Type="http://schemas.openxmlformats.org/officeDocument/2006/relationships/hyperlink" Target="https://www.computerscience.org/" TargetMode="External"/><Relationship Id="rId1" Type="http://schemas.openxmlformats.org/officeDocument/2006/relationships/slideLayout" Target="../slideLayouts/slideLayout2.xml"/><Relationship Id="rId6" Type="http://schemas.openxmlformats.org/officeDocument/2006/relationships/hyperlink" Target="https://kotlinlang.org/" TargetMode="External"/><Relationship Id="rId5" Type="http://schemas.openxmlformats.org/officeDocument/2006/relationships/hyperlink" Target="http://groovy-lang.org/" TargetMode="External"/><Relationship Id="rId4" Type="http://schemas.openxmlformats.org/officeDocument/2006/relationships/hyperlink" Target="https://en.m.wikipedia.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Programming 1</a:t>
            </a:r>
            <a:endParaRPr lang="en-CA" dirty="0"/>
          </a:p>
        </p:txBody>
      </p:sp>
      <p:sp>
        <p:nvSpPr>
          <p:cNvPr id="3" name="Subtitle 2"/>
          <p:cNvSpPr>
            <a:spLocks noGrp="1"/>
          </p:cNvSpPr>
          <p:nvPr>
            <p:ph type="subTitle" idx="1"/>
          </p:nvPr>
        </p:nvSpPr>
        <p:spPr/>
        <p:txBody>
          <a:bodyPr/>
          <a:lstStyle/>
          <a:p>
            <a:endParaRPr lang="en-CA"/>
          </a:p>
        </p:txBody>
      </p:sp>
    </p:spTree>
    <p:extLst>
      <p:ext uri="{BB962C8B-B14F-4D97-AF65-F5344CB8AC3E}">
        <p14:creationId xmlns:p14="http://schemas.microsoft.com/office/powerpoint/2010/main" val="1868422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An Introduction to Programming	</a:t>
            </a:r>
            <a:endParaRPr lang="en-CA" dirty="0"/>
          </a:p>
        </p:txBody>
      </p:sp>
      <p:sp>
        <p:nvSpPr>
          <p:cNvPr id="3" name="Content Placeholder 2"/>
          <p:cNvSpPr>
            <a:spLocks noGrp="1"/>
          </p:cNvSpPr>
          <p:nvPr>
            <p:ph idx="1"/>
          </p:nvPr>
        </p:nvSpPr>
        <p:spPr/>
        <p:txBody>
          <a:bodyPr/>
          <a:lstStyle/>
          <a:p>
            <a:r>
              <a:rPr lang="en-CA" dirty="0" smtClean="0"/>
              <a:t>Programming can often be compared to puzzle solving</a:t>
            </a:r>
          </a:p>
          <a:p>
            <a:r>
              <a:rPr lang="en-CA" dirty="0" smtClean="0"/>
              <a:t>The goal is simply to perform a task</a:t>
            </a:r>
          </a:p>
          <a:p>
            <a:pPr lvl="1"/>
            <a:r>
              <a:rPr lang="en-CA" dirty="0" smtClean="0"/>
              <a:t>Using operations  we know the computer can perform</a:t>
            </a:r>
          </a:p>
          <a:p>
            <a:r>
              <a:rPr lang="en-CA" dirty="0" smtClean="0"/>
              <a:t>As programmers, our job is to decompose a task into a series of individual ordered steps</a:t>
            </a:r>
            <a:endParaRPr lang="en-CA" dirty="0"/>
          </a:p>
        </p:txBody>
      </p:sp>
      <p:sp>
        <p:nvSpPr>
          <p:cNvPr id="4" name="Text Placeholder 3"/>
          <p:cNvSpPr>
            <a:spLocks noGrp="1"/>
          </p:cNvSpPr>
          <p:nvPr>
            <p:ph type="body" sz="quarter" idx="13"/>
          </p:nvPr>
        </p:nvSpPr>
        <p:spPr/>
        <p:txBody>
          <a:bodyPr/>
          <a:lstStyle/>
          <a:p>
            <a:r>
              <a:rPr lang="en-CA" dirty="0" smtClean="0"/>
              <a:t>Reference: 1</a:t>
            </a:r>
            <a:endParaRPr lang="en-CA" dirty="0"/>
          </a:p>
        </p:txBody>
      </p:sp>
    </p:spTree>
    <p:extLst>
      <p:ext uri="{BB962C8B-B14F-4D97-AF65-F5344CB8AC3E}">
        <p14:creationId xmlns:p14="http://schemas.microsoft.com/office/powerpoint/2010/main" val="2300145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are Computer Programming Languages</a:t>
            </a:r>
            <a:endParaRPr lang="en-CA" dirty="0"/>
          </a:p>
        </p:txBody>
      </p:sp>
      <p:sp>
        <p:nvSpPr>
          <p:cNvPr id="3" name="Content Placeholder 2"/>
          <p:cNvSpPr>
            <a:spLocks noGrp="1"/>
          </p:cNvSpPr>
          <p:nvPr>
            <p:ph idx="1"/>
          </p:nvPr>
        </p:nvSpPr>
        <p:spPr/>
        <p:txBody>
          <a:bodyPr>
            <a:normAutofit fontScale="85000" lnSpcReduction="20000"/>
          </a:bodyPr>
          <a:lstStyle/>
          <a:p>
            <a:pPr marL="0" indent="0">
              <a:buNone/>
            </a:pPr>
            <a:r>
              <a:rPr lang="en-CA" i="1" dirty="0" smtClean="0"/>
              <a:t>Computer </a:t>
            </a:r>
            <a:r>
              <a:rPr lang="en-CA" i="1" dirty="0"/>
              <a:t>programming languages allow us to give instructions to a computer in a language the computer understands. Just as many human-based languages exist, there are an array of computer programming languages that programmers can use to communicate with a computer. The portion of the language that a computer can understand is called a “binary.” Translating programming language into binary is known as “compiling.” Each language, from C Language to Python, has its own distinct features, though many times there are commonalities between programming languages.</a:t>
            </a:r>
          </a:p>
          <a:p>
            <a:pPr marL="0" indent="0">
              <a:buNone/>
            </a:pPr>
            <a:r>
              <a:rPr lang="en-CA" i="1" dirty="0"/>
              <a:t>These languages allow computers to quickly and efficiently process large and complex swaths of information. For example, if a person is given a list of randomized numbers ranging from one to ten thousand and is asked to place them in ascending order, chances are that it will take a sizable amount of time and include some errors.</a:t>
            </a:r>
          </a:p>
          <a:p>
            <a:pPr marL="0" indent="0">
              <a:buNone/>
            </a:pPr>
            <a:r>
              <a:rPr lang="en-CA" i="1" dirty="0"/>
              <a:t>There are dozens of programming languages used in the industry </a:t>
            </a:r>
            <a:r>
              <a:rPr lang="en-CA" i="1" dirty="0" smtClean="0"/>
              <a:t>today. </a:t>
            </a:r>
            <a:endParaRPr lang="en-CA" baseline="30000" dirty="0"/>
          </a:p>
          <a:p>
            <a:endParaRPr lang="en-CA" i="1" dirty="0"/>
          </a:p>
        </p:txBody>
      </p:sp>
      <p:sp>
        <p:nvSpPr>
          <p:cNvPr id="4" name="Text Placeholder 3"/>
          <p:cNvSpPr>
            <a:spLocks noGrp="1"/>
          </p:cNvSpPr>
          <p:nvPr>
            <p:ph type="body" sz="quarter" idx="13"/>
          </p:nvPr>
        </p:nvSpPr>
        <p:spPr/>
        <p:txBody>
          <a:bodyPr/>
          <a:lstStyle/>
          <a:p>
            <a:r>
              <a:rPr lang="en-CA" dirty="0" smtClean="0"/>
              <a:t>Reference: 2</a:t>
            </a:r>
            <a:endParaRPr lang="en-CA" dirty="0"/>
          </a:p>
        </p:txBody>
      </p:sp>
    </p:spTree>
    <p:extLst>
      <p:ext uri="{BB962C8B-B14F-4D97-AF65-F5344CB8AC3E}">
        <p14:creationId xmlns:p14="http://schemas.microsoft.com/office/powerpoint/2010/main" val="3401291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about Java?</a:t>
            </a:r>
            <a:endParaRPr lang="en-CA" dirty="0"/>
          </a:p>
        </p:txBody>
      </p:sp>
      <p:sp>
        <p:nvSpPr>
          <p:cNvPr id="3" name="Content Placeholder 2"/>
          <p:cNvSpPr>
            <a:spLocks noGrp="1"/>
          </p:cNvSpPr>
          <p:nvPr>
            <p:ph idx="1"/>
          </p:nvPr>
        </p:nvSpPr>
        <p:spPr/>
        <p:txBody>
          <a:bodyPr/>
          <a:lstStyle/>
          <a:p>
            <a:r>
              <a:rPr lang="en-CA" i="1" dirty="0"/>
              <a:t>Java is a general-purpose, object-oriented, high-level programming language with several features that make it ideal for web-based development</a:t>
            </a:r>
            <a:r>
              <a:rPr lang="en-CA" i="1" dirty="0" smtClean="0"/>
              <a:t>.</a:t>
            </a:r>
            <a:r>
              <a:rPr lang="en-CA" i="1" dirty="0"/>
              <a:t> </a:t>
            </a:r>
            <a:r>
              <a:rPr lang="en-CA" baseline="30000" dirty="0"/>
              <a:t>2</a:t>
            </a:r>
          </a:p>
          <a:p>
            <a:endParaRPr lang="en-CA" dirty="0" smtClean="0"/>
          </a:p>
          <a:p>
            <a:endParaRPr lang="en-CA" dirty="0"/>
          </a:p>
        </p:txBody>
      </p:sp>
      <p:sp>
        <p:nvSpPr>
          <p:cNvPr id="4" name="Text Placeholder 3"/>
          <p:cNvSpPr>
            <a:spLocks noGrp="1"/>
          </p:cNvSpPr>
          <p:nvPr>
            <p:ph type="body" sz="quarter" idx="13"/>
          </p:nvPr>
        </p:nvSpPr>
        <p:spPr/>
        <p:txBody>
          <a:bodyPr/>
          <a:lstStyle/>
          <a:p>
            <a:endParaRPr lang="en-CA"/>
          </a:p>
        </p:txBody>
      </p:sp>
    </p:spTree>
    <p:extLst>
      <p:ext uri="{BB962C8B-B14F-4D97-AF65-F5344CB8AC3E}">
        <p14:creationId xmlns:p14="http://schemas.microsoft.com/office/powerpoint/2010/main" val="2107162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Who uses Java?</a:t>
            </a:r>
            <a:endParaRPr lang="en-CA" dirty="0"/>
          </a:p>
        </p:txBody>
      </p:sp>
      <p:sp>
        <p:nvSpPr>
          <p:cNvPr id="3" name="Content Placeholder 2"/>
          <p:cNvSpPr>
            <a:spLocks noGrp="1"/>
          </p:cNvSpPr>
          <p:nvPr>
            <p:ph idx="1"/>
          </p:nvPr>
        </p:nvSpPr>
        <p:spPr/>
        <p:txBody>
          <a:bodyPr>
            <a:normAutofit/>
          </a:bodyPr>
          <a:lstStyle/>
          <a:p>
            <a:r>
              <a:rPr lang="en-CA" i="1" dirty="0"/>
              <a:t>Professions and Industries:</a:t>
            </a:r>
          </a:p>
          <a:p>
            <a:pPr lvl="1"/>
            <a:r>
              <a:rPr lang="en-CA" i="1" dirty="0"/>
              <a:t>Software engineers, Java developers</a:t>
            </a:r>
          </a:p>
          <a:p>
            <a:pPr lvl="1"/>
            <a:r>
              <a:rPr lang="en-CA" i="1" dirty="0"/>
              <a:t>Used by employers in communications, education, finance, health sciences, hospitality, retail and utilities</a:t>
            </a:r>
          </a:p>
          <a:p>
            <a:r>
              <a:rPr lang="en-CA" i="1" dirty="0"/>
              <a:t>Major Organizations: V2COM, Eclipse Information Technologies, eBay, </a:t>
            </a:r>
            <a:r>
              <a:rPr lang="en-CA" i="1" dirty="0" err="1"/>
              <a:t>Eurotech</a:t>
            </a:r>
            <a:endParaRPr lang="en-CA" i="1" dirty="0"/>
          </a:p>
          <a:p>
            <a:r>
              <a:rPr lang="en-CA" i="1" dirty="0"/>
              <a:t>Specializations and Industries: Internet of Things (</a:t>
            </a:r>
            <a:r>
              <a:rPr lang="en-CA" i="1" dirty="0" err="1"/>
              <a:t>IoT</a:t>
            </a:r>
            <a:r>
              <a:rPr lang="en-CA" i="1" dirty="0"/>
              <a:t>), Enterprise Architecture, Cloud </a:t>
            </a:r>
            <a:r>
              <a:rPr lang="en-CA" i="1" dirty="0" smtClean="0"/>
              <a:t>Computing </a:t>
            </a:r>
            <a:endParaRPr lang="en-CA" dirty="0"/>
          </a:p>
        </p:txBody>
      </p:sp>
      <p:sp>
        <p:nvSpPr>
          <p:cNvPr id="4" name="Text Placeholder 3"/>
          <p:cNvSpPr>
            <a:spLocks noGrp="1"/>
          </p:cNvSpPr>
          <p:nvPr>
            <p:ph type="body" sz="quarter" idx="13"/>
          </p:nvPr>
        </p:nvSpPr>
        <p:spPr/>
        <p:txBody>
          <a:bodyPr>
            <a:normAutofit/>
          </a:bodyPr>
          <a:lstStyle/>
          <a:p>
            <a:r>
              <a:rPr lang="en-CA" dirty="0" smtClean="0"/>
              <a:t>Reference: 2</a:t>
            </a:r>
            <a:endParaRPr lang="en-CA" dirty="0"/>
          </a:p>
        </p:txBody>
      </p:sp>
    </p:spTree>
    <p:extLst>
      <p:ext uri="{BB962C8B-B14F-4D97-AF65-F5344CB8AC3E}">
        <p14:creationId xmlns:p14="http://schemas.microsoft.com/office/powerpoint/2010/main" val="585827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CA" cap="all" dirty="0"/>
              <a:t>WHAT MAKES LEARNING IT IMPORTANT</a:t>
            </a:r>
            <a:r>
              <a:rPr lang="en-CA" cap="all" dirty="0" smtClean="0"/>
              <a:t>?</a:t>
            </a:r>
            <a:endParaRPr lang="en-CA" dirty="0"/>
          </a:p>
        </p:txBody>
      </p:sp>
      <p:sp>
        <p:nvSpPr>
          <p:cNvPr id="5" name="Content Placeholder 4"/>
          <p:cNvSpPr>
            <a:spLocks noGrp="1"/>
          </p:cNvSpPr>
          <p:nvPr>
            <p:ph idx="1"/>
          </p:nvPr>
        </p:nvSpPr>
        <p:spPr/>
        <p:txBody>
          <a:bodyPr>
            <a:normAutofit fontScale="92500" lnSpcReduction="10000"/>
          </a:bodyPr>
          <a:lstStyle/>
          <a:p>
            <a:r>
              <a:rPr lang="en-CA" i="1" dirty="0"/>
              <a:t>Java is used to develop enterprise-level applications for video games and mobile apps, as well as to create web-based applications with JSP (Java Server Pages). When used online, Java allows applets to be downloaded and used through a browser, which can then perform a function not normally available.</a:t>
            </a:r>
          </a:p>
          <a:p>
            <a:r>
              <a:rPr lang="en-CA" i="1" dirty="0"/>
              <a:t>Programs that use or are written in Java include Adobe Creative Suite, Eclipse, Lotus Notes, Minecraft and OpenOffice.</a:t>
            </a:r>
          </a:p>
          <a:p>
            <a:r>
              <a:rPr lang="en-CA" i="1" dirty="0"/>
              <a:t>Java is the core foundation for developing Android apps.</a:t>
            </a:r>
          </a:p>
          <a:p>
            <a:r>
              <a:rPr lang="en-CA" i="1" dirty="0"/>
              <a:t>Features:</a:t>
            </a:r>
          </a:p>
          <a:p>
            <a:pPr lvl="1"/>
            <a:r>
              <a:rPr lang="en-CA" i="1" dirty="0"/>
              <a:t>Application portability</a:t>
            </a:r>
          </a:p>
          <a:p>
            <a:pPr lvl="1"/>
            <a:r>
              <a:rPr lang="en-CA" i="1" dirty="0"/>
              <a:t>Robust and interpreted language</a:t>
            </a:r>
          </a:p>
          <a:p>
            <a:pPr lvl="1"/>
            <a:r>
              <a:rPr lang="en-CA" i="1" dirty="0"/>
              <a:t>Extensive network </a:t>
            </a:r>
            <a:r>
              <a:rPr lang="en-CA" i="1" dirty="0" smtClean="0"/>
              <a:t>library</a:t>
            </a:r>
            <a:endParaRPr lang="en-CA" i="1" dirty="0"/>
          </a:p>
        </p:txBody>
      </p:sp>
      <p:sp>
        <p:nvSpPr>
          <p:cNvPr id="6" name="Text Placeholder 5"/>
          <p:cNvSpPr>
            <a:spLocks noGrp="1"/>
          </p:cNvSpPr>
          <p:nvPr>
            <p:ph type="body" sz="quarter" idx="13"/>
          </p:nvPr>
        </p:nvSpPr>
        <p:spPr/>
        <p:txBody>
          <a:bodyPr/>
          <a:lstStyle/>
          <a:p>
            <a:r>
              <a:rPr lang="en-CA" dirty="0" smtClean="0"/>
              <a:t>Reference: 2</a:t>
            </a:r>
            <a:endParaRPr lang="en-CA" dirty="0"/>
          </a:p>
        </p:txBody>
      </p:sp>
    </p:spTree>
    <p:extLst>
      <p:ext uri="{BB962C8B-B14F-4D97-AF65-F5344CB8AC3E}">
        <p14:creationId xmlns:p14="http://schemas.microsoft.com/office/powerpoint/2010/main" val="2354550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cap="all" dirty="0"/>
              <a:t>WHERE DID IT START</a:t>
            </a:r>
            <a:r>
              <a:rPr lang="en-CA" cap="all" dirty="0" smtClean="0"/>
              <a:t>?</a:t>
            </a:r>
            <a:endParaRPr lang="en-CA" dirty="0"/>
          </a:p>
        </p:txBody>
      </p:sp>
      <p:sp>
        <p:nvSpPr>
          <p:cNvPr id="5" name="Content Placeholder 4"/>
          <p:cNvSpPr>
            <a:spLocks noGrp="1"/>
          </p:cNvSpPr>
          <p:nvPr>
            <p:ph idx="1"/>
          </p:nvPr>
        </p:nvSpPr>
        <p:spPr/>
        <p:txBody>
          <a:bodyPr/>
          <a:lstStyle/>
          <a:p>
            <a:r>
              <a:rPr lang="en-CA" i="1" dirty="0" smtClean="0"/>
              <a:t>Java </a:t>
            </a:r>
            <a:r>
              <a:rPr lang="en-CA" i="1" dirty="0"/>
              <a:t>was developed in 1990 at Sun Microsystems to add capabilities to the C++ language. Java was developed according to the principle of WORA (Write Once Run Anywhere). The language was introduced to the public in 1995 and is now owned by Oracle.</a:t>
            </a:r>
            <a:endParaRPr lang="en-CA" i="1" dirty="0"/>
          </a:p>
        </p:txBody>
      </p:sp>
      <p:sp>
        <p:nvSpPr>
          <p:cNvPr id="6" name="Text Placeholder 5"/>
          <p:cNvSpPr>
            <a:spLocks noGrp="1"/>
          </p:cNvSpPr>
          <p:nvPr>
            <p:ph type="body" sz="quarter" idx="13"/>
          </p:nvPr>
        </p:nvSpPr>
        <p:spPr/>
        <p:txBody>
          <a:bodyPr/>
          <a:lstStyle/>
          <a:p>
            <a:r>
              <a:rPr lang="en-CA" dirty="0"/>
              <a:t>Reference: </a:t>
            </a:r>
            <a:r>
              <a:rPr lang="en-CA" dirty="0" smtClean="0"/>
              <a:t>2</a:t>
            </a:r>
            <a:endParaRPr lang="en-CA" dirty="0"/>
          </a:p>
        </p:txBody>
      </p:sp>
    </p:spTree>
    <p:extLst>
      <p:ext uri="{BB962C8B-B14F-4D97-AF65-F5344CB8AC3E}">
        <p14:creationId xmlns:p14="http://schemas.microsoft.com/office/powerpoint/2010/main" val="2205434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smtClean="0"/>
              <a:t>Using  an IDE for Java</a:t>
            </a:r>
            <a:endParaRPr lang="en-CA" dirty="0"/>
          </a:p>
        </p:txBody>
      </p:sp>
      <p:sp>
        <p:nvSpPr>
          <p:cNvPr id="5" name="Content Placeholder 4"/>
          <p:cNvSpPr>
            <a:spLocks noGrp="1"/>
          </p:cNvSpPr>
          <p:nvPr>
            <p:ph idx="1"/>
          </p:nvPr>
        </p:nvSpPr>
        <p:spPr/>
        <p:txBody>
          <a:bodyPr/>
          <a:lstStyle/>
          <a:p>
            <a:r>
              <a:rPr lang="en-CA" i="1" dirty="0"/>
              <a:t>Every Java developer needs a programming editor or IDE that can assist with the grungier parts of writing Java and using class libraries and frameworks. Deciding which editor or IDE will best suit you depends on several things, including the nature of the projects under development, your role in the organization, the process used by the development team, and your level and skills as a programmer. Additional considerations are whether the team has standardized on tools, and your personal preferences.</a:t>
            </a:r>
            <a:endParaRPr lang="en-CA" i="1" dirty="0"/>
          </a:p>
        </p:txBody>
      </p:sp>
      <p:sp>
        <p:nvSpPr>
          <p:cNvPr id="6" name="Text Placeholder 5"/>
          <p:cNvSpPr>
            <a:spLocks noGrp="1"/>
          </p:cNvSpPr>
          <p:nvPr>
            <p:ph type="body" sz="quarter" idx="13"/>
          </p:nvPr>
        </p:nvSpPr>
        <p:spPr/>
        <p:txBody>
          <a:bodyPr/>
          <a:lstStyle/>
          <a:p>
            <a:r>
              <a:rPr lang="en-CA" dirty="0"/>
              <a:t>Reference: 3</a:t>
            </a:r>
          </a:p>
        </p:txBody>
      </p:sp>
    </p:spTree>
    <p:extLst>
      <p:ext uri="{BB962C8B-B14F-4D97-AF65-F5344CB8AC3E}">
        <p14:creationId xmlns:p14="http://schemas.microsoft.com/office/powerpoint/2010/main" val="2530616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CA" dirty="0"/>
              <a:t>Basics: What you need from a Java </a:t>
            </a:r>
            <a:r>
              <a:rPr lang="en-CA" dirty="0" smtClean="0"/>
              <a:t>IDE</a:t>
            </a:r>
            <a:endParaRPr lang="en-CA" dirty="0"/>
          </a:p>
        </p:txBody>
      </p:sp>
      <p:sp>
        <p:nvSpPr>
          <p:cNvPr id="5" name="Content Placeholder 4"/>
          <p:cNvSpPr>
            <a:spLocks noGrp="1"/>
          </p:cNvSpPr>
          <p:nvPr>
            <p:ph idx="1"/>
          </p:nvPr>
        </p:nvSpPr>
        <p:spPr/>
        <p:txBody>
          <a:bodyPr>
            <a:normAutofit lnSpcReduction="10000"/>
          </a:bodyPr>
          <a:lstStyle/>
          <a:p>
            <a:r>
              <a:rPr lang="en-CA" i="1" dirty="0"/>
              <a:t>At minimum, you would hope that your IDE supports Java 8 and/or 11 (the LTS versions), Scala, Groovy, Kotlin, and any other JVM languages you regularly use.</a:t>
            </a:r>
            <a:r>
              <a:rPr lang="en-CA" dirty="0"/>
              <a:t> </a:t>
            </a:r>
            <a:r>
              <a:rPr lang="en-CA" baseline="30000" dirty="0" smtClean="0"/>
              <a:t>3</a:t>
            </a:r>
          </a:p>
          <a:p>
            <a:pPr lvl="1"/>
            <a:r>
              <a:rPr lang="en-CA" i="1" dirty="0" smtClean="0"/>
              <a:t>LTS: </a:t>
            </a:r>
            <a:r>
              <a:rPr lang="en-CA" i="1" dirty="0"/>
              <a:t>Long Term </a:t>
            </a:r>
            <a:r>
              <a:rPr lang="en-CA" i="1" dirty="0" smtClean="0"/>
              <a:t>Support, i.e. a </a:t>
            </a:r>
            <a:r>
              <a:rPr lang="en-CA" i="1" dirty="0"/>
              <a:t>stable release of computer software is </a:t>
            </a:r>
            <a:r>
              <a:rPr lang="en-CA" i="1" dirty="0" smtClean="0"/>
              <a:t>maintained </a:t>
            </a:r>
            <a:r>
              <a:rPr lang="en-CA" i="1" dirty="0"/>
              <a:t>for a longer period of time than the standard </a:t>
            </a:r>
            <a:r>
              <a:rPr lang="en-CA" i="1" dirty="0" smtClean="0"/>
              <a:t>edition.</a:t>
            </a:r>
            <a:r>
              <a:rPr lang="en-CA" dirty="0" smtClean="0"/>
              <a:t> </a:t>
            </a:r>
            <a:r>
              <a:rPr lang="en-CA" baseline="30000" dirty="0"/>
              <a:t>4</a:t>
            </a:r>
            <a:endParaRPr lang="en-CA" baseline="30000" dirty="0" smtClean="0"/>
          </a:p>
          <a:p>
            <a:pPr lvl="1"/>
            <a:r>
              <a:rPr lang="en-CA" i="1" dirty="0"/>
              <a:t>Scala is a general-purpose programming language providing support for functional programming and a strong static type system. Designed to be concise, </a:t>
            </a:r>
            <a:r>
              <a:rPr lang="en-CA" i="1" dirty="0" smtClean="0"/>
              <a:t>many </a:t>
            </a:r>
            <a:r>
              <a:rPr lang="en-CA" i="1" dirty="0"/>
              <a:t>of Scala's design decisions aimed to address criticisms of Java</a:t>
            </a:r>
            <a:r>
              <a:rPr lang="en-CA" i="1" dirty="0" smtClean="0"/>
              <a:t>. </a:t>
            </a:r>
            <a:r>
              <a:rPr lang="en-CA" baseline="30000" dirty="0" smtClean="0"/>
              <a:t>4</a:t>
            </a:r>
          </a:p>
          <a:p>
            <a:pPr lvl="1"/>
            <a:r>
              <a:rPr lang="en-CA" i="1" dirty="0"/>
              <a:t>Apache Groovy is a powerful, optionally typed and dynamic language, with static-typing and static compilation capabilities, for the Java platform aimed at improving developer productivity thanks to a concise, familiar and easy to learn syntax</a:t>
            </a:r>
            <a:r>
              <a:rPr lang="en-CA" i="1" dirty="0" smtClean="0"/>
              <a:t>.</a:t>
            </a:r>
            <a:r>
              <a:rPr lang="en-CA" i="1" baseline="30000" dirty="0" smtClean="0"/>
              <a:t> </a:t>
            </a:r>
            <a:r>
              <a:rPr lang="en-CA" baseline="30000" dirty="0" smtClean="0"/>
              <a:t>5</a:t>
            </a:r>
            <a:endParaRPr lang="en-CA" baseline="30000" dirty="0"/>
          </a:p>
        </p:txBody>
      </p:sp>
      <p:sp>
        <p:nvSpPr>
          <p:cNvPr id="6" name="Text Placeholder 5"/>
          <p:cNvSpPr>
            <a:spLocks noGrp="1"/>
          </p:cNvSpPr>
          <p:nvPr>
            <p:ph type="body" sz="quarter" idx="13"/>
          </p:nvPr>
        </p:nvSpPr>
        <p:spPr/>
        <p:txBody>
          <a:bodyPr/>
          <a:lstStyle/>
          <a:p>
            <a:r>
              <a:rPr lang="en-CA" dirty="0" smtClean="0"/>
              <a:t>Reference: 3-4-5</a:t>
            </a:r>
            <a:endParaRPr lang="en-CA" dirty="0"/>
          </a:p>
        </p:txBody>
      </p:sp>
    </p:spTree>
    <p:extLst>
      <p:ext uri="{BB962C8B-B14F-4D97-AF65-F5344CB8AC3E}">
        <p14:creationId xmlns:p14="http://schemas.microsoft.com/office/powerpoint/2010/main" val="1962978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Basics: What you need from a Java </a:t>
            </a:r>
            <a:r>
              <a:rPr lang="en-CA" dirty="0" smtClean="0"/>
              <a:t>IDE (cont’d)</a:t>
            </a:r>
            <a:endParaRPr lang="en-CA" dirty="0"/>
          </a:p>
        </p:txBody>
      </p:sp>
      <p:sp>
        <p:nvSpPr>
          <p:cNvPr id="5" name="Content Placeholder 4"/>
          <p:cNvSpPr>
            <a:spLocks noGrp="1"/>
          </p:cNvSpPr>
          <p:nvPr>
            <p:ph idx="1"/>
          </p:nvPr>
        </p:nvSpPr>
        <p:spPr/>
        <p:txBody>
          <a:bodyPr>
            <a:normAutofit lnSpcReduction="10000"/>
          </a:bodyPr>
          <a:lstStyle/>
          <a:p>
            <a:pPr lvl="1"/>
            <a:r>
              <a:rPr lang="en-CA" i="1" dirty="0"/>
              <a:t>Kotlin is an </a:t>
            </a:r>
            <a:r>
              <a:rPr lang="en-CA" i="1" dirty="0" smtClean="0"/>
              <a:t>OSS (</a:t>
            </a:r>
            <a:r>
              <a:rPr lang="en-CA" dirty="0"/>
              <a:t>Operations Support </a:t>
            </a:r>
            <a:r>
              <a:rPr lang="en-CA" dirty="0" smtClean="0"/>
              <a:t>Systems</a:t>
            </a:r>
            <a:r>
              <a:rPr lang="en-CA" baseline="30000" dirty="0" smtClean="0"/>
              <a:t>4</a:t>
            </a:r>
            <a:r>
              <a:rPr lang="en-CA" i="1" dirty="0" smtClean="0"/>
              <a:t>) </a:t>
            </a:r>
            <a:r>
              <a:rPr lang="en-CA" i="1" dirty="0"/>
              <a:t>statically typed programming language that targets the JVM, Android, JavaScript and Native. Kotlin is 100% interoperable with the Java programming language and major emphasis has been placed on making sure that your existing codebase can interact properly with Kotlin</a:t>
            </a:r>
            <a:r>
              <a:rPr lang="en-CA" i="1" dirty="0" smtClean="0"/>
              <a:t>.</a:t>
            </a:r>
            <a:r>
              <a:rPr lang="en-CA" baseline="30000" dirty="0" smtClean="0"/>
              <a:t> 6</a:t>
            </a:r>
          </a:p>
          <a:p>
            <a:r>
              <a:rPr lang="en-CA" i="1" dirty="0"/>
              <a:t>Finally, you would hope that your Java IDE lets you edit, build, debug, and test your systems with ease and grace. Ideally, you'd not only have intelligent code completion, but refactoring and code metrics</a:t>
            </a:r>
            <a:r>
              <a:rPr lang="en-CA" i="1" dirty="0" smtClean="0"/>
              <a:t>.</a:t>
            </a:r>
            <a:r>
              <a:rPr lang="en-CA" baseline="30000" dirty="0" smtClean="0"/>
              <a:t> 3</a:t>
            </a:r>
          </a:p>
          <a:p>
            <a:pPr lvl="1"/>
            <a:r>
              <a:rPr lang="en-CA" i="1" dirty="0"/>
              <a:t>Code refactoring is the process of restructuring existing computer </a:t>
            </a:r>
            <a:r>
              <a:rPr lang="en-CA" i="1" dirty="0" smtClean="0"/>
              <a:t>code, changing </a:t>
            </a:r>
            <a:r>
              <a:rPr lang="en-CA" i="1" dirty="0"/>
              <a:t>its external behavior</a:t>
            </a:r>
            <a:r>
              <a:rPr lang="en-CA" i="1" dirty="0" smtClean="0"/>
              <a:t>.</a:t>
            </a:r>
            <a:r>
              <a:rPr lang="en-CA" i="1" baseline="30000" dirty="0" smtClean="0"/>
              <a:t> </a:t>
            </a:r>
            <a:r>
              <a:rPr lang="en-CA" baseline="30000" dirty="0" smtClean="0"/>
              <a:t>4</a:t>
            </a:r>
          </a:p>
          <a:p>
            <a:pPr lvl="1"/>
            <a:r>
              <a:rPr lang="en-CA" i="1" dirty="0"/>
              <a:t>Code metrics is a set of software measures that provide developers better insight into the code they are developing</a:t>
            </a:r>
            <a:r>
              <a:rPr lang="en-CA" i="1" dirty="0" smtClean="0"/>
              <a:t>.</a:t>
            </a:r>
            <a:r>
              <a:rPr lang="en-CA" i="1" baseline="30000" dirty="0" smtClean="0"/>
              <a:t> 7</a:t>
            </a:r>
          </a:p>
        </p:txBody>
      </p:sp>
      <p:sp>
        <p:nvSpPr>
          <p:cNvPr id="6" name="Text Placeholder 5"/>
          <p:cNvSpPr>
            <a:spLocks noGrp="1"/>
          </p:cNvSpPr>
          <p:nvPr>
            <p:ph type="body" sz="quarter" idx="13"/>
          </p:nvPr>
        </p:nvSpPr>
        <p:spPr/>
        <p:txBody>
          <a:bodyPr/>
          <a:lstStyle/>
          <a:p>
            <a:r>
              <a:rPr lang="en-CA" dirty="0" smtClean="0"/>
              <a:t>Reference: 3-4-6-7</a:t>
            </a:r>
          </a:p>
        </p:txBody>
      </p:sp>
    </p:spTree>
    <p:extLst>
      <p:ext uri="{BB962C8B-B14F-4D97-AF65-F5344CB8AC3E}">
        <p14:creationId xmlns:p14="http://schemas.microsoft.com/office/powerpoint/2010/main" val="2852334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JVM</a:t>
            </a:r>
            <a:endParaRPr lang="en-CA" dirty="0"/>
          </a:p>
        </p:txBody>
      </p:sp>
      <p:sp>
        <p:nvSpPr>
          <p:cNvPr id="3" name="Content Placeholder 2"/>
          <p:cNvSpPr>
            <a:spLocks noGrp="1"/>
          </p:cNvSpPr>
          <p:nvPr>
            <p:ph idx="1"/>
          </p:nvPr>
        </p:nvSpPr>
        <p:spPr/>
        <p:txBody>
          <a:bodyPr/>
          <a:lstStyle/>
          <a:p>
            <a:r>
              <a:rPr lang="en-CA" i="1" dirty="0" smtClean="0"/>
              <a:t>A Java program is first compiled into processor-independent byte codes, then the byte codes are interpreted at run time by the </a:t>
            </a:r>
            <a:r>
              <a:rPr lang="en-CA" i="1" u="sng" dirty="0" smtClean="0"/>
              <a:t>J</a:t>
            </a:r>
            <a:r>
              <a:rPr lang="en-CA" i="1" dirty="0" smtClean="0"/>
              <a:t>ava </a:t>
            </a:r>
            <a:r>
              <a:rPr lang="en-CA" i="1" u="sng" dirty="0" smtClean="0"/>
              <a:t>V</a:t>
            </a:r>
            <a:r>
              <a:rPr lang="en-CA" i="1" dirty="0" smtClean="0"/>
              <a:t>irtual </a:t>
            </a:r>
            <a:r>
              <a:rPr lang="en-CA" i="1" u="sng" dirty="0" smtClean="0"/>
              <a:t>M</a:t>
            </a:r>
            <a:r>
              <a:rPr lang="en-CA" i="1" dirty="0" smtClean="0"/>
              <a:t>achine. </a:t>
            </a:r>
            <a:r>
              <a:rPr lang="en-CA" i="1" baseline="30000" dirty="0" smtClean="0"/>
              <a:t>1</a:t>
            </a:r>
          </a:p>
          <a:p>
            <a:r>
              <a:rPr lang="en-CA" i="1" dirty="0" smtClean="0"/>
              <a:t>The JVM simulates a virtual processor with its own instruction set, registers, and instruction pointer. </a:t>
            </a:r>
            <a:r>
              <a:rPr lang="en-CA" i="1" baseline="30000" dirty="0" smtClean="0"/>
              <a:t>1</a:t>
            </a:r>
          </a:p>
          <a:p>
            <a:pPr lvl="1"/>
            <a:r>
              <a:rPr lang="en-CA" i="1" dirty="0" smtClean="0"/>
              <a:t>To run a Java program, we only need a JVM</a:t>
            </a:r>
          </a:p>
          <a:p>
            <a:pPr lvl="1"/>
            <a:r>
              <a:rPr lang="en-CA" i="1" dirty="0" smtClean="0"/>
              <a:t>JVMs are available on every major computing platform</a:t>
            </a:r>
          </a:p>
          <a:p>
            <a:endParaRPr lang="en-CA" baseline="30000" dirty="0"/>
          </a:p>
        </p:txBody>
      </p:sp>
      <p:sp>
        <p:nvSpPr>
          <p:cNvPr id="4" name="Text Placeholder 3"/>
          <p:cNvSpPr>
            <a:spLocks noGrp="1"/>
          </p:cNvSpPr>
          <p:nvPr>
            <p:ph type="body" sz="quarter" idx="13"/>
          </p:nvPr>
        </p:nvSpPr>
        <p:spPr/>
        <p:txBody>
          <a:bodyPr/>
          <a:lstStyle/>
          <a:p>
            <a:endParaRPr lang="en-CA"/>
          </a:p>
        </p:txBody>
      </p:sp>
    </p:spTree>
    <p:extLst>
      <p:ext uri="{BB962C8B-B14F-4D97-AF65-F5344CB8AC3E}">
        <p14:creationId xmlns:p14="http://schemas.microsoft.com/office/powerpoint/2010/main" val="1177201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JRE</a:t>
            </a:r>
            <a:endParaRPr lang="en-CA" dirty="0"/>
          </a:p>
        </p:txBody>
      </p:sp>
      <p:sp>
        <p:nvSpPr>
          <p:cNvPr id="3" name="Content Placeholder 2"/>
          <p:cNvSpPr>
            <a:spLocks noGrp="1"/>
          </p:cNvSpPr>
          <p:nvPr>
            <p:ph idx="1"/>
          </p:nvPr>
        </p:nvSpPr>
        <p:spPr/>
        <p:txBody>
          <a:bodyPr/>
          <a:lstStyle/>
          <a:p>
            <a:r>
              <a:rPr lang="en-CA" i="1" dirty="0"/>
              <a:t>The Java Runtime Environment (JRE) is a set of software tools for development of Java applications. It combines the Java Virtual Machine (JVM), platform core classes and supporting libraries</a:t>
            </a:r>
            <a:r>
              <a:rPr lang="en-CA" i="1" dirty="0" smtClean="0"/>
              <a:t>.</a:t>
            </a:r>
            <a:r>
              <a:rPr lang="en-CA" i="1" baseline="30000" dirty="0" smtClean="0"/>
              <a:t> 8</a:t>
            </a:r>
            <a:endParaRPr lang="en-CA" i="1" baseline="30000" dirty="0"/>
          </a:p>
          <a:p>
            <a:r>
              <a:rPr lang="en-CA" i="1" dirty="0" smtClean="0"/>
              <a:t>JRE </a:t>
            </a:r>
            <a:r>
              <a:rPr lang="en-CA" i="1" dirty="0"/>
              <a:t>is part of the Java Development Kit (JDK), but can be downloaded separately. JRE was originally developed by Sun Microsystems Inc., a wholly-owned subsidiary of Oracle Corporation. </a:t>
            </a:r>
            <a:r>
              <a:rPr lang="en-CA" i="1" baseline="30000" dirty="0"/>
              <a:t>8</a:t>
            </a:r>
            <a:endParaRPr lang="en-CA" i="1" dirty="0"/>
          </a:p>
          <a:p>
            <a:pPr lvl="1"/>
            <a:r>
              <a:rPr lang="en-CA" i="1" dirty="0" smtClean="0"/>
              <a:t>Also </a:t>
            </a:r>
            <a:r>
              <a:rPr lang="en-CA" i="1" dirty="0"/>
              <a:t>known as Java runtime.</a:t>
            </a:r>
          </a:p>
        </p:txBody>
      </p:sp>
      <p:sp>
        <p:nvSpPr>
          <p:cNvPr id="4" name="Text Placeholder 3"/>
          <p:cNvSpPr>
            <a:spLocks noGrp="1"/>
          </p:cNvSpPr>
          <p:nvPr>
            <p:ph type="body" sz="quarter" idx="13"/>
          </p:nvPr>
        </p:nvSpPr>
        <p:spPr/>
        <p:txBody>
          <a:bodyPr/>
          <a:lstStyle/>
          <a:p>
            <a:endParaRPr lang="en-CA"/>
          </a:p>
        </p:txBody>
      </p:sp>
    </p:spTree>
    <p:extLst>
      <p:ext uri="{BB962C8B-B14F-4D97-AF65-F5344CB8AC3E}">
        <p14:creationId xmlns:p14="http://schemas.microsoft.com/office/powerpoint/2010/main" val="3365497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JDK</a:t>
            </a:r>
            <a:endParaRPr lang="en-CA" dirty="0"/>
          </a:p>
        </p:txBody>
      </p:sp>
      <p:sp>
        <p:nvSpPr>
          <p:cNvPr id="3" name="Content Placeholder 2"/>
          <p:cNvSpPr>
            <a:spLocks noGrp="1"/>
          </p:cNvSpPr>
          <p:nvPr>
            <p:ph idx="1"/>
          </p:nvPr>
        </p:nvSpPr>
        <p:spPr/>
        <p:txBody>
          <a:bodyPr/>
          <a:lstStyle/>
          <a:p>
            <a:r>
              <a:rPr lang="en-CA" i="1" dirty="0" smtClean="0"/>
              <a:t>Oracle provides a </a:t>
            </a:r>
            <a:r>
              <a:rPr lang="en-CA" i="1" u="sng" dirty="0" smtClean="0"/>
              <a:t>J</a:t>
            </a:r>
            <a:r>
              <a:rPr lang="en-CA" i="1" dirty="0" smtClean="0"/>
              <a:t>ava SE </a:t>
            </a:r>
            <a:r>
              <a:rPr lang="en-CA" i="1" u="sng" dirty="0" smtClean="0"/>
              <a:t>D</a:t>
            </a:r>
            <a:r>
              <a:rPr lang="en-CA" i="1" dirty="0" smtClean="0"/>
              <a:t>evelopment </a:t>
            </a:r>
            <a:r>
              <a:rPr lang="en-CA" i="1" u="sng" dirty="0" smtClean="0"/>
              <a:t>T</a:t>
            </a:r>
            <a:r>
              <a:rPr lang="en-CA" i="1" dirty="0" smtClean="0"/>
              <a:t>oolkit (JDK) (free of charge on its website) </a:t>
            </a:r>
            <a:r>
              <a:rPr lang="en-CA" i="1" baseline="30000" dirty="0" smtClean="0"/>
              <a:t>1</a:t>
            </a:r>
          </a:p>
          <a:p>
            <a:pPr lvl="1"/>
            <a:r>
              <a:rPr lang="en-CA" i="1" dirty="0" smtClean="0">
                <a:hlinkClick r:id="rId2"/>
              </a:rPr>
              <a:t>www.oracle.com/technetwork/java</a:t>
            </a:r>
            <a:endParaRPr lang="en-CA" i="1" dirty="0" smtClean="0"/>
          </a:p>
          <a:p>
            <a:r>
              <a:rPr lang="en-CA" i="1" dirty="0" smtClean="0"/>
              <a:t>The JDK contains a compiler, JVM, and </a:t>
            </a:r>
            <a:r>
              <a:rPr lang="en-CA" i="1" dirty="0" err="1" smtClean="0"/>
              <a:t>jshell</a:t>
            </a:r>
            <a:r>
              <a:rPr lang="en-CA" i="1" dirty="0" smtClean="0"/>
              <a:t>, which is a tool for immediate execution of Java code.</a:t>
            </a:r>
            <a:r>
              <a:rPr lang="en-CA" i="1" baseline="30000" dirty="0"/>
              <a:t> 1</a:t>
            </a:r>
            <a:endParaRPr lang="en-CA" i="1" dirty="0" smtClean="0"/>
          </a:p>
          <a:p>
            <a:r>
              <a:rPr lang="en-CA" i="1" dirty="0" smtClean="0"/>
              <a:t>In addition, the JDK contains a broad range of prewritten Java classes that programmers can use in their Java applications.</a:t>
            </a:r>
            <a:r>
              <a:rPr lang="en-CA" i="1" baseline="30000" dirty="0" smtClean="0"/>
              <a:t> </a:t>
            </a:r>
            <a:r>
              <a:rPr lang="en-CA" i="1" baseline="30000" dirty="0"/>
              <a:t>1</a:t>
            </a:r>
            <a:endParaRPr lang="en-CA" i="1" dirty="0"/>
          </a:p>
        </p:txBody>
      </p:sp>
      <p:sp>
        <p:nvSpPr>
          <p:cNvPr id="4" name="Text Placeholder 3"/>
          <p:cNvSpPr>
            <a:spLocks noGrp="1"/>
          </p:cNvSpPr>
          <p:nvPr>
            <p:ph type="body" sz="quarter" idx="13"/>
          </p:nvPr>
        </p:nvSpPr>
        <p:spPr/>
        <p:txBody>
          <a:bodyPr/>
          <a:lstStyle/>
          <a:p>
            <a:endParaRPr lang="en-CA"/>
          </a:p>
        </p:txBody>
      </p:sp>
    </p:spTree>
    <p:extLst>
      <p:ext uri="{BB962C8B-B14F-4D97-AF65-F5344CB8AC3E}">
        <p14:creationId xmlns:p14="http://schemas.microsoft.com/office/powerpoint/2010/main" val="1727162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JVM, JRE, and JDK</a:t>
            </a:r>
            <a:endParaRPr lang="en-CA" dirty="0"/>
          </a:p>
        </p:txBody>
      </p:sp>
      <p:sp>
        <p:nvSpPr>
          <p:cNvPr id="4" name="Text Placeholder 3"/>
          <p:cNvSpPr>
            <a:spLocks noGrp="1"/>
          </p:cNvSpPr>
          <p:nvPr>
            <p:ph type="body" sz="quarter" idx="13"/>
          </p:nvPr>
        </p:nvSpPr>
        <p:spPr/>
        <p:txBody>
          <a:bodyPr/>
          <a:lstStyle/>
          <a:p>
            <a:endParaRPr lang="en-CA"/>
          </a:p>
        </p:txBody>
      </p:sp>
      <p:grpSp>
        <p:nvGrpSpPr>
          <p:cNvPr id="5" name="Group 4">
            <a:extLst>
              <a:ext uri="{FF2B5EF4-FFF2-40B4-BE49-F238E27FC236}">
                <a16:creationId xmlns:a16="http://schemas.microsoft.com/office/drawing/2014/main" id="{1BA25A24-4277-459C-ABB0-4531AAB697D3}"/>
              </a:ext>
            </a:extLst>
          </p:cNvPr>
          <p:cNvGrpSpPr/>
          <p:nvPr/>
        </p:nvGrpSpPr>
        <p:grpSpPr>
          <a:xfrm>
            <a:off x="2886453" y="2096173"/>
            <a:ext cx="4320000" cy="4023828"/>
            <a:chOff x="1250303" y="1658515"/>
            <a:chExt cx="4320000" cy="4023828"/>
          </a:xfrm>
        </p:grpSpPr>
        <p:sp>
          <p:nvSpPr>
            <p:cNvPr id="6" name="Rectangle: Rounded Corners 5">
              <a:extLst>
                <a:ext uri="{FF2B5EF4-FFF2-40B4-BE49-F238E27FC236}">
                  <a16:creationId xmlns:a16="http://schemas.microsoft.com/office/drawing/2014/main" id="{F0D5D826-C4BD-4C4E-B639-BA0A564F05B9}"/>
                </a:ext>
              </a:extLst>
            </p:cNvPr>
            <p:cNvSpPr/>
            <p:nvPr/>
          </p:nvSpPr>
          <p:spPr>
            <a:xfrm>
              <a:off x="1250303" y="1658515"/>
              <a:ext cx="4320000" cy="4023828"/>
            </a:xfrm>
            <a:prstGeom prst="roundRect">
              <a:avLst>
                <a:gd name="adj" fmla="val 6199"/>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A" dirty="0">
                  <a:solidFill>
                    <a:schemeClr val="tx1"/>
                  </a:solidFill>
                </a:rPr>
                <a:t>JDK</a:t>
              </a:r>
            </a:p>
          </p:txBody>
        </p:sp>
        <p:sp>
          <p:nvSpPr>
            <p:cNvPr id="7" name="Rectangle: Rounded Corners 7">
              <a:extLst>
                <a:ext uri="{FF2B5EF4-FFF2-40B4-BE49-F238E27FC236}">
                  <a16:creationId xmlns:a16="http://schemas.microsoft.com/office/drawing/2014/main" id="{83DEE0A9-5AE1-4371-ACFD-972143F8E7AD}"/>
                </a:ext>
              </a:extLst>
            </p:cNvPr>
            <p:cNvSpPr/>
            <p:nvPr/>
          </p:nvSpPr>
          <p:spPr>
            <a:xfrm>
              <a:off x="1794591" y="2006855"/>
              <a:ext cx="3600000" cy="2378533"/>
            </a:xfrm>
            <a:prstGeom prst="roundRect">
              <a:avLst>
                <a:gd name="adj" fmla="val 6199"/>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A" dirty="0">
                  <a:solidFill>
                    <a:schemeClr val="tx1"/>
                  </a:solidFill>
                </a:rPr>
                <a:t>JRE</a:t>
              </a:r>
            </a:p>
          </p:txBody>
        </p:sp>
        <p:sp>
          <p:nvSpPr>
            <p:cNvPr id="8" name="Rectangle: Rounded Corners 8">
              <a:extLst>
                <a:ext uri="{FF2B5EF4-FFF2-40B4-BE49-F238E27FC236}">
                  <a16:creationId xmlns:a16="http://schemas.microsoft.com/office/drawing/2014/main" id="{454BFA4F-2966-4874-9D57-03B1A43C9DC8}"/>
                </a:ext>
              </a:extLst>
            </p:cNvPr>
            <p:cNvSpPr/>
            <p:nvPr/>
          </p:nvSpPr>
          <p:spPr>
            <a:xfrm>
              <a:off x="2338877" y="2448503"/>
              <a:ext cx="2880000" cy="793138"/>
            </a:xfrm>
            <a:prstGeom prst="roundRect">
              <a:avLst>
                <a:gd name="adj" fmla="val 6199"/>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A" dirty="0">
                  <a:solidFill>
                    <a:schemeClr val="tx1"/>
                  </a:solidFill>
                </a:rPr>
                <a:t>JVM</a:t>
              </a:r>
            </a:p>
          </p:txBody>
        </p:sp>
        <p:sp>
          <p:nvSpPr>
            <p:cNvPr id="9" name="Rectangle: Rounded Corners 9">
              <a:extLst>
                <a:ext uri="{FF2B5EF4-FFF2-40B4-BE49-F238E27FC236}">
                  <a16:creationId xmlns:a16="http://schemas.microsoft.com/office/drawing/2014/main" id="{67AFC3A0-A171-4861-877D-DF7984B5D809}"/>
                </a:ext>
              </a:extLst>
            </p:cNvPr>
            <p:cNvSpPr/>
            <p:nvPr/>
          </p:nvSpPr>
          <p:spPr>
            <a:xfrm>
              <a:off x="2341169" y="3396304"/>
              <a:ext cx="2880000" cy="793138"/>
            </a:xfrm>
            <a:prstGeom prst="roundRect">
              <a:avLst>
                <a:gd name="adj" fmla="val 6199"/>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A" dirty="0">
                  <a:solidFill>
                    <a:schemeClr val="tx1"/>
                  </a:solidFill>
                </a:rPr>
                <a:t>Basic Library</a:t>
              </a:r>
            </a:p>
          </p:txBody>
        </p:sp>
        <p:sp>
          <p:nvSpPr>
            <p:cNvPr id="10" name="Rectangle: Rounded Corners 11">
              <a:extLst>
                <a:ext uri="{FF2B5EF4-FFF2-40B4-BE49-F238E27FC236}">
                  <a16:creationId xmlns:a16="http://schemas.microsoft.com/office/drawing/2014/main" id="{117980A7-7F49-42DA-886D-F9930235FB5F}"/>
                </a:ext>
              </a:extLst>
            </p:cNvPr>
            <p:cNvSpPr/>
            <p:nvPr/>
          </p:nvSpPr>
          <p:spPr>
            <a:xfrm>
              <a:off x="1794591" y="4582461"/>
              <a:ext cx="1023254" cy="793138"/>
            </a:xfrm>
            <a:prstGeom prst="roundRect">
              <a:avLst>
                <a:gd name="adj" fmla="val 6199"/>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A" dirty="0">
                  <a:solidFill>
                    <a:schemeClr val="tx1"/>
                  </a:solidFill>
                </a:rPr>
                <a:t>Compiler</a:t>
              </a:r>
            </a:p>
          </p:txBody>
        </p:sp>
        <p:sp>
          <p:nvSpPr>
            <p:cNvPr id="11" name="Rectangle: Rounded Corners 12">
              <a:extLst>
                <a:ext uri="{FF2B5EF4-FFF2-40B4-BE49-F238E27FC236}">
                  <a16:creationId xmlns:a16="http://schemas.microsoft.com/office/drawing/2014/main" id="{189E6381-B08E-404E-B750-AA1D9BC3CAEE}"/>
                </a:ext>
              </a:extLst>
            </p:cNvPr>
            <p:cNvSpPr/>
            <p:nvPr/>
          </p:nvSpPr>
          <p:spPr>
            <a:xfrm>
              <a:off x="4334723" y="4582461"/>
              <a:ext cx="1023254" cy="793138"/>
            </a:xfrm>
            <a:prstGeom prst="roundRect">
              <a:avLst>
                <a:gd name="adj" fmla="val 6199"/>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A" dirty="0">
                  <a:solidFill>
                    <a:schemeClr val="tx1"/>
                  </a:solidFill>
                </a:rPr>
                <a:t>Extra Library</a:t>
              </a:r>
            </a:p>
          </p:txBody>
        </p:sp>
        <p:sp>
          <p:nvSpPr>
            <p:cNvPr id="12" name="Rectangle: Rounded Corners 13">
              <a:extLst>
                <a:ext uri="{FF2B5EF4-FFF2-40B4-BE49-F238E27FC236}">
                  <a16:creationId xmlns:a16="http://schemas.microsoft.com/office/drawing/2014/main" id="{E2807C09-311B-403D-A177-694BFF3C36FE}"/>
                </a:ext>
              </a:extLst>
            </p:cNvPr>
            <p:cNvSpPr/>
            <p:nvPr/>
          </p:nvSpPr>
          <p:spPr>
            <a:xfrm>
              <a:off x="3064657" y="4581239"/>
              <a:ext cx="1023254" cy="793138"/>
            </a:xfrm>
            <a:prstGeom prst="roundRect">
              <a:avLst>
                <a:gd name="adj" fmla="val 6199"/>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CA" dirty="0">
                  <a:solidFill>
                    <a:schemeClr val="tx1"/>
                  </a:solidFill>
                </a:rPr>
                <a:t>Debugger</a:t>
              </a:r>
            </a:p>
          </p:txBody>
        </p:sp>
      </p:grpSp>
    </p:spTree>
    <p:extLst>
      <p:ext uri="{BB962C8B-B14F-4D97-AF65-F5344CB8AC3E}">
        <p14:creationId xmlns:p14="http://schemas.microsoft.com/office/powerpoint/2010/main" val="1584641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Platforms</a:t>
            </a:r>
            <a:endParaRPr lang="en-CA" dirty="0"/>
          </a:p>
        </p:txBody>
      </p:sp>
      <p:sp>
        <p:nvSpPr>
          <p:cNvPr id="3" name="Content Placeholder 2"/>
          <p:cNvSpPr>
            <a:spLocks noGrp="1"/>
          </p:cNvSpPr>
          <p:nvPr>
            <p:ph idx="1"/>
          </p:nvPr>
        </p:nvSpPr>
        <p:spPr/>
        <p:txBody>
          <a:bodyPr/>
          <a:lstStyle/>
          <a:p>
            <a:r>
              <a:rPr lang="en-CA" dirty="0"/>
              <a:t>JDK has different platforms</a:t>
            </a:r>
          </a:p>
          <a:p>
            <a:pPr lvl="1"/>
            <a:endParaRPr lang="en-CA" sz="1400" dirty="0"/>
          </a:p>
          <a:p>
            <a:pPr lvl="1">
              <a:buFont typeface="Courier New" panose="02070309020205020404" pitchFamily="49" charset="0"/>
              <a:buChar char="o"/>
            </a:pPr>
            <a:r>
              <a:rPr lang="en-CA" dirty="0"/>
              <a:t>SE</a:t>
            </a:r>
          </a:p>
          <a:p>
            <a:pPr lvl="1">
              <a:buFont typeface="Courier New" panose="02070309020205020404" pitchFamily="49" charset="0"/>
              <a:buChar char="o"/>
            </a:pPr>
            <a:r>
              <a:rPr lang="en-CA" dirty="0" smtClean="0"/>
              <a:t>EE</a:t>
            </a:r>
            <a:endParaRPr lang="en-CA" dirty="0"/>
          </a:p>
          <a:p>
            <a:pPr lvl="1">
              <a:buFont typeface="Courier New" panose="02070309020205020404" pitchFamily="49" charset="0"/>
              <a:buChar char="o"/>
            </a:pPr>
            <a:r>
              <a:rPr lang="en-CA" dirty="0" smtClean="0"/>
              <a:t>ME</a:t>
            </a:r>
            <a:endParaRPr lang="en-CA" dirty="0"/>
          </a:p>
          <a:p>
            <a:pPr lvl="1">
              <a:buFont typeface="Courier New" panose="02070309020205020404" pitchFamily="49" charset="0"/>
              <a:buChar char="o"/>
            </a:pPr>
            <a:r>
              <a:rPr lang="en-CA" dirty="0" smtClean="0"/>
              <a:t>FX</a:t>
            </a:r>
            <a:endParaRPr lang="en-CA" dirty="0"/>
          </a:p>
          <a:p>
            <a:endParaRPr lang="en-CA" dirty="0"/>
          </a:p>
        </p:txBody>
      </p:sp>
      <p:sp>
        <p:nvSpPr>
          <p:cNvPr id="5" name="Text Placeholder 4"/>
          <p:cNvSpPr>
            <a:spLocks noGrp="1"/>
          </p:cNvSpPr>
          <p:nvPr>
            <p:ph type="body" sz="quarter" idx="13"/>
          </p:nvPr>
        </p:nvSpPr>
        <p:spPr/>
        <p:txBody>
          <a:bodyPr/>
          <a:lstStyle/>
          <a:p>
            <a:endParaRPr lang="en-CA"/>
          </a:p>
        </p:txBody>
      </p:sp>
    </p:spTree>
    <p:extLst>
      <p:ext uri="{BB962C8B-B14F-4D97-AF65-F5344CB8AC3E}">
        <p14:creationId xmlns:p14="http://schemas.microsoft.com/office/powerpoint/2010/main" val="2156360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Platforms (cont’d)</a:t>
            </a:r>
            <a:endParaRPr lang="en-CA" dirty="0"/>
          </a:p>
        </p:txBody>
      </p:sp>
      <p:sp>
        <p:nvSpPr>
          <p:cNvPr id="3" name="Content Placeholder 2"/>
          <p:cNvSpPr>
            <a:spLocks noGrp="1"/>
          </p:cNvSpPr>
          <p:nvPr>
            <p:ph idx="1"/>
          </p:nvPr>
        </p:nvSpPr>
        <p:spPr/>
        <p:txBody>
          <a:bodyPr>
            <a:normAutofit/>
          </a:bodyPr>
          <a:lstStyle/>
          <a:p>
            <a:r>
              <a:rPr lang="en-CA" dirty="0"/>
              <a:t>SE:  Standard Edition. </a:t>
            </a:r>
            <a:endParaRPr lang="en-CA" dirty="0" smtClean="0"/>
          </a:p>
          <a:p>
            <a:pPr lvl="1"/>
            <a:r>
              <a:rPr lang="en-CA" dirty="0" smtClean="0"/>
              <a:t>When </a:t>
            </a:r>
            <a:r>
              <a:rPr lang="en-CA" dirty="0"/>
              <a:t>we talk about Java developing, most of the time we are talking about this platform.</a:t>
            </a:r>
          </a:p>
          <a:p>
            <a:r>
              <a:rPr lang="en-CA" dirty="0" smtClean="0"/>
              <a:t>EE</a:t>
            </a:r>
            <a:r>
              <a:rPr lang="en-CA" dirty="0"/>
              <a:t>: Enterprise Edition. </a:t>
            </a:r>
            <a:endParaRPr lang="en-CA" dirty="0" smtClean="0"/>
          </a:p>
          <a:p>
            <a:pPr lvl="1"/>
            <a:r>
              <a:rPr lang="en-CA" dirty="0" smtClean="0"/>
              <a:t>This </a:t>
            </a:r>
            <a:r>
              <a:rPr lang="en-CA" dirty="0"/>
              <a:t>is for large-scale network applications development. </a:t>
            </a:r>
          </a:p>
          <a:p>
            <a:r>
              <a:rPr lang="en-CA" dirty="0" smtClean="0"/>
              <a:t>ME</a:t>
            </a:r>
            <a:r>
              <a:rPr lang="en-CA" dirty="0"/>
              <a:t>:  Micro Edition. </a:t>
            </a:r>
            <a:endParaRPr lang="en-CA" dirty="0" smtClean="0"/>
          </a:p>
          <a:p>
            <a:pPr lvl="1"/>
            <a:r>
              <a:rPr lang="en-CA" dirty="0" smtClean="0"/>
              <a:t>This </a:t>
            </a:r>
            <a:r>
              <a:rPr lang="en-CA" dirty="0"/>
              <a:t>is for mobile Java applications development.</a:t>
            </a:r>
          </a:p>
          <a:p>
            <a:r>
              <a:rPr lang="en-CA" dirty="0" smtClean="0"/>
              <a:t>FX</a:t>
            </a:r>
            <a:r>
              <a:rPr lang="en-CA" dirty="0"/>
              <a:t>: FX is a common abbreviation of special effects</a:t>
            </a:r>
            <a:r>
              <a:rPr lang="en-CA"/>
              <a:t>. </a:t>
            </a:r>
            <a:endParaRPr lang="en-CA" smtClean="0"/>
          </a:p>
          <a:p>
            <a:pPr lvl="1"/>
            <a:r>
              <a:rPr lang="en-CA" smtClean="0"/>
              <a:t>This </a:t>
            </a:r>
            <a:r>
              <a:rPr lang="en-CA" dirty="0"/>
              <a:t>is for rich internet application development.</a:t>
            </a:r>
          </a:p>
          <a:p>
            <a:endParaRPr lang="en-CA" dirty="0"/>
          </a:p>
        </p:txBody>
      </p:sp>
      <p:sp>
        <p:nvSpPr>
          <p:cNvPr id="4" name="Text Placeholder 3"/>
          <p:cNvSpPr>
            <a:spLocks noGrp="1"/>
          </p:cNvSpPr>
          <p:nvPr>
            <p:ph type="body" sz="quarter" idx="13"/>
          </p:nvPr>
        </p:nvSpPr>
        <p:spPr/>
        <p:txBody>
          <a:bodyPr/>
          <a:lstStyle/>
          <a:p>
            <a:endParaRPr lang="en-CA"/>
          </a:p>
        </p:txBody>
      </p:sp>
    </p:spTree>
    <p:extLst>
      <p:ext uri="{BB962C8B-B14F-4D97-AF65-F5344CB8AC3E}">
        <p14:creationId xmlns:p14="http://schemas.microsoft.com/office/powerpoint/2010/main" val="1922830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References</a:t>
            </a:r>
            <a:endParaRPr lang="en-CA"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CA" dirty="0" smtClean="0"/>
              <a:t>Java Illuminated</a:t>
            </a:r>
          </a:p>
          <a:p>
            <a:pPr marL="514350" indent="-514350">
              <a:buFont typeface="+mj-lt"/>
              <a:buAutoNum type="arabicPeriod"/>
            </a:pPr>
            <a:r>
              <a:rPr lang="en-CA" dirty="0" smtClean="0">
                <a:hlinkClick r:id="rId2"/>
              </a:rPr>
              <a:t>ComputerScience.org</a:t>
            </a:r>
            <a:endParaRPr lang="en-CA" dirty="0" smtClean="0"/>
          </a:p>
          <a:p>
            <a:pPr marL="514350" indent="-514350">
              <a:buFont typeface="+mj-lt"/>
              <a:buAutoNum type="arabicPeriod"/>
            </a:pPr>
            <a:r>
              <a:rPr lang="en-CA" dirty="0" smtClean="0">
                <a:hlinkClick r:id="rId3"/>
              </a:rPr>
              <a:t>Javaworld.com</a:t>
            </a:r>
            <a:endParaRPr lang="en-CA" dirty="0" smtClean="0"/>
          </a:p>
          <a:p>
            <a:pPr marL="514350" indent="-514350">
              <a:buFont typeface="+mj-lt"/>
              <a:buAutoNum type="arabicPeriod"/>
            </a:pPr>
            <a:r>
              <a:rPr lang="en-CA" dirty="0" smtClean="0">
                <a:hlinkClick r:id="rId4"/>
              </a:rPr>
              <a:t>Wikipedia</a:t>
            </a:r>
            <a:endParaRPr lang="en-CA" dirty="0" smtClean="0"/>
          </a:p>
          <a:p>
            <a:pPr marL="514350" indent="-514350">
              <a:buFont typeface="+mj-lt"/>
              <a:buAutoNum type="arabicPeriod"/>
            </a:pPr>
            <a:r>
              <a:rPr lang="en-CA" dirty="0" smtClean="0">
                <a:hlinkClick r:id="rId5"/>
              </a:rPr>
              <a:t>Apache GROOVY</a:t>
            </a:r>
            <a:endParaRPr lang="en-CA" dirty="0" smtClean="0"/>
          </a:p>
          <a:p>
            <a:pPr marL="514350" indent="-514350">
              <a:buFont typeface="+mj-lt"/>
              <a:buAutoNum type="arabicPeriod"/>
            </a:pPr>
            <a:r>
              <a:rPr lang="en-CA" dirty="0" smtClean="0">
                <a:hlinkClick r:id="rId6"/>
              </a:rPr>
              <a:t>Kotlin</a:t>
            </a:r>
            <a:endParaRPr lang="en-CA" dirty="0" smtClean="0"/>
          </a:p>
          <a:p>
            <a:pPr marL="514350" indent="-514350">
              <a:buFont typeface="+mj-lt"/>
              <a:buAutoNum type="arabicPeriod"/>
            </a:pPr>
            <a:r>
              <a:rPr lang="en-CA" dirty="0" smtClean="0">
                <a:hlinkClick r:id="rId7"/>
              </a:rPr>
              <a:t>Microsoft.com</a:t>
            </a:r>
            <a:endParaRPr lang="en-CA" dirty="0" smtClean="0"/>
          </a:p>
          <a:p>
            <a:pPr marL="514350" indent="-514350">
              <a:buFont typeface="+mj-lt"/>
              <a:buAutoNum type="arabicPeriod"/>
            </a:pPr>
            <a:r>
              <a:rPr lang="en-CA" dirty="0" smtClean="0">
                <a:hlinkClick r:id="rId8"/>
              </a:rPr>
              <a:t>techopedia.com</a:t>
            </a:r>
            <a:endParaRPr lang="en-CA" dirty="0" smtClean="0"/>
          </a:p>
        </p:txBody>
      </p:sp>
      <p:sp>
        <p:nvSpPr>
          <p:cNvPr id="4" name="Text Placeholder 3"/>
          <p:cNvSpPr>
            <a:spLocks noGrp="1"/>
          </p:cNvSpPr>
          <p:nvPr>
            <p:ph type="body" sz="quarter" idx="13"/>
          </p:nvPr>
        </p:nvSpPr>
        <p:spPr/>
        <p:txBody>
          <a:bodyPr/>
          <a:lstStyle/>
          <a:p>
            <a:endParaRPr lang="en-CA"/>
          </a:p>
        </p:txBody>
      </p:sp>
    </p:spTree>
    <p:extLst>
      <p:ext uri="{BB962C8B-B14F-4D97-AF65-F5344CB8AC3E}">
        <p14:creationId xmlns:p14="http://schemas.microsoft.com/office/powerpoint/2010/main" val="855667856"/>
      </p:ext>
    </p:extLst>
  </p:cSld>
  <p:clrMapOvr>
    <a:masterClrMapping/>
  </p:clrMapOvr>
</p:sld>
</file>

<file path=ppt/theme/theme1.xml><?xml version="1.0" encoding="utf-8"?>
<a:theme xmlns:a="http://schemas.openxmlformats.org/drawingml/2006/main" name="Vani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er" id="{9243BF55-9D1D-468A-9E61-7654222D46AF}" vid="{0BB589B0-ADB4-4621-B913-29A945F93B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Vanier</Template>
  <TotalTime>18790</TotalTime>
  <Words>949</Words>
  <Application>Microsoft Office PowerPoint</Application>
  <PresentationFormat>Widescreen</PresentationFormat>
  <Paragraphs>95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Courier New</vt:lpstr>
      <vt:lpstr>Vanier</vt:lpstr>
      <vt:lpstr>Programming 1</vt:lpstr>
      <vt:lpstr>An Introduction to Programming </vt:lpstr>
      <vt:lpstr>What are Computer Programming Languages</vt:lpstr>
      <vt:lpstr>What about Java?</vt:lpstr>
      <vt:lpstr>Who uses Java?</vt:lpstr>
      <vt:lpstr>WHAT MAKES LEARNING IT IMPORTANT?</vt:lpstr>
      <vt:lpstr>WHERE DID IT START?</vt:lpstr>
      <vt:lpstr>Using  an IDE for Java</vt:lpstr>
      <vt:lpstr>Basics: What you need from a Java IDE</vt:lpstr>
      <vt:lpstr>Basics: What you need from a Java IDE (cont’d)</vt:lpstr>
      <vt:lpstr>JVM</vt:lpstr>
      <vt:lpstr>JRE</vt:lpstr>
      <vt:lpstr>JDK</vt:lpstr>
      <vt:lpstr>JVM, JRE, and JDK</vt:lpstr>
      <vt:lpstr>Platforms</vt:lpstr>
      <vt:lpstr>Platforms (cont’d)</vt:lpstr>
      <vt:lpstr>References</vt:lpstr>
    </vt:vector>
  </TitlesOfParts>
  <Company>CEGEP Vanier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Ronald Raphael</dc:creator>
  <cp:lastModifiedBy>Ronald Raphael</cp:lastModifiedBy>
  <cp:revision>46</cp:revision>
  <dcterms:created xsi:type="dcterms:W3CDTF">2019-05-30T17:24:52Z</dcterms:created>
  <dcterms:modified xsi:type="dcterms:W3CDTF">2019-06-12T18:34:57Z</dcterms:modified>
</cp:coreProperties>
</file>