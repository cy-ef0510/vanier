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57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itle" id="{8911F30E-F811-4B0A-A50C-B072DD303825}">
          <p14:sldIdLst>
            <p14:sldId id="256"/>
          </p14:sldIdLst>
        </p14:section>
        <p14:section name="Variables" id="{FA2FA07E-8EE3-4C80-9A47-035755405200}">
          <p14:sldIdLst>
            <p14:sldId id="258"/>
            <p14:sldId id="259"/>
            <p14:sldId id="260"/>
          </p14:sldIdLst>
        </p14:section>
        <p14:section name="Primitive Data Types" id="{3F925EDE-4DC6-447D-8CE4-FFDCEFBCDBE2}">
          <p14:sldIdLst>
            <p14:sldId id="261"/>
            <p14:sldId id="262"/>
          </p14:sldIdLst>
        </p14:section>
        <p14:section name="String" id="{7747FC31-6B5F-4AA3-BA44-29CC97A6C8F2}">
          <p14:sldIdLst>
            <p14:sldId id="263"/>
            <p14:sldId id="264"/>
            <p14:sldId id="265"/>
            <p14:sldId id="266"/>
            <p14:sldId id="267"/>
            <p14:sldId id="268"/>
            <p14:sldId id="269"/>
            <p14:sldId id="25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433383"/>
            <a:ext cx="9144000" cy="2076579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5DA88-BE35-46EA-8123-B1EAF6CED2DD}" type="datetimeFigureOut">
              <a:rPr lang="en-CA" smtClean="0"/>
              <a:t>2024-08-26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AD20B-34C5-4B42-868D-ADD6B3C4A89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63466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5DA88-BE35-46EA-8123-B1EAF6CED2DD}" type="datetimeFigureOut">
              <a:rPr lang="en-CA" smtClean="0"/>
              <a:t>2024-08-26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AD20B-34C5-4B42-868D-ADD6B3C4A89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726875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5DA88-BE35-46EA-8123-B1EAF6CED2DD}" type="datetimeFigureOut">
              <a:rPr lang="en-CA" smtClean="0"/>
              <a:t>2024-08-26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AD20B-34C5-4B42-868D-ADD6B3C4A89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920240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5DA88-BE35-46EA-8123-B1EAF6CED2DD}" type="datetimeFigureOut">
              <a:rPr lang="en-CA" smtClean="0"/>
              <a:t>2024-08-26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AD20B-34C5-4B42-868D-ADD6B3C4A89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046301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8114742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5DA88-BE35-46EA-8123-B1EAF6CED2DD}" type="datetimeFigureOut">
              <a:rPr lang="en-CA" smtClean="0"/>
              <a:t>2024-08-26</a:t>
            </a:fld>
            <a:endParaRPr lang="en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AD20B-34C5-4B42-868D-ADD6B3C4A89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078917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5DA88-BE35-46EA-8123-B1EAF6CED2DD}" type="datetimeFigureOut">
              <a:rPr lang="en-CA" smtClean="0"/>
              <a:t>2024-08-26</a:t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AD20B-34C5-4B42-868D-ADD6B3C4A89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452028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5DA88-BE35-46EA-8123-B1EAF6CED2DD}" type="datetimeFigureOut">
              <a:rPr lang="en-CA" smtClean="0"/>
              <a:t>2024-08-26</a:t>
            </a:fld>
            <a:endParaRPr lang="en-C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AD20B-34C5-4B42-868D-ADD6B3C4A89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800279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1482811"/>
            <a:ext cx="6172200" cy="4378239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5DA88-BE35-46EA-8123-B1EAF6CED2DD}" type="datetimeFigureOut">
              <a:rPr lang="en-CA" smtClean="0"/>
              <a:t>2024-08-26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AD20B-34C5-4B42-868D-ADD6B3C4A89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289319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1491049"/>
            <a:ext cx="6172200" cy="4370001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5DA88-BE35-46EA-8123-B1EAF6CED2DD}" type="datetimeFigureOut">
              <a:rPr lang="en-CA" smtClean="0"/>
              <a:t>2024-08-26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AD20B-34C5-4B42-868D-ADD6B3C4A89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614334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5DA88-BE35-46EA-8123-B1EAF6CED2DD}" type="datetimeFigureOut">
              <a:rPr lang="en-CA" smtClean="0"/>
              <a:t>2024-08-26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AD20B-34C5-4B42-868D-ADD6B3C4A89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178134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1482811"/>
            <a:ext cx="2628900" cy="469415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5DA88-BE35-46EA-8123-B1EAF6CED2DD}" type="datetimeFigureOut">
              <a:rPr lang="en-CA" smtClean="0"/>
              <a:t>2024-08-26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AD20B-34C5-4B42-868D-ADD6B3C4A89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869806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1" y="365125"/>
            <a:ext cx="8058664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F5DA88-BE35-46EA-8123-B1EAF6CED2DD}" type="datetimeFigureOut">
              <a:rPr lang="en-CA" smtClean="0"/>
              <a:t>2024-08-26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CAD20B-34C5-4B42-868D-ADD6B3C4A899}" type="slidenum">
              <a:rPr lang="en-CA" smtClean="0"/>
              <a:t>‹#›</a:t>
            </a:fld>
            <a:endParaRPr lang="en-CA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20175" y="638608"/>
            <a:ext cx="2333625" cy="707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51623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oracle.com/javase/tutorial/java/nutsandbolts/datatypes.html" TargetMode="External"/><Relationship Id="rId2" Type="http://schemas.openxmlformats.org/officeDocument/2006/relationships/hyperlink" Target="https://www.w3schools.com/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docs.oracle.com/javase/tutorial/java/nutsandbolts/variables.html" TargetMode="External"/><Relationship Id="rId4" Type="http://schemas.openxmlformats.org/officeDocument/2006/relationships/hyperlink" Target="https://docs.oracle.com/javase/9/docs/api/java/lang/String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CA" dirty="0"/>
              <a:t>Programming 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CA" dirty="0"/>
              <a:t>Primitive Data Types and Strings</a:t>
            </a:r>
          </a:p>
        </p:txBody>
      </p:sp>
    </p:spTree>
    <p:extLst>
      <p:ext uri="{BB962C8B-B14F-4D97-AF65-F5344CB8AC3E}">
        <p14:creationId xmlns:p14="http://schemas.microsoft.com/office/powerpoint/2010/main" val="7171804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Variables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i="1" dirty="0"/>
              <a:t>Java allows us to refer to the data in a program by defining variables, which are named locations in memory where we can store values. </a:t>
            </a:r>
            <a:r>
              <a:rPr lang="en-CA" i="1" baseline="30000" dirty="0"/>
              <a:t>1</a:t>
            </a:r>
            <a:endParaRPr lang="en-CA" i="1" dirty="0"/>
          </a:p>
          <a:p>
            <a:r>
              <a:rPr lang="en-CA" i="1" dirty="0"/>
              <a:t>A variable can store 1 data value at a time, but that value might change as the program executes, and it might change from one execution of the program to the next. </a:t>
            </a:r>
            <a:r>
              <a:rPr lang="en-CA" i="1" baseline="30000" dirty="0"/>
              <a:t>1</a:t>
            </a:r>
          </a:p>
          <a:p>
            <a:pPr marL="804863" lvl="1" indent="-357188">
              <a:buFont typeface="Wingdings" panose="05000000000000000000" pitchFamily="2" charset="2"/>
              <a:buChar char="Ø"/>
            </a:pPr>
            <a:r>
              <a:rPr lang="en-CA" i="1" dirty="0"/>
              <a:t>The real advantage of using variables is that we can name a variable, assign it a value, and subsequently refer to the name of the variable rather than coding the specific value.</a:t>
            </a:r>
          </a:p>
          <a:p>
            <a:r>
              <a:rPr lang="en-CA" i="1" dirty="0"/>
              <a:t>Variables are containers for storing data values. </a:t>
            </a:r>
            <a:r>
              <a:rPr lang="en-CA" i="1" baseline="300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4774892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Variables (cont’d)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CA" i="1" dirty="0"/>
              <a:t>In Java, there are different </a:t>
            </a:r>
            <a:r>
              <a:rPr lang="en-CA" b="1" i="1" dirty="0"/>
              <a:t>types</a:t>
            </a:r>
            <a:r>
              <a:rPr lang="en-CA" i="1" dirty="0"/>
              <a:t> of variables, for example: </a:t>
            </a:r>
            <a:r>
              <a:rPr lang="en-CA" i="1" baseline="30000" dirty="0"/>
              <a:t>2</a:t>
            </a:r>
          </a:p>
          <a:p>
            <a:pPr marL="804863" lvl="1" indent="-347663">
              <a:buFont typeface="Wingdings" panose="05000000000000000000" pitchFamily="2" charset="2"/>
              <a:buChar char="ü"/>
            </a:pPr>
            <a:r>
              <a:rPr lang="en-CA" i="1" dirty="0"/>
              <a:t>String - stores text, such as "Hello"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CA" i="1" dirty="0"/>
              <a:t>String values are surrounded by double quotes</a:t>
            </a:r>
          </a:p>
          <a:p>
            <a:pPr marL="804863" lvl="1" indent="-347663">
              <a:buFont typeface="Wingdings" panose="05000000000000000000" pitchFamily="2" charset="2"/>
              <a:buChar char="ü"/>
            </a:pPr>
            <a:r>
              <a:rPr lang="en-CA" i="1" dirty="0" err="1"/>
              <a:t>int</a:t>
            </a:r>
            <a:r>
              <a:rPr lang="en-CA" i="1" dirty="0"/>
              <a:t> - stores integers (whole numbers), without decimals, such as 123 or -123</a:t>
            </a:r>
          </a:p>
          <a:p>
            <a:pPr marL="804863" lvl="1" indent="-347663">
              <a:buFont typeface="Wingdings" panose="05000000000000000000" pitchFamily="2" charset="2"/>
              <a:buChar char="ü"/>
            </a:pPr>
            <a:r>
              <a:rPr lang="en-CA" i="1" dirty="0"/>
              <a:t>float - stores floating point numbers, with decimals, such as 19.99 or -19.99</a:t>
            </a:r>
          </a:p>
          <a:p>
            <a:pPr marL="804863" lvl="1" indent="-347663">
              <a:buFont typeface="Wingdings" panose="05000000000000000000" pitchFamily="2" charset="2"/>
              <a:buChar char="ü"/>
            </a:pPr>
            <a:r>
              <a:rPr lang="en-CA" i="1" dirty="0"/>
              <a:t>char - stores single characters, such as 'a' or 'B‘</a:t>
            </a:r>
          </a:p>
          <a:p>
            <a:pPr marL="914400" lvl="2" indent="0">
              <a:buNone/>
            </a:pPr>
            <a:r>
              <a:rPr lang="en-CA" i="1" dirty="0"/>
              <a:t>Char values are surrounded by single quotes</a:t>
            </a:r>
          </a:p>
          <a:p>
            <a:pPr marL="804863" lvl="1" indent="-347663">
              <a:buFont typeface="Wingdings" panose="05000000000000000000" pitchFamily="2" charset="2"/>
              <a:buChar char="ü"/>
            </a:pPr>
            <a:r>
              <a:rPr lang="en-CA" i="1" dirty="0" err="1"/>
              <a:t>boolean</a:t>
            </a:r>
            <a:r>
              <a:rPr lang="en-CA" i="1" dirty="0"/>
              <a:t> - stores values with two states: true or false</a:t>
            </a:r>
          </a:p>
          <a:p>
            <a:endParaRPr lang="en-CA" i="1" dirty="0"/>
          </a:p>
        </p:txBody>
      </p:sp>
    </p:spTree>
    <p:extLst>
      <p:ext uri="{BB962C8B-B14F-4D97-AF65-F5344CB8AC3E}">
        <p14:creationId xmlns:p14="http://schemas.microsoft.com/office/powerpoint/2010/main" val="34894336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Declaring Variables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Every variable must be given a name and a data type before it can be used. </a:t>
            </a:r>
            <a:r>
              <a:rPr lang="en-CA" baseline="30000" dirty="0"/>
              <a:t>1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CA" dirty="0"/>
              <a:t>This is called declaring a variable.</a:t>
            </a:r>
          </a:p>
          <a:p>
            <a:r>
              <a:rPr lang="en-CA" dirty="0"/>
              <a:t>The syntax for declaring a variable is: </a:t>
            </a:r>
            <a:r>
              <a:rPr lang="en-CA" baseline="30000" dirty="0"/>
              <a:t>1</a:t>
            </a:r>
          </a:p>
          <a:p>
            <a:pPr marL="804863" lvl="1" indent="-347663">
              <a:buFont typeface="Wingdings" panose="05000000000000000000" pitchFamily="2" charset="2"/>
              <a:buChar char="ü"/>
            </a:pPr>
            <a:r>
              <a:rPr lang="en-CA" dirty="0">
                <a:solidFill>
                  <a:schemeClr val="accent1"/>
                </a:solidFill>
              </a:rPr>
              <a:t>Datatype identifier; </a:t>
            </a:r>
            <a:r>
              <a:rPr lang="en-CA" dirty="0">
                <a:solidFill>
                  <a:schemeClr val="accent6">
                    <a:lumMod val="75000"/>
                  </a:schemeClr>
                </a:solidFill>
              </a:rPr>
              <a:t>//this declares one variable</a:t>
            </a:r>
          </a:p>
          <a:p>
            <a:pPr marL="804863" lvl="1" indent="-347663">
              <a:buFont typeface="Wingdings" panose="05000000000000000000" pitchFamily="2" charset="2"/>
              <a:buChar char="ü"/>
            </a:pPr>
            <a:r>
              <a:rPr lang="en-CA" dirty="0">
                <a:solidFill>
                  <a:schemeClr val="accent1"/>
                </a:solidFill>
              </a:rPr>
              <a:t>Datatype identifier1, identifier2, …; </a:t>
            </a:r>
            <a:r>
              <a:rPr lang="en-CA" dirty="0">
                <a:solidFill>
                  <a:schemeClr val="accent6">
                    <a:lumMod val="75000"/>
                  </a:schemeClr>
                </a:solidFill>
              </a:rPr>
              <a:t>//this declares multiple variables of the same data type</a:t>
            </a:r>
          </a:p>
          <a:p>
            <a:pPr marL="804863" lvl="1" indent="-347663">
              <a:buFont typeface="Wingdings" panose="05000000000000000000" pitchFamily="2" charset="2"/>
              <a:buChar char="ü"/>
            </a:pPr>
            <a:endParaRPr lang="en-CA" dirty="0">
              <a:solidFill>
                <a:schemeClr val="accent6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134968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Primitive Data 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CA" i="1" dirty="0"/>
              <a:t>Java supports eight different primitive data types:</a:t>
            </a:r>
            <a:r>
              <a:rPr lang="en-CA" i="1" baseline="30000" dirty="0"/>
              <a:t> 1</a:t>
            </a:r>
          </a:p>
          <a:p>
            <a:pPr marL="804863" lvl="1" indent="-347663">
              <a:buFont typeface="Wingdings" panose="05000000000000000000" pitchFamily="2" charset="2"/>
              <a:buChar char="ü"/>
            </a:pPr>
            <a:r>
              <a:rPr lang="en-CA" i="1" dirty="0"/>
              <a:t>byte</a:t>
            </a:r>
          </a:p>
          <a:p>
            <a:pPr marL="804863" lvl="1" indent="-347663">
              <a:buFont typeface="Wingdings" panose="05000000000000000000" pitchFamily="2" charset="2"/>
              <a:buChar char="ü"/>
            </a:pPr>
            <a:r>
              <a:rPr lang="en-CA" i="1" dirty="0"/>
              <a:t>short</a:t>
            </a:r>
          </a:p>
          <a:p>
            <a:pPr marL="804863" lvl="1" indent="-347663">
              <a:buFont typeface="Wingdings" panose="05000000000000000000" pitchFamily="2" charset="2"/>
              <a:buChar char="ü"/>
            </a:pPr>
            <a:r>
              <a:rPr lang="en-CA" i="1" dirty="0" err="1"/>
              <a:t>int</a:t>
            </a:r>
            <a:endParaRPr lang="en-CA" i="1" dirty="0"/>
          </a:p>
          <a:p>
            <a:pPr marL="804863" lvl="1" indent="-347663">
              <a:buFont typeface="Wingdings" panose="05000000000000000000" pitchFamily="2" charset="2"/>
              <a:buChar char="ü"/>
            </a:pPr>
            <a:r>
              <a:rPr lang="en-CA" i="1" dirty="0"/>
              <a:t>long</a:t>
            </a:r>
          </a:p>
          <a:p>
            <a:pPr marL="804863" lvl="1" indent="-347663">
              <a:buFont typeface="Wingdings" panose="05000000000000000000" pitchFamily="2" charset="2"/>
              <a:buChar char="ü"/>
            </a:pPr>
            <a:r>
              <a:rPr lang="en-CA" i="1" dirty="0"/>
              <a:t>float</a:t>
            </a:r>
          </a:p>
          <a:p>
            <a:pPr marL="804863" lvl="1" indent="-347663">
              <a:buFont typeface="Wingdings" panose="05000000000000000000" pitchFamily="2" charset="2"/>
              <a:buChar char="ü"/>
            </a:pPr>
            <a:r>
              <a:rPr lang="en-CA" i="1" dirty="0"/>
              <a:t>double</a:t>
            </a:r>
          </a:p>
          <a:p>
            <a:pPr marL="804863" lvl="1" indent="-347663">
              <a:buFont typeface="Wingdings" panose="05000000000000000000" pitchFamily="2" charset="2"/>
              <a:buChar char="ü"/>
            </a:pPr>
            <a:r>
              <a:rPr lang="en-CA" i="1" dirty="0"/>
              <a:t>char </a:t>
            </a:r>
          </a:p>
          <a:p>
            <a:pPr marL="804863" lvl="1" indent="-347663">
              <a:buFont typeface="Wingdings" panose="05000000000000000000" pitchFamily="2" charset="2"/>
              <a:buChar char="ü"/>
            </a:pPr>
            <a:r>
              <a:rPr lang="en-CA" i="1" dirty="0" err="1"/>
              <a:t>boolean</a:t>
            </a:r>
            <a:endParaRPr lang="en-CA" i="1" dirty="0"/>
          </a:p>
          <a:p>
            <a:pPr marL="347663" indent="-347663">
              <a:buFont typeface="Wingdings" panose="05000000000000000000" pitchFamily="2" charset="2"/>
              <a:buChar char="ü"/>
            </a:pPr>
            <a:r>
              <a:rPr lang="en-CA" i="1" dirty="0"/>
              <a:t>They are called primitive data types because they are part of the core Java language</a:t>
            </a:r>
            <a:r>
              <a:rPr lang="en-CA" i="1" baseline="30000" dirty="0"/>
              <a:t> 1</a:t>
            </a:r>
            <a:endParaRPr lang="en-CA" i="1" dirty="0"/>
          </a:p>
        </p:txBody>
      </p:sp>
    </p:spTree>
    <p:extLst>
      <p:ext uri="{BB962C8B-B14F-4D97-AF65-F5344CB8AC3E}">
        <p14:creationId xmlns:p14="http://schemas.microsoft.com/office/powerpoint/2010/main" val="15201454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Primitive Data Types (table</a:t>
            </a:r>
            <a:r>
              <a:rPr lang="en-CA" baseline="30000" dirty="0"/>
              <a:t> 2</a:t>
            </a:r>
            <a:r>
              <a:rPr lang="en-CA" dirty="0"/>
              <a:t>)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16018916"/>
              </p:ext>
            </p:extLst>
          </p:nvPr>
        </p:nvGraphicFramePr>
        <p:xfrm>
          <a:off x="838200" y="1825625"/>
          <a:ext cx="9976104" cy="460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2624">
                  <a:extLst>
                    <a:ext uri="{9D8B030D-6E8A-4147-A177-3AD203B41FA5}">
                      <a16:colId xmlns:a16="http://schemas.microsoft.com/office/drawing/2014/main" val="46849134"/>
                    </a:ext>
                  </a:extLst>
                </a:gridCol>
                <a:gridCol w="1490472">
                  <a:extLst>
                    <a:ext uri="{9D8B030D-6E8A-4147-A177-3AD203B41FA5}">
                      <a16:colId xmlns:a16="http://schemas.microsoft.com/office/drawing/2014/main" val="766091269"/>
                    </a:ext>
                  </a:extLst>
                </a:gridCol>
                <a:gridCol w="7303008">
                  <a:extLst>
                    <a:ext uri="{9D8B030D-6E8A-4147-A177-3AD203B41FA5}">
                      <a16:colId xmlns:a16="http://schemas.microsoft.com/office/drawing/2014/main" val="390806809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CA" sz="1800" b="1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Data Type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800" b="1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Size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800" b="1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Description</a:t>
                      </a:r>
                      <a:endParaRPr lang="en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43424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t"/>
                      <a:r>
                        <a:rPr lang="en-CA" dirty="0">
                          <a:effectLst/>
                        </a:rPr>
                        <a:t>byte</a:t>
                      </a:r>
                    </a:p>
                  </a:txBody>
                  <a:tcPr marL="152400" marR="76200" marT="76200" marB="762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CA" dirty="0">
                          <a:effectLst/>
                        </a:rPr>
                        <a:t>1 byte</a:t>
                      </a: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CA" dirty="0">
                          <a:effectLst/>
                        </a:rPr>
                        <a:t>Stores whole numbers from -128 to 127</a:t>
                      </a: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9814205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t"/>
                      <a:r>
                        <a:rPr lang="en-CA" dirty="0">
                          <a:effectLst/>
                        </a:rPr>
                        <a:t>short</a:t>
                      </a:r>
                    </a:p>
                  </a:txBody>
                  <a:tcPr marL="152400" marR="76200" marT="76200" marB="762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CA" dirty="0">
                          <a:effectLst/>
                        </a:rPr>
                        <a:t>2 bytes</a:t>
                      </a: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CA" dirty="0">
                          <a:effectLst/>
                        </a:rPr>
                        <a:t>Stores whole numbers from -32,768 to 32,767</a:t>
                      </a: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24791946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t"/>
                      <a:r>
                        <a:rPr lang="en-CA" dirty="0">
                          <a:effectLst/>
                        </a:rPr>
                        <a:t>int</a:t>
                      </a:r>
                    </a:p>
                  </a:txBody>
                  <a:tcPr marL="152400" marR="76200" marT="76200" marB="762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CA" dirty="0">
                          <a:effectLst/>
                        </a:rPr>
                        <a:t>4 bytes</a:t>
                      </a: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CA" dirty="0">
                          <a:effectLst/>
                        </a:rPr>
                        <a:t>Stores whole numbers from -2,147,483,648 to 2,147,483,647</a:t>
                      </a: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33048159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t"/>
                      <a:r>
                        <a:rPr lang="en-CA" dirty="0">
                          <a:effectLst/>
                        </a:rPr>
                        <a:t>long</a:t>
                      </a:r>
                    </a:p>
                  </a:txBody>
                  <a:tcPr marL="152400" marR="76200" marT="76200" marB="762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CA">
                          <a:effectLst/>
                        </a:rPr>
                        <a:t>8 bytes</a:t>
                      </a: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CA" dirty="0">
                          <a:effectLst/>
                        </a:rPr>
                        <a:t>Stores whole numbers from -9,223,372,036,854,775,808 to 9,223,372,036,854,775,807</a:t>
                      </a: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956124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t"/>
                      <a:r>
                        <a:rPr lang="en-CA" dirty="0">
                          <a:effectLst/>
                        </a:rPr>
                        <a:t>float</a:t>
                      </a:r>
                    </a:p>
                  </a:txBody>
                  <a:tcPr marL="152400" marR="76200" marT="76200" marB="762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CA">
                          <a:effectLst/>
                        </a:rPr>
                        <a:t>4 bytes</a:t>
                      </a: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CA" dirty="0">
                          <a:effectLst/>
                        </a:rPr>
                        <a:t>Stores fractional numbers from 3.4e−038 to 3.4e+038. Sufficient for storing 6 to 7 decimal digits</a:t>
                      </a: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28684675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t"/>
                      <a:r>
                        <a:rPr lang="en-CA" dirty="0">
                          <a:effectLst/>
                        </a:rPr>
                        <a:t>double</a:t>
                      </a:r>
                    </a:p>
                  </a:txBody>
                  <a:tcPr marL="152400" marR="76200" marT="76200" marB="762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CA">
                          <a:effectLst/>
                        </a:rPr>
                        <a:t>8 bytes</a:t>
                      </a: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CA" dirty="0">
                          <a:effectLst/>
                        </a:rPr>
                        <a:t>Stores fractional numbers from 1.7e−308 to 1.7e+038. Sufficient for storing 15 decimal digits</a:t>
                      </a: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3959425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t"/>
                      <a:r>
                        <a:rPr lang="en-CA" dirty="0" err="1">
                          <a:effectLst/>
                        </a:rPr>
                        <a:t>boolean</a:t>
                      </a:r>
                      <a:endParaRPr lang="en-CA" dirty="0">
                        <a:effectLst/>
                      </a:endParaRPr>
                    </a:p>
                  </a:txBody>
                  <a:tcPr marL="152400" marR="76200" marT="76200" marB="762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CA">
                          <a:effectLst/>
                        </a:rPr>
                        <a:t>1 bit</a:t>
                      </a: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CA" dirty="0">
                          <a:effectLst/>
                        </a:rPr>
                        <a:t>Stores true or false values</a:t>
                      </a: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34364469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t"/>
                      <a:r>
                        <a:rPr lang="en-CA" dirty="0">
                          <a:effectLst/>
                        </a:rPr>
                        <a:t>char</a:t>
                      </a:r>
                    </a:p>
                  </a:txBody>
                  <a:tcPr marL="152400" marR="76200" marT="76200" marB="762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CA" dirty="0">
                          <a:effectLst/>
                        </a:rPr>
                        <a:t>2 bytes</a:t>
                      </a: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CA" dirty="0">
                          <a:effectLst/>
                        </a:rPr>
                        <a:t>Stores a single character/letter or ASCII values</a:t>
                      </a: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40303629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06406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String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i="1" dirty="0"/>
              <a:t>Java also supports the </a:t>
            </a:r>
            <a:r>
              <a:rPr lang="en-CA" b="1" i="1" dirty="0"/>
              <a:t>String</a:t>
            </a:r>
            <a:r>
              <a:rPr lang="en-CA" i="1" dirty="0"/>
              <a:t> literals. </a:t>
            </a:r>
            <a:r>
              <a:rPr lang="en-CA" i="1" baseline="30000" dirty="0"/>
              <a:t>1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CA" i="1" dirty="0"/>
              <a:t>String literals are objects of Java’s String Class.</a:t>
            </a:r>
          </a:p>
          <a:p>
            <a:r>
              <a:rPr lang="en-CA" i="1" dirty="0"/>
              <a:t>A </a:t>
            </a:r>
            <a:r>
              <a:rPr lang="en-CA" b="1" i="1" dirty="0"/>
              <a:t>String</a:t>
            </a:r>
            <a:r>
              <a:rPr lang="en-CA" i="1" dirty="0"/>
              <a:t> literal is a sequence of characters enclosed by double quotes.</a:t>
            </a:r>
            <a:r>
              <a:rPr lang="en-CA" i="1" baseline="30000" dirty="0"/>
              <a:t>1</a:t>
            </a:r>
          </a:p>
          <a:p>
            <a:r>
              <a:rPr lang="en-CA" i="1" dirty="0"/>
              <a:t>Example of String literals: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CA" i="1" dirty="0"/>
              <a:t>"Hello"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CA" i="1" dirty="0"/>
              <a:t>"Hello World"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CA" i="1" dirty="0"/>
              <a:t>"a"</a:t>
            </a:r>
          </a:p>
        </p:txBody>
      </p:sp>
    </p:spTree>
    <p:extLst>
      <p:ext uri="{BB962C8B-B14F-4D97-AF65-F5344CB8AC3E}">
        <p14:creationId xmlns:p14="http://schemas.microsoft.com/office/powerpoint/2010/main" val="19290892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Concatenation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i="1" dirty="0"/>
              <a:t>The </a:t>
            </a:r>
            <a:r>
              <a:rPr lang="en-CA" i="1" dirty="0">
                <a:solidFill>
                  <a:srgbClr val="FF0000"/>
                </a:solidFill>
              </a:rPr>
              <a:t>+</a:t>
            </a:r>
            <a:r>
              <a:rPr lang="en-CA" i="1" dirty="0"/>
              <a:t> operator can be used between strings to add them together to make a new string. This is called concatenation:</a:t>
            </a:r>
            <a:r>
              <a:rPr lang="en-CA" i="1" baseline="30000" dirty="0"/>
              <a:t> 2</a:t>
            </a:r>
          </a:p>
          <a:p>
            <a:pPr marL="457200" lvl="1" indent="0">
              <a:buNone/>
            </a:pPr>
            <a:r>
              <a:rPr lang="en-CA" i="1" dirty="0"/>
              <a:t>String </a:t>
            </a:r>
            <a:r>
              <a:rPr lang="en-CA" i="1" dirty="0" err="1"/>
              <a:t>firstName</a:t>
            </a:r>
            <a:r>
              <a:rPr lang="en-CA" i="1" dirty="0"/>
              <a:t> = "John";</a:t>
            </a:r>
          </a:p>
          <a:p>
            <a:pPr marL="457200" lvl="1" indent="0">
              <a:buNone/>
            </a:pPr>
            <a:r>
              <a:rPr lang="en-CA" i="1" dirty="0"/>
              <a:t>String </a:t>
            </a:r>
            <a:r>
              <a:rPr lang="en-CA" i="1" dirty="0" err="1"/>
              <a:t>lastName</a:t>
            </a:r>
            <a:r>
              <a:rPr lang="en-CA" i="1" dirty="0"/>
              <a:t> = "Doe";</a:t>
            </a:r>
          </a:p>
          <a:p>
            <a:pPr marL="457200" lvl="1" indent="0">
              <a:buNone/>
            </a:pPr>
            <a:r>
              <a:rPr lang="en-CA" i="1" dirty="0" err="1"/>
              <a:t>System.out.println</a:t>
            </a:r>
            <a:r>
              <a:rPr lang="en-CA" i="1" dirty="0"/>
              <a:t>(</a:t>
            </a:r>
            <a:r>
              <a:rPr lang="en-CA" i="1" dirty="0" err="1"/>
              <a:t>firstName</a:t>
            </a:r>
            <a:r>
              <a:rPr lang="en-CA" i="1" dirty="0"/>
              <a:t> + " " + </a:t>
            </a:r>
            <a:r>
              <a:rPr lang="en-CA" i="1" dirty="0" err="1"/>
              <a:t>lastName</a:t>
            </a:r>
            <a:r>
              <a:rPr lang="en-CA" i="1" dirty="0"/>
              <a:t>);</a:t>
            </a:r>
          </a:p>
          <a:p>
            <a:pPr marL="265113" indent="0">
              <a:buNone/>
            </a:pPr>
            <a:r>
              <a:rPr lang="en-CA" b="1" dirty="0"/>
              <a:t>OR</a:t>
            </a:r>
          </a:p>
          <a:p>
            <a:r>
              <a:rPr lang="en-CA" i="1" dirty="0"/>
              <a:t>You can also use the </a:t>
            </a:r>
            <a:r>
              <a:rPr lang="en-CA" i="1" dirty="0" err="1"/>
              <a:t>concat</a:t>
            </a:r>
            <a:r>
              <a:rPr lang="en-CA" i="1" dirty="0"/>
              <a:t>() method to concatenate two strings :</a:t>
            </a:r>
            <a:r>
              <a:rPr lang="en-CA" i="1" baseline="30000" dirty="0"/>
              <a:t> 2</a:t>
            </a:r>
            <a:endParaRPr lang="en-CA" i="1" dirty="0"/>
          </a:p>
          <a:p>
            <a:pPr marL="457200" lvl="1" indent="0">
              <a:buNone/>
            </a:pPr>
            <a:r>
              <a:rPr lang="en-CA" i="1" dirty="0"/>
              <a:t>String </a:t>
            </a:r>
            <a:r>
              <a:rPr lang="en-CA" i="1" dirty="0" err="1"/>
              <a:t>firstName</a:t>
            </a:r>
            <a:r>
              <a:rPr lang="en-CA" i="1" dirty="0"/>
              <a:t> = "John ";</a:t>
            </a:r>
          </a:p>
          <a:p>
            <a:pPr marL="457200" lvl="1" indent="0">
              <a:buNone/>
            </a:pPr>
            <a:r>
              <a:rPr lang="en-CA" i="1" dirty="0"/>
              <a:t>String </a:t>
            </a:r>
            <a:r>
              <a:rPr lang="en-CA" i="1" dirty="0" err="1"/>
              <a:t>lastName</a:t>
            </a:r>
            <a:r>
              <a:rPr lang="en-CA" i="1" dirty="0"/>
              <a:t> = "Doe";</a:t>
            </a:r>
          </a:p>
          <a:p>
            <a:pPr marL="457200" lvl="1" indent="0">
              <a:buNone/>
            </a:pPr>
            <a:r>
              <a:rPr lang="en-CA" i="1" dirty="0" err="1"/>
              <a:t>System.out.println</a:t>
            </a:r>
            <a:r>
              <a:rPr lang="en-CA" i="1" dirty="0"/>
              <a:t>(</a:t>
            </a:r>
            <a:r>
              <a:rPr lang="en-CA" i="1" dirty="0" err="1"/>
              <a:t>firstName.concat</a:t>
            </a:r>
            <a:r>
              <a:rPr lang="en-CA" i="1" dirty="0"/>
              <a:t>(</a:t>
            </a:r>
            <a:r>
              <a:rPr lang="en-CA" i="1" dirty="0" err="1"/>
              <a:t>lastName</a:t>
            </a:r>
            <a:r>
              <a:rPr lang="en-CA" i="1" dirty="0"/>
              <a:t>));</a:t>
            </a:r>
          </a:p>
        </p:txBody>
      </p:sp>
    </p:spTree>
    <p:extLst>
      <p:ext uri="{BB962C8B-B14F-4D97-AF65-F5344CB8AC3E}">
        <p14:creationId xmlns:p14="http://schemas.microsoft.com/office/powerpoint/2010/main" val="12744612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Length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i="1" dirty="0"/>
              <a:t>A String in Java is actually an object, which contain methods that can perform certain operations on strings. For example, the length of a string can be found with the length() method:</a:t>
            </a:r>
            <a:r>
              <a:rPr lang="en-CA" i="1" baseline="30000" dirty="0"/>
              <a:t> 2</a:t>
            </a:r>
          </a:p>
          <a:p>
            <a:pPr marL="457200" lvl="1" indent="0">
              <a:buNone/>
            </a:pPr>
            <a:r>
              <a:rPr lang="en-CA" i="1" dirty="0"/>
              <a:t>String txt = "ABCDEFGHIJKLMNOPQRSTUVWXYZ";</a:t>
            </a:r>
          </a:p>
          <a:p>
            <a:pPr marL="457200" lvl="1" indent="0">
              <a:buNone/>
            </a:pPr>
            <a:r>
              <a:rPr lang="en-CA" i="1" dirty="0" err="1"/>
              <a:t>System.out.println</a:t>
            </a:r>
            <a:r>
              <a:rPr lang="en-CA" i="1" dirty="0"/>
              <a:t>("The length of the txt string is: " + </a:t>
            </a:r>
            <a:r>
              <a:rPr lang="en-CA" i="1" dirty="0" err="1"/>
              <a:t>txt.length</a:t>
            </a:r>
            <a:r>
              <a:rPr lang="en-CA" i="1" dirty="0"/>
              <a:t>());</a:t>
            </a:r>
          </a:p>
        </p:txBody>
      </p:sp>
    </p:spTree>
    <p:extLst>
      <p:ext uri="{BB962C8B-B14F-4D97-AF65-F5344CB8AC3E}">
        <p14:creationId xmlns:p14="http://schemas.microsoft.com/office/powerpoint/2010/main" val="5286229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Casing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i="1" dirty="0"/>
              <a:t>There are many string methods available, for example </a:t>
            </a:r>
            <a:r>
              <a:rPr lang="en-CA" i="1" dirty="0" err="1"/>
              <a:t>toUpperCase</a:t>
            </a:r>
            <a:r>
              <a:rPr lang="en-CA" i="1" dirty="0"/>
              <a:t>() and </a:t>
            </a:r>
            <a:r>
              <a:rPr lang="en-CA" i="1" dirty="0" err="1"/>
              <a:t>toLowerCase</a:t>
            </a:r>
            <a:r>
              <a:rPr lang="en-CA" i="1" dirty="0"/>
              <a:t>(): </a:t>
            </a:r>
            <a:r>
              <a:rPr lang="en-CA" i="1" baseline="30000" dirty="0"/>
              <a:t>2</a:t>
            </a:r>
          </a:p>
          <a:p>
            <a:pPr marL="457200" lvl="1" indent="0">
              <a:buNone/>
            </a:pPr>
            <a:r>
              <a:rPr lang="en-CA" i="1" dirty="0"/>
              <a:t>String txt = "Hello World";</a:t>
            </a:r>
          </a:p>
          <a:p>
            <a:pPr marL="457200" lvl="1" indent="0">
              <a:buNone/>
            </a:pPr>
            <a:r>
              <a:rPr lang="en-CA" i="1" dirty="0" err="1"/>
              <a:t>System.out.println</a:t>
            </a:r>
            <a:r>
              <a:rPr lang="en-CA" i="1" dirty="0"/>
              <a:t>(</a:t>
            </a:r>
            <a:r>
              <a:rPr lang="en-CA" i="1" dirty="0" err="1"/>
              <a:t>txt.toUpperCase</a:t>
            </a:r>
            <a:r>
              <a:rPr lang="en-CA" i="1" dirty="0"/>
              <a:t>());   // Outputs "HELLO WORLD"</a:t>
            </a:r>
          </a:p>
          <a:p>
            <a:pPr marL="457200" lvl="1" indent="0">
              <a:buNone/>
            </a:pPr>
            <a:r>
              <a:rPr lang="en-CA" i="1" dirty="0" err="1"/>
              <a:t>System.out.println</a:t>
            </a:r>
            <a:r>
              <a:rPr lang="en-CA" i="1" dirty="0"/>
              <a:t>(</a:t>
            </a:r>
            <a:r>
              <a:rPr lang="en-CA" i="1" dirty="0" err="1"/>
              <a:t>txt.toLowerCase</a:t>
            </a:r>
            <a:r>
              <a:rPr lang="en-CA" i="1" dirty="0"/>
              <a:t>());   // Outputs "hello world"</a:t>
            </a:r>
          </a:p>
        </p:txBody>
      </p:sp>
    </p:spTree>
    <p:extLst>
      <p:ext uri="{BB962C8B-B14F-4D97-AF65-F5344CB8AC3E}">
        <p14:creationId xmlns:p14="http://schemas.microsoft.com/office/powerpoint/2010/main" val="36146360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Finding a String in a String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i="1" dirty="0"/>
              <a:t>The </a:t>
            </a:r>
            <a:r>
              <a:rPr lang="en-CA" i="1" dirty="0" err="1"/>
              <a:t>indexOf</a:t>
            </a:r>
            <a:r>
              <a:rPr lang="en-CA" i="1" dirty="0"/>
              <a:t>() method returns the index (the position) of the first occurrence of a specified text in a string (including whitespace):</a:t>
            </a:r>
            <a:r>
              <a:rPr lang="en-CA" i="1" baseline="30000" dirty="0"/>
              <a:t> 2</a:t>
            </a:r>
          </a:p>
          <a:p>
            <a:pPr marL="457200" lvl="1" indent="0">
              <a:buNone/>
            </a:pPr>
            <a:r>
              <a:rPr lang="en-CA" i="1" dirty="0"/>
              <a:t>String txt = "Please locate where 'locate' occurs!";</a:t>
            </a:r>
          </a:p>
          <a:p>
            <a:pPr marL="457200" lvl="1" indent="0">
              <a:buNone/>
            </a:pPr>
            <a:r>
              <a:rPr lang="en-CA" i="1" dirty="0" err="1"/>
              <a:t>System.out.println</a:t>
            </a:r>
            <a:r>
              <a:rPr lang="en-CA" i="1" dirty="0"/>
              <a:t>(</a:t>
            </a:r>
            <a:r>
              <a:rPr lang="en-CA" i="1" dirty="0" err="1"/>
              <a:t>txt.indexOf</a:t>
            </a:r>
            <a:r>
              <a:rPr lang="en-CA" i="1" dirty="0"/>
              <a:t>("locate")); // Outputs 7</a:t>
            </a:r>
          </a:p>
          <a:p>
            <a:pPr marL="457200" lvl="1" indent="0">
              <a:buNone/>
            </a:pPr>
            <a:endParaRPr lang="en-CA" i="1" dirty="0"/>
          </a:p>
          <a:p>
            <a:pPr marL="457200" lvl="1" indent="0">
              <a:buNone/>
            </a:pPr>
            <a:endParaRPr lang="en-CA" i="1" dirty="0"/>
          </a:p>
          <a:p>
            <a:pPr marL="457200" lvl="1" indent="0">
              <a:buNone/>
            </a:pPr>
            <a:endParaRPr lang="en-CA" i="1" dirty="0"/>
          </a:p>
          <a:p>
            <a:pPr marL="457200" lvl="1" indent="0">
              <a:buNone/>
            </a:pPr>
            <a:endParaRPr lang="en-CA" i="1" dirty="0"/>
          </a:p>
          <a:p>
            <a:pPr marL="457200" lvl="1" indent="0">
              <a:buNone/>
            </a:pPr>
            <a:endParaRPr lang="en-CA" i="1" dirty="0"/>
          </a:p>
          <a:p>
            <a:pPr marL="457200" lvl="1" indent="0">
              <a:buNone/>
            </a:pPr>
            <a:endParaRPr lang="en-CA" i="1" dirty="0"/>
          </a:p>
          <a:p>
            <a:pPr marL="457200" lvl="1" indent="0" algn="r">
              <a:buNone/>
            </a:pPr>
            <a:r>
              <a:rPr lang="en-CA" sz="1800" dirty="0"/>
              <a:t>Java counts positions from zero. 0 is the first position in a string, 1 is the second, 2 is the third ...</a:t>
            </a:r>
            <a:endParaRPr lang="en-CA" sz="1800" i="1" dirty="0"/>
          </a:p>
        </p:txBody>
      </p:sp>
    </p:spTree>
    <p:extLst>
      <p:ext uri="{BB962C8B-B14F-4D97-AF65-F5344CB8AC3E}">
        <p14:creationId xmlns:p14="http://schemas.microsoft.com/office/powerpoint/2010/main" val="28016120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Special Characters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CA" i="1" dirty="0"/>
              <a:t> 	String </a:t>
            </a:r>
            <a:r>
              <a:rPr lang="en-CA" i="1" dirty="0" err="1"/>
              <a:t>specialCharacter</a:t>
            </a:r>
            <a:r>
              <a:rPr lang="en-CA" i="1" dirty="0"/>
              <a:t> = “John shouted “stop!” at his dog";</a:t>
            </a:r>
            <a:endParaRPr lang="en-CA" dirty="0"/>
          </a:p>
          <a:p>
            <a:r>
              <a:rPr lang="en-CA" dirty="0"/>
              <a:t>Because strings must be written within quotes, Java will misunderstand this string, and generate an error.</a:t>
            </a:r>
            <a:r>
              <a:rPr lang="en-CA" baseline="30000" dirty="0"/>
              <a:t> 2</a:t>
            </a:r>
          </a:p>
          <a:p>
            <a:r>
              <a:rPr lang="en-CA" dirty="0"/>
              <a:t>The solution to avoid this problem, is to use the backslash escape character.</a:t>
            </a:r>
          </a:p>
          <a:p>
            <a:r>
              <a:rPr lang="en-CA" dirty="0"/>
              <a:t>The backslash (\) escape character turns special characters into string characters:</a:t>
            </a:r>
          </a:p>
          <a:p>
            <a:pPr marL="0" indent="0">
              <a:buNone/>
            </a:pPr>
            <a:r>
              <a:rPr lang="en-CA" dirty="0"/>
              <a:t>	</a:t>
            </a:r>
            <a:r>
              <a:rPr lang="en-CA" i="1" dirty="0"/>
              <a:t> String </a:t>
            </a:r>
            <a:r>
              <a:rPr lang="en-CA" i="1" dirty="0" err="1"/>
              <a:t>specialCharacter</a:t>
            </a:r>
            <a:r>
              <a:rPr lang="en-CA" i="1" dirty="0"/>
              <a:t> = “John shouted \“stop!\” at his dog";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4398543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Special Characters (cont’d)</a:t>
            </a:r>
            <a:r>
              <a:rPr lang="en-CA" baseline="30000" dirty="0"/>
              <a:t> 2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2907196"/>
              </p:ext>
            </p:extLst>
          </p:nvPr>
        </p:nvGraphicFramePr>
        <p:xfrm>
          <a:off x="838200" y="1825625"/>
          <a:ext cx="10515600" cy="3413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4224">
                  <a:extLst>
                    <a:ext uri="{9D8B030D-6E8A-4147-A177-3AD203B41FA5}">
                      <a16:colId xmlns:a16="http://schemas.microsoft.com/office/drawing/2014/main" val="1303003692"/>
                    </a:ext>
                  </a:extLst>
                </a:gridCol>
                <a:gridCol w="2542032">
                  <a:extLst>
                    <a:ext uri="{9D8B030D-6E8A-4147-A177-3AD203B41FA5}">
                      <a16:colId xmlns:a16="http://schemas.microsoft.com/office/drawing/2014/main" val="1941102277"/>
                    </a:ext>
                  </a:extLst>
                </a:gridCol>
                <a:gridCol w="5419344">
                  <a:extLst>
                    <a:ext uri="{9D8B030D-6E8A-4147-A177-3AD203B41FA5}">
                      <a16:colId xmlns:a16="http://schemas.microsoft.com/office/drawing/2014/main" val="426691464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fontAlgn="t"/>
                      <a:r>
                        <a:rPr lang="en-CA">
                          <a:effectLst/>
                        </a:rPr>
                        <a:t>Escape character</a:t>
                      </a:r>
                    </a:p>
                  </a:txBody>
                  <a:tcPr marL="152400" marR="76200" marT="76200" marB="762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CA" dirty="0">
                          <a:effectLst/>
                        </a:rPr>
                        <a:t>Result</a:t>
                      </a: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CA" sz="1800" b="1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Description</a:t>
                      </a:r>
                      <a:endParaRPr lang="en-CA" dirty="0">
                        <a:effectLst/>
                      </a:endParaRP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13833646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t"/>
                      <a:r>
                        <a:rPr lang="en-CA">
                          <a:effectLst/>
                        </a:rPr>
                        <a:t>\'</a:t>
                      </a:r>
                    </a:p>
                  </a:txBody>
                  <a:tcPr marL="152400" marR="76200" marT="76200" marB="762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CA" dirty="0">
                          <a:effectLst/>
                        </a:rPr>
                        <a:t>'</a:t>
                      </a: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CA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Single quote</a:t>
                      </a:r>
                      <a:endParaRPr lang="en-CA" dirty="0">
                        <a:effectLst/>
                      </a:endParaRP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32587590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t"/>
                      <a:r>
                        <a:rPr lang="en-CA">
                          <a:effectLst/>
                        </a:rPr>
                        <a:t>\"</a:t>
                      </a:r>
                    </a:p>
                  </a:txBody>
                  <a:tcPr marL="152400" marR="76200" marT="76200" marB="762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CA">
                          <a:effectLst/>
                        </a:rPr>
                        <a:t>"</a:t>
                      </a: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CA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Double quote</a:t>
                      </a:r>
                      <a:endParaRPr lang="en-CA" dirty="0">
                        <a:effectLst/>
                      </a:endParaRP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28885201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t"/>
                      <a:r>
                        <a:rPr lang="en-CA" dirty="0">
                          <a:effectLst/>
                        </a:rPr>
                        <a:t>\\</a:t>
                      </a:r>
                    </a:p>
                  </a:txBody>
                  <a:tcPr marL="152400" marR="76200" marT="76200" marB="762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CA" dirty="0">
                          <a:effectLst/>
                        </a:rPr>
                        <a:t>\</a:t>
                      </a: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CA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Backslash</a:t>
                      </a:r>
                      <a:endParaRPr lang="en-CA" dirty="0">
                        <a:effectLst/>
                      </a:endParaRP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26662174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t"/>
                      <a:r>
                        <a:rPr lang="en-CA" dirty="0">
                          <a:effectLst/>
                        </a:rPr>
                        <a:t>\n</a:t>
                      </a:r>
                    </a:p>
                  </a:txBody>
                  <a:tcPr marL="152400" marR="76200" marT="76200" marB="76200"/>
                </a:tc>
                <a:tc>
                  <a:txBody>
                    <a:bodyPr/>
                    <a:lstStyle/>
                    <a:p>
                      <a:pPr algn="l" fontAlgn="t"/>
                      <a:endParaRPr lang="en-CA" dirty="0">
                        <a:effectLst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dirty="0">
                          <a:effectLst/>
                        </a:rPr>
                        <a:t>New Line</a:t>
                      </a: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42205751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t"/>
                      <a:r>
                        <a:rPr lang="en-CA" dirty="0">
                          <a:effectLst/>
                        </a:rPr>
                        <a:t>\r</a:t>
                      </a:r>
                    </a:p>
                  </a:txBody>
                  <a:tcPr marL="152400" marR="76200" marT="76200" marB="76200"/>
                </a:tc>
                <a:tc>
                  <a:txBody>
                    <a:bodyPr/>
                    <a:lstStyle/>
                    <a:p>
                      <a:pPr algn="l" fontAlgn="t"/>
                      <a:endParaRPr lang="en-CA" dirty="0">
                        <a:effectLst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dirty="0">
                          <a:effectLst/>
                        </a:rPr>
                        <a:t>Carriage Return</a:t>
                      </a: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27081010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t"/>
                      <a:r>
                        <a:rPr lang="en-CA" dirty="0">
                          <a:effectLst/>
                        </a:rPr>
                        <a:t>\t</a:t>
                      </a:r>
                    </a:p>
                  </a:txBody>
                  <a:tcPr marL="152400" marR="76200" marT="76200" marB="76200"/>
                </a:tc>
                <a:tc>
                  <a:txBody>
                    <a:bodyPr/>
                    <a:lstStyle/>
                    <a:p>
                      <a:pPr algn="l" fontAlgn="t"/>
                      <a:endParaRPr lang="en-CA" dirty="0">
                        <a:effectLst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dirty="0">
                          <a:effectLst/>
                        </a:rPr>
                        <a:t>Tab</a:t>
                      </a: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4409456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t"/>
                      <a:r>
                        <a:rPr lang="en-CA" dirty="0">
                          <a:effectLst/>
                        </a:rPr>
                        <a:t>\b</a:t>
                      </a:r>
                    </a:p>
                  </a:txBody>
                  <a:tcPr marL="152400" marR="76200" marT="76200" marB="76200"/>
                </a:tc>
                <a:tc>
                  <a:txBody>
                    <a:bodyPr/>
                    <a:lstStyle/>
                    <a:p>
                      <a:pPr algn="l" fontAlgn="t"/>
                      <a:endParaRPr lang="en-CA" dirty="0">
                        <a:effectLst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dirty="0">
                          <a:effectLst/>
                        </a:rPr>
                        <a:t>Backspace</a:t>
                      </a: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40728509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636707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CA" dirty="0"/>
              <a:t>Java Illuminated</a:t>
            </a:r>
          </a:p>
          <a:p>
            <a:pPr marL="514350" indent="-514350">
              <a:buFont typeface="+mj-lt"/>
              <a:buAutoNum type="arabicPeriod"/>
            </a:pPr>
            <a:r>
              <a:rPr lang="en-CA" dirty="0">
                <a:hlinkClick r:id="rId2"/>
              </a:rPr>
              <a:t>w3schools.com</a:t>
            </a:r>
            <a:endParaRPr lang="en-CA" dirty="0"/>
          </a:p>
          <a:p>
            <a:pPr marL="514350" indent="-514350">
              <a:buFont typeface="+mj-lt"/>
              <a:buAutoNum type="arabicPeriod"/>
            </a:pPr>
            <a:r>
              <a:rPr lang="en-CA" dirty="0">
                <a:hlinkClick r:id="rId3"/>
              </a:rPr>
              <a:t>Oracle Docs (Primitive Data Types)</a:t>
            </a:r>
            <a:endParaRPr lang="en-CA" dirty="0"/>
          </a:p>
          <a:p>
            <a:pPr marL="514350" indent="-514350">
              <a:buFont typeface="+mj-lt"/>
              <a:buAutoNum type="arabicPeriod"/>
            </a:pPr>
            <a:r>
              <a:rPr lang="en-CA" dirty="0">
                <a:hlinkClick r:id="rId4"/>
              </a:rPr>
              <a:t>Oracle Docs (String)</a:t>
            </a:r>
            <a:endParaRPr lang="en-CA" dirty="0"/>
          </a:p>
          <a:p>
            <a:pPr marL="514350" indent="-514350">
              <a:buFont typeface="+mj-lt"/>
              <a:buAutoNum type="arabicPeriod"/>
            </a:pPr>
            <a:r>
              <a:rPr lang="en-CA" dirty="0">
                <a:hlinkClick r:id="rId5"/>
              </a:rPr>
              <a:t>Oracle Docs (Variables)</a:t>
            </a:r>
            <a:endParaRPr lang="en-CA" dirty="0"/>
          </a:p>
          <a:p>
            <a:pPr marL="514350" indent="-514350">
              <a:buFont typeface="+mj-lt"/>
              <a:buAutoNum type="arabicPeriod"/>
            </a:pPr>
            <a:endParaRPr lang="en-CA" dirty="0"/>
          </a:p>
          <a:p>
            <a:pPr marL="514350" indent="-514350">
              <a:buFont typeface="+mj-lt"/>
              <a:buAutoNum type="arabicPeriod"/>
            </a:pP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703462831"/>
      </p:ext>
    </p:extLst>
  </p:cSld>
  <p:clrMapOvr>
    <a:masterClrMapping/>
  </p:clrMapOvr>
</p:sld>
</file>

<file path=ppt/theme/theme1.xml><?xml version="1.0" encoding="utf-8"?>
<a:theme xmlns:a="http://schemas.openxmlformats.org/drawingml/2006/main" name="Vanier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er" id="{9243BF55-9D1D-468A-9E61-7654222D46AF}" vid="{0BB589B0-ADB4-4621-B913-29A945F93BE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Vanier</Template>
  <TotalTime>1606</TotalTime>
  <Words>907</Words>
  <Application>Microsoft Office PowerPoint</Application>
  <PresentationFormat>Widescreen</PresentationFormat>
  <Paragraphs>132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Calibri Light</vt:lpstr>
      <vt:lpstr>Wingdings</vt:lpstr>
      <vt:lpstr>Vanier</vt:lpstr>
      <vt:lpstr>Programming 1</vt:lpstr>
      <vt:lpstr>Variables</vt:lpstr>
      <vt:lpstr>Variables (cont’d)</vt:lpstr>
      <vt:lpstr>Declaring Variables</vt:lpstr>
      <vt:lpstr>Primitive Data Types</vt:lpstr>
      <vt:lpstr>Primitive Data Types (table 2)</vt:lpstr>
      <vt:lpstr>String </vt:lpstr>
      <vt:lpstr>Concatenation</vt:lpstr>
      <vt:lpstr>Length</vt:lpstr>
      <vt:lpstr>Casing</vt:lpstr>
      <vt:lpstr>Finding a String in a String</vt:lpstr>
      <vt:lpstr>Special Characters</vt:lpstr>
      <vt:lpstr>Special Characters (cont’d) 2</vt:lpstr>
      <vt:lpstr>References</vt:lpstr>
    </vt:vector>
  </TitlesOfParts>
  <Company>CEGEP Vanier College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Ronald Raphael</dc:creator>
  <cp:lastModifiedBy>Nneamaka Chrysa Adirika</cp:lastModifiedBy>
  <cp:revision>50</cp:revision>
  <dcterms:created xsi:type="dcterms:W3CDTF">2019-06-13T17:37:23Z</dcterms:created>
  <dcterms:modified xsi:type="dcterms:W3CDTF">2024-08-27T14:54:00Z</dcterms:modified>
</cp:coreProperties>
</file>