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4" r:id="rId3"/>
    <p:sldId id="260" r:id="rId4"/>
    <p:sldId id="261" r:id="rId5"/>
    <p:sldId id="262" r:id="rId6"/>
    <p:sldId id="265" r:id="rId7"/>
    <p:sldId id="266" r:id="rId8"/>
    <p:sldId id="257" r:id="rId9"/>
    <p:sldId id="2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8911F30E-F811-4B0A-A50C-B072DD303825}">
          <p14:sldIdLst>
            <p14:sldId id="256"/>
          </p14:sldIdLst>
        </p14:section>
        <p14:section name="Logical Operators" id="{390D2D94-9E18-4058-B39D-F15F073EE03D}">
          <p14:sldIdLst>
            <p14:sldId id="264"/>
            <p14:sldId id="260"/>
          </p14:sldIdLst>
        </p14:section>
        <p14:section name="Control Flow Statements" id="{6D4DEE52-8850-4AE3-8DC7-54D10AC5AA0B}">
          <p14:sldIdLst>
            <p14:sldId id="261"/>
            <p14:sldId id="262"/>
            <p14:sldId id="265"/>
            <p14:sldId id="266"/>
          </p14:sldIdLst>
        </p14:section>
        <p14:section name="References" id="{7A1B7B76-CE42-4F61-AF47-D87823311B72}">
          <p14:sldIdLst>
            <p14:sldId id="257"/>
            <p14:sldId id="26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nald Raphael" initials="RR" lastIdx="1" clrIdx="0">
    <p:extLst>
      <p:ext uri="{19B8F6BF-5375-455C-9EA6-DF929625EA0E}">
        <p15:presenceInfo xmlns:p15="http://schemas.microsoft.com/office/powerpoint/2012/main" userId="S-1-5-21-916696058-2672773846-924747076-991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33383"/>
            <a:ext cx="9144000" cy="2076579"/>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6F5DA88-BE35-46EA-8123-B1EAF6CED2DD}" type="datetimeFigureOut">
              <a:rPr lang="en-CA" smtClean="0"/>
              <a:t>2024-09-07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366346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F5DA88-BE35-46EA-8123-B1EAF6CED2DD}" type="datetimeFigureOut">
              <a:rPr lang="en-CA" smtClean="0"/>
              <a:t>2024-09-07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3872687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6F5DA88-BE35-46EA-8123-B1EAF6CED2DD}" type="datetimeFigureOut">
              <a:rPr lang="en-CA" smtClean="0"/>
              <a:t>2024-09-07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3892024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6F5DA88-BE35-46EA-8123-B1EAF6CED2DD}" type="datetimeFigureOut">
              <a:rPr lang="en-CA" smtClean="0"/>
              <a:t>2024-09-07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2804630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8114742"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6F5DA88-BE35-46EA-8123-B1EAF6CED2DD}" type="datetimeFigureOut">
              <a:rPr lang="en-CA" smtClean="0"/>
              <a:t>2024-09-07</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3507891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6F5DA88-BE35-46EA-8123-B1EAF6CED2DD}" type="datetimeFigureOut">
              <a:rPr lang="en-CA" smtClean="0"/>
              <a:t>2024-09-07</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545202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F5DA88-BE35-46EA-8123-B1EAF6CED2DD}" type="datetimeFigureOut">
              <a:rPr lang="en-CA" smtClean="0"/>
              <a:t>2024-09-07</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98002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1482811"/>
            <a:ext cx="6172200" cy="437823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6F5DA88-BE35-46EA-8123-B1EAF6CED2DD}" type="datetimeFigureOut">
              <a:rPr lang="en-CA" smtClean="0"/>
              <a:t>2024-09-07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3428931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1491049"/>
            <a:ext cx="6172200" cy="437000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6F5DA88-BE35-46EA-8123-B1EAF6CED2DD}" type="datetimeFigureOut">
              <a:rPr lang="en-CA" smtClean="0"/>
              <a:t>2024-09-07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2261433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F5DA88-BE35-46EA-8123-B1EAF6CED2DD}" type="datetimeFigureOut">
              <a:rPr lang="en-CA" smtClean="0"/>
              <a:t>2024-09-07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1917813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482811"/>
            <a:ext cx="2628900" cy="469415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F5DA88-BE35-46EA-8123-B1EAF6CED2DD}" type="datetimeFigureOut">
              <a:rPr lang="en-CA" smtClean="0"/>
              <a:t>2024-09-07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2586980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5"/>
            <a:ext cx="8058664"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F5DA88-BE35-46EA-8123-B1EAF6CED2DD}" type="datetimeFigureOut">
              <a:rPr lang="en-CA" smtClean="0"/>
              <a:t>2024-09-07</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CAD20B-34C5-4B42-868D-ADD6B3C4A899}" type="slidenum">
              <a:rPr lang="en-CA" smtClean="0"/>
              <a:t>‹#›</a:t>
            </a:fld>
            <a:endParaRPr lang="en-CA"/>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020175" y="638608"/>
            <a:ext cx="2333625" cy="707159"/>
          </a:xfrm>
          <a:prstGeom prst="rect">
            <a:avLst/>
          </a:prstGeom>
        </p:spPr>
      </p:pic>
    </p:spTree>
    <p:extLst>
      <p:ext uri="{BB962C8B-B14F-4D97-AF65-F5344CB8AC3E}">
        <p14:creationId xmlns:p14="http://schemas.microsoft.com/office/powerpoint/2010/main" val="14751623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ocs.oracle.com/javase/tutorial/java/nutsandbolts/op2.html" TargetMode="External"/><Relationship Id="rId7" Type="http://schemas.openxmlformats.org/officeDocument/2006/relationships/hyperlink" Target="https://docs.oracle.com/javase/tutorial/java/nutsandbolts/switch.html" TargetMode="External"/><Relationship Id="rId2" Type="http://schemas.openxmlformats.org/officeDocument/2006/relationships/hyperlink" Target="https://www.w3schools.com/" TargetMode="External"/><Relationship Id="rId1" Type="http://schemas.openxmlformats.org/officeDocument/2006/relationships/slideLayout" Target="../slideLayouts/slideLayout2.xml"/><Relationship Id="rId6" Type="http://schemas.openxmlformats.org/officeDocument/2006/relationships/hyperlink" Target="https://docs.oracle.com/javase/tutorial/java/nutsandbolts/if.html" TargetMode="External"/><Relationship Id="rId5" Type="http://schemas.openxmlformats.org/officeDocument/2006/relationships/hyperlink" Target="https://docs.oracle.com/javase/tutorial/java/nutsandbolts/flow.html" TargetMode="External"/><Relationship Id="rId4" Type="http://schemas.openxmlformats.org/officeDocument/2006/relationships/hyperlink" Target="https://docs.oracle.com/javase/tutorial/java/nutsandbolts/opsummary.html"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docs.oracle.com/javase/tutorial/java/nutsandbolts/for.html" TargetMode="External"/><Relationship Id="rId2" Type="http://schemas.openxmlformats.org/officeDocument/2006/relationships/hyperlink" Target="https://docs.oracle.com/javase/tutorial/java/nutsandbolts/while.html" TargetMode="External"/><Relationship Id="rId1" Type="http://schemas.openxmlformats.org/officeDocument/2006/relationships/slideLayout" Target="../slideLayouts/slideLayout2.xml"/><Relationship Id="rId4" Type="http://schemas.openxmlformats.org/officeDocument/2006/relationships/hyperlink" Target="https://docs.oracle.com/javase/tutorial/java/nutsandbolts/branch.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a:t>Programming 1</a:t>
            </a:r>
          </a:p>
        </p:txBody>
      </p:sp>
      <p:sp>
        <p:nvSpPr>
          <p:cNvPr id="3" name="Subtitle 2"/>
          <p:cNvSpPr>
            <a:spLocks noGrp="1"/>
          </p:cNvSpPr>
          <p:nvPr>
            <p:ph type="subTitle" idx="1"/>
          </p:nvPr>
        </p:nvSpPr>
        <p:spPr/>
        <p:txBody>
          <a:bodyPr/>
          <a:lstStyle/>
          <a:p>
            <a:r>
              <a:rPr lang="en-CA" dirty="0"/>
              <a:t>Logical Operators</a:t>
            </a:r>
          </a:p>
        </p:txBody>
      </p:sp>
    </p:spTree>
    <p:extLst>
      <p:ext uri="{BB962C8B-B14F-4D97-AF65-F5344CB8AC3E}">
        <p14:creationId xmlns:p14="http://schemas.microsoft.com/office/powerpoint/2010/main" val="717180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The Conditional Operators</a:t>
            </a:r>
          </a:p>
        </p:txBody>
      </p:sp>
      <p:sp>
        <p:nvSpPr>
          <p:cNvPr id="3" name="Content Placeholder 2"/>
          <p:cNvSpPr>
            <a:spLocks noGrp="1"/>
          </p:cNvSpPr>
          <p:nvPr>
            <p:ph idx="1"/>
          </p:nvPr>
        </p:nvSpPr>
        <p:spPr/>
        <p:txBody>
          <a:bodyPr/>
          <a:lstStyle/>
          <a:p>
            <a:r>
              <a:rPr lang="en-CA" i="1" dirty="0"/>
              <a:t>The &amp;&amp; and || operators perform </a:t>
            </a:r>
            <a:r>
              <a:rPr lang="en-CA" i="1" u="sng" dirty="0"/>
              <a:t>Conditional-AND</a:t>
            </a:r>
            <a:r>
              <a:rPr lang="en-CA" i="1" dirty="0"/>
              <a:t> and </a:t>
            </a:r>
            <a:r>
              <a:rPr lang="en-CA" i="1" u="sng" dirty="0"/>
              <a:t>Conditional-OR </a:t>
            </a:r>
            <a:r>
              <a:rPr lang="en-CA" i="1" dirty="0"/>
              <a:t>operations on two </a:t>
            </a:r>
            <a:r>
              <a:rPr lang="en-CA" i="1" dirty="0" err="1"/>
              <a:t>boolean</a:t>
            </a:r>
            <a:r>
              <a:rPr lang="en-CA" i="1" dirty="0"/>
              <a:t> expressions. These operators exhibit "short-circuiting" behavior, which means that the second operand is evaluated only if needed. </a:t>
            </a:r>
            <a:r>
              <a:rPr lang="en-CA" i="1" baseline="30000" dirty="0"/>
              <a:t>3</a:t>
            </a:r>
          </a:p>
          <a:p>
            <a:pPr lvl="1"/>
            <a:r>
              <a:rPr lang="en-CA" i="1" dirty="0"/>
              <a:t>&amp;&amp; Conditional-AND</a:t>
            </a:r>
          </a:p>
          <a:p>
            <a:pPr lvl="1"/>
            <a:r>
              <a:rPr lang="en-CA" i="1" dirty="0"/>
              <a:t>|| Conditional-OR</a:t>
            </a:r>
          </a:p>
        </p:txBody>
      </p:sp>
    </p:spTree>
    <p:extLst>
      <p:ext uri="{BB962C8B-B14F-4D97-AF65-F5344CB8AC3E}">
        <p14:creationId xmlns:p14="http://schemas.microsoft.com/office/powerpoint/2010/main" val="2934343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Conditional Operators </a:t>
            </a:r>
            <a:r>
              <a:rPr lang="en-CA" baseline="30000" dirty="0"/>
              <a:t>4</a:t>
            </a:r>
          </a:p>
        </p:txBody>
      </p:sp>
      <p:sp>
        <p:nvSpPr>
          <p:cNvPr id="3" name="Content Placeholder 2"/>
          <p:cNvSpPr>
            <a:spLocks noGrp="1"/>
          </p:cNvSpPr>
          <p:nvPr>
            <p:ph idx="1"/>
          </p:nvPr>
        </p:nvSpPr>
        <p:spPr/>
        <p:txBody>
          <a:bodyPr/>
          <a:lstStyle/>
          <a:p>
            <a:r>
              <a:rPr lang="en-CA" i="1" dirty="0"/>
              <a:t>&amp;&amp;    Conditional-AND</a:t>
            </a:r>
          </a:p>
          <a:p>
            <a:r>
              <a:rPr lang="en-CA" i="1" dirty="0"/>
              <a:t>||      Conditional-OR</a:t>
            </a:r>
          </a:p>
          <a:p>
            <a:r>
              <a:rPr lang="en-CA" i="1" dirty="0"/>
              <a:t>?:      Ternary (shorthand for if-then-else statement)</a:t>
            </a:r>
          </a:p>
        </p:txBody>
      </p:sp>
    </p:spTree>
    <p:extLst>
      <p:ext uri="{BB962C8B-B14F-4D97-AF65-F5344CB8AC3E}">
        <p14:creationId xmlns:p14="http://schemas.microsoft.com/office/powerpoint/2010/main" val="4243834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Control Flow Statements</a:t>
            </a:r>
          </a:p>
        </p:txBody>
      </p:sp>
      <p:sp>
        <p:nvSpPr>
          <p:cNvPr id="3" name="Content Placeholder 2"/>
          <p:cNvSpPr>
            <a:spLocks noGrp="1"/>
          </p:cNvSpPr>
          <p:nvPr>
            <p:ph idx="1"/>
          </p:nvPr>
        </p:nvSpPr>
        <p:spPr/>
        <p:txBody>
          <a:bodyPr/>
          <a:lstStyle/>
          <a:p>
            <a:r>
              <a:rPr lang="en-CA" i="1" dirty="0"/>
              <a:t>The statements inside your source files are generally executed from top to bottom, in the order that they appear. Control flow statements, however, break up the flow of execution by employing decision making, looping, and branching, enabling your program to conditionally execute particular blocks of code.</a:t>
            </a:r>
            <a:r>
              <a:rPr lang="en-CA" i="1" baseline="30000" dirty="0"/>
              <a:t> 5</a:t>
            </a:r>
          </a:p>
          <a:p>
            <a:r>
              <a:rPr lang="en-CA" i="1" dirty="0"/>
              <a:t>This section describes </a:t>
            </a:r>
            <a:r>
              <a:rPr lang="en-CA" i="1" baseline="30000" dirty="0"/>
              <a:t> 5</a:t>
            </a:r>
            <a:endParaRPr lang="en-CA" i="1" dirty="0"/>
          </a:p>
          <a:p>
            <a:pPr lvl="1"/>
            <a:r>
              <a:rPr lang="en-CA" i="1" dirty="0"/>
              <a:t>the decision-making statements (if-then, if-then-else, switch), </a:t>
            </a:r>
          </a:p>
          <a:p>
            <a:pPr lvl="1"/>
            <a:r>
              <a:rPr lang="en-CA" i="1" dirty="0"/>
              <a:t>the looping statements (for, while, do-while), </a:t>
            </a:r>
          </a:p>
          <a:p>
            <a:pPr lvl="1"/>
            <a:r>
              <a:rPr lang="en-CA" i="1" dirty="0"/>
              <a:t>and the branching statements (break, continue, return) supported by the Java programming language.</a:t>
            </a:r>
          </a:p>
        </p:txBody>
      </p:sp>
    </p:spTree>
    <p:extLst>
      <p:ext uri="{BB962C8B-B14F-4D97-AF65-F5344CB8AC3E}">
        <p14:creationId xmlns:p14="http://schemas.microsoft.com/office/powerpoint/2010/main" val="3696143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The if-then Statement</a:t>
            </a:r>
          </a:p>
        </p:txBody>
      </p:sp>
      <p:sp>
        <p:nvSpPr>
          <p:cNvPr id="3" name="Content Placeholder 2"/>
          <p:cNvSpPr>
            <a:spLocks noGrp="1"/>
          </p:cNvSpPr>
          <p:nvPr>
            <p:ph idx="1"/>
          </p:nvPr>
        </p:nvSpPr>
        <p:spPr/>
        <p:txBody>
          <a:bodyPr/>
          <a:lstStyle/>
          <a:p>
            <a:r>
              <a:rPr lang="en-CA" i="1" dirty="0"/>
              <a:t>The if-then statement is the most basic of all the control flow statements. It tells your program to execute a certain section of code only if a particular test evaluates to true.</a:t>
            </a:r>
            <a:r>
              <a:rPr lang="en-CA" i="1" baseline="30000" dirty="0"/>
              <a:t> 6</a:t>
            </a:r>
          </a:p>
          <a:p>
            <a:r>
              <a:rPr lang="en-CA" i="1" dirty="0"/>
              <a:t>If this test evaluates to false (meaning that the bicycle is not in motion), control jumps to the end of the if-then statement. </a:t>
            </a:r>
            <a:r>
              <a:rPr lang="en-CA" i="1" baseline="30000" dirty="0"/>
              <a:t>6</a:t>
            </a:r>
            <a:endParaRPr lang="en-CA" i="1" dirty="0"/>
          </a:p>
          <a:p>
            <a:endParaRPr lang="en-CA" i="1" dirty="0"/>
          </a:p>
        </p:txBody>
      </p:sp>
    </p:spTree>
    <p:extLst>
      <p:ext uri="{BB962C8B-B14F-4D97-AF65-F5344CB8AC3E}">
        <p14:creationId xmlns:p14="http://schemas.microsoft.com/office/powerpoint/2010/main" val="3016159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The switch Statement</a:t>
            </a:r>
          </a:p>
        </p:txBody>
      </p:sp>
      <p:sp>
        <p:nvSpPr>
          <p:cNvPr id="3" name="Content Placeholder 2"/>
          <p:cNvSpPr>
            <a:spLocks noGrp="1"/>
          </p:cNvSpPr>
          <p:nvPr>
            <p:ph idx="1"/>
          </p:nvPr>
        </p:nvSpPr>
        <p:spPr/>
        <p:txBody>
          <a:bodyPr>
            <a:normAutofit fontScale="92500"/>
          </a:bodyPr>
          <a:lstStyle/>
          <a:p>
            <a:r>
              <a:rPr lang="en-CA" i="1" dirty="0"/>
              <a:t>Unlike if-then and if-then-else statements, the switch statement can have a number of possible execution paths.</a:t>
            </a:r>
            <a:r>
              <a:rPr lang="en-CA" i="1" baseline="30000" dirty="0"/>
              <a:t> 7</a:t>
            </a:r>
          </a:p>
          <a:p>
            <a:r>
              <a:rPr lang="en-CA" i="1" dirty="0"/>
              <a:t>A switch works with the byte, short, char, and </a:t>
            </a:r>
            <a:r>
              <a:rPr lang="en-CA" i="1" dirty="0" err="1"/>
              <a:t>int</a:t>
            </a:r>
            <a:r>
              <a:rPr lang="en-CA" i="1" dirty="0"/>
              <a:t> primitive data types.</a:t>
            </a:r>
            <a:r>
              <a:rPr lang="en-CA" i="1" baseline="30000" dirty="0"/>
              <a:t>7</a:t>
            </a:r>
            <a:endParaRPr lang="en-CA" i="1" dirty="0"/>
          </a:p>
          <a:p>
            <a:pPr lvl="1"/>
            <a:r>
              <a:rPr lang="en-CA" i="1" dirty="0"/>
              <a:t>It also works with enumerated types (discussed in </a:t>
            </a:r>
            <a:r>
              <a:rPr lang="en-CA" i="1" dirty="0" err="1"/>
              <a:t>Enum</a:t>
            </a:r>
            <a:r>
              <a:rPr lang="en-CA" i="1" dirty="0"/>
              <a:t> Types), the String class, and a few special classes that wrap certain primitive types: Character, Byte, Short, and Integer.</a:t>
            </a:r>
          </a:p>
          <a:p>
            <a:r>
              <a:rPr lang="en-CA" i="1" dirty="0"/>
              <a:t>The body of a switch statement is known as a switch block. </a:t>
            </a:r>
          </a:p>
          <a:p>
            <a:pPr lvl="1"/>
            <a:r>
              <a:rPr lang="en-CA" i="1" dirty="0"/>
              <a:t>A statement in the switch block can be labeled with one or more </a:t>
            </a:r>
            <a:r>
              <a:rPr lang="en-CA" i="1" u="sng" dirty="0"/>
              <a:t>case</a:t>
            </a:r>
            <a:r>
              <a:rPr lang="en-CA" i="1" dirty="0"/>
              <a:t> or </a:t>
            </a:r>
            <a:r>
              <a:rPr lang="en-CA" i="1" u="sng" dirty="0"/>
              <a:t>default </a:t>
            </a:r>
            <a:r>
              <a:rPr lang="en-CA" i="1" dirty="0"/>
              <a:t>labels. </a:t>
            </a:r>
          </a:p>
          <a:p>
            <a:r>
              <a:rPr lang="en-CA" i="1" dirty="0"/>
              <a:t>The switch statement evaluates its expression, then executes all statements that follow the matching case label.</a:t>
            </a:r>
          </a:p>
        </p:txBody>
      </p:sp>
    </p:spTree>
    <p:extLst>
      <p:ext uri="{BB962C8B-B14F-4D97-AF65-F5344CB8AC3E}">
        <p14:creationId xmlns:p14="http://schemas.microsoft.com/office/powerpoint/2010/main" val="3443600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The switch Statement (cont’d)</a:t>
            </a:r>
          </a:p>
        </p:txBody>
      </p:sp>
      <p:sp>
        <p:nvSpPr>
          <p:cNvPr id="3" name="Content Placeholder 2"/>
          <p:cNvSpPr>
            <a:spLocks noGrp="1"/>
          </p:cNvSpPr>
          <p:nvPr>
            <p:ph idx="1"/>
          </p:nvPr>
        </p:nvSpPr>
        <p:spPr/>
        <p:txBody>
          <a:bodyPr>
            <a:normAutofit fontScale="92500" lnSpcReduction="10000"/>
          </a:bodyPr>
          <a:lstStyle/>
          <a:p>
            <a:r>
              <a:rPr lang="en-CA" i="1" dirty="0"/>
              <a:t>Deciding whether to use if-then-else statements or a switch statement is based on readability and the expression that the statement is testing. </a:t>
            </a:r>
            <a:r>
              <a:rPr lang="en-CA" i="1" baseline="30000" dirty="0"/>
              <a:t>7</a:t>
            </a:r>
            <a:endParaRPr lang="en-CA" i="1" dirty="0"/>
          </a:p>
          <a:p>
            <a:pPr lvl="1"/>
            <a:r>
              <a:rPr lang="en-CA" i="1" dirty="0"/>
              <a:t>An if-then-else statement can test expressions based on ranges of values or conditions, whereas a switch statement tests expressions based only on a single integer, enumerated value, or String object.</a:t>
            </a:r>
          </a:p>
          <a:p>
            <a:r>
              <a:rPr lang="en-CA" i="1" dirty="0"/>
              <a:t>Another point of interest is the break statement. Each break statement terminates the enclosing switch statement. Control flow continues with the first statement following the switch block. </a:t>
            </a:r>
            <a:r>
              <a:rPr lang="en-CA" i="1" baseline="30000" dirty="0"/>
              <a:t>7</a:t>
            </a:r>
            <a:endParaRPr lang="en-CA" i="1" dirty="0"/>
          </a:p>
          <a:p>
            <a:r>
              <a:rPr lang="en-CA" i="1" dirty="0"/>
              <a:t>The break statements are necessary because without them, statements in switch blocks fall through: </a:t>
            </a:r>
            <a:r>
              <a:rPr lang="en-CA" i="1" baseline="30000" dirty="0"/>
              <a:t> 7</a:t>
            </a:r>
            <a:endParaRPr lang="en-CA" i="1" dirty="0"/>
          </a:p>
          <a:p>
            <a:pPr lvl="1"/>
            <a:r>
              <a:rPr lang="en-CA" i="1" dirty="0"/>
              <a:t>All statements after the matching case label are executed in sequence, regardless of the expression of subsequent case labels, until a break statement is encountered.</a:t>
            </a:r>
          </a:p>
        </p:txBody>
      </p:sp>
    </p:spTree>
    <p:extLst>
      <p:ext uri="{BB962C8B-B14F-4D97-AF65-F5344CB8AC3E}">
        <p14:creationId xmlns:p14="http://schemas.microsoft.com/office/powerpoint/2010/main" val="3659724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References</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CA" dirty="0"/>
              <a:t>Java Illuminated</a:t>
            </a:r>
          </a:p>
          <a:p>
            <a:pPr marL="514350" indent="-514350">
              <a:buFont typeface="+mj-lt"/>
              <a:buAutoNum type="arabicPeriod"/>
            </a:pPr>
            <a:r>
              <a:rPr lang="en-CA" dirty="0">
                <a:hlinkClick r:id="rId2"/>
              </a:rPr>
              <a:t>w3schools.com</a:t>
            </a:r>
            <a:endParaRPr lang="en-CA" dirty="0"/>
          </a:p>
          <a:p>
            <a:pPr marL="514350" indent="-514350">
              <a:buFont typeface="+mj-lt"/>
              <a:buAutoNum type="arabicPeriod"/>
            </a:pPr>
            <a:r>
              <a:rPr lang="en-CA" dirty="0">
                <a:hlinkClick r:id="rId3"/>
              </a:rPr>
              <a:t>Oracle Docs (Equality, Relational, and Conditional Operators)</a:t>
            </a:r>
            <a:endParaRPr lang="en-CA" dirty="0"/>
          </a:p>
          <a:p>
            <a:pPr marL="514350" indent="-514350">
              <a:buFont typeface="+mj-lt"/>
              <a:buAutoNum type="arabicPeriod"/>
            </a:pPr>
            <a:r>
              <a:rPr lang="en-CA" dirty="0">
                <a:hlinkClick r:id="rId4"/>
              </a:rPr>
              <a:t>Oracle Docs (Summary of Operators)</a:t>
            </a:r>
            <a:endParaRPr lang="en-CA" dirty="0"/>
          </a:p>
          <a:p>
            <a:pPr marL="514350" indent="-514350">
              <a:buFont typeface="+mj-lt"/>
              <a:buAutoNum type="arabicPeriod"/>
            </a:pPr>
            <a:r>
              <a:rPr lang="en-CA" dirty="0">
                <a:hlinkClick r:id="rId5"/>
              </a:rPr>
              <a:t>Oracle Docs (Control Flow Statements)</a:t>
            </a:r>
            <a:endParaRPr lang="en-CA" dirty="0"/>
          </a:p>
          <a:p>
            <a:pPr marL="514350" indent="-514350">
              <a:buFont typeface="+mj-lt"/>
              <a:buAutoNum type="arabicPeriod"/>
            </a:pPr>
            <a:r>
              <a:rPr lang="en-CA" dirty="0">
                <a:hlinkClick r:id="rId6"/>
              </a:rPr>
              <a:t>Oracle Docs (The if-then and if-then-else Statements)</a:t>
            </a:r>
            <a:endParaRPr lang="en-CA" dirty="0"/>
          </a:p>
          <a:p>
            <a:pPr marL="514350" indent="-514350">
              <a:buFont typeface="+mj-lt"/>
              <a:buAutoNum type="arabicPeriod"/>
            </a:pPr>
            <a:r>
              <a:rPr lang="en-CA" dirty="0">
                <a:hlinkClick r:id="rId7"/>
              </a:rPr>
              <a:t>Oracle Docs (The switch Statement)</a:t>
            </a:r>
            <a:endParaRPr lang="en-CA" dirty="0"/>
          </a:p>
          <a:p>
            <a:pPr marL="514350" indent="-514350">
              <a:buFont typeface="+mj-lt"/>
              <a:buAutoNum type="arabicPeriod"/>
            </a:pPr>
            <a:endParaRPr lang="en-CA" dirty="0"/>
          </a:p>
        </p:txBody>
      </p:sp>
    </p:spTree>
    <p:extLst>
      <p:ext uri="{BB962C8B-B14F-4D97-AF65-F5344CB8AC3E}">
        <p14:creationId xmlns:p14="http://schemas.microsoft.com/office/powerpoint/2010/main" val="2703462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514350" indent="-514350">
              <a:buFont typeface="+mj-lt"/>
              <a:buAutoNum type="arabicPeriod" startAt="8"/>
            </a:pPr>
            <a:r>
              <a:rPr lang="en-CA" dirty="0">
                <a:hlinkClick r:id="rId2"/>
              </a:rPr>
              <a:t>Oracle Docs (The while and do-while Statements)</a:t>
            </a:r>
            <a:endParaRPr lang="en-CA" dirty="0"/>
          </a:p>
          <a:p>
            <a:pPr marL="514350" indent="-514350">
              <a:buFont typeface="+mj-lt"/>
              <a:buAutoNum type="arabicPeriod" startAt="8"/>
            </a:pPr>
            <a:r>
              <a:rPr lang="en-CA" dirty="0">
                <a:hlinkClick r:id="rId3"/>
              </a:rPr>
              <a:t>Oracle Docs (The for Statement)</a:t>
            </a:r>
            <a:endParaRPr lang="en-CA" dirty="0"/>
          </a:p>
          <a:p>
            <a:pPr marL="514350" indent="-514350">
              <a:buFont typeface="+mj-lt"/>
              <a:buAutoNum type="arabicPeriod" startAt="8"/>
            </a:pPr>
            <a:r>
              <a:rPr lang="en-CA" dirty="0">
                <a:hlinkClick r:id="rId4"/>
              </a:rPr>
              <a:t>Oracle Docs (Branching Statements)</a:t>
            </a:r>
            <a:endParaRPr lang="en-CA" dirty="0"/>
          </a:p>
          <a:p>
            <a:pPr marL="514350" indent="-514350">
              <a:buFont typeface="+mj-lt"/>
              <a:buAutoNum type="arabicPeriod" startAt="8"/>
            </a:pPr>
            <a:endParaRPr lang="en-CA" dirty="0"/>
          </a:p>
        </p:txBody>
      </p:sp>
    </p:spTree>
    <p:extLst>
      <p:ext uri="{BB962C8B-B14F-4D97-AF65-F5344CB8AC3E}">
        <p14:creationId xmlns:p14="http://schemas.microsoft.com/office/powerpoint/2010/main" val="3335746282"/>
      </p:ext>
    </p:extLst>
  </p:cSld>
  <p:clrMapOvr>
    <a:masterClrMapping/>
  </p:clrMapOvr>
</p:sld>
</file>

<file path=ppt/theme/theme1.xml><?xml version="1.0" encoding="utf-8"?>
<a:theme xmlns:a="http://schemas.openxmlformats.org/drawingml/2006/main" name="Vani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er" id="{9243BF55-9D1D-468A-9E61-7654222D46AF}" vid="{0BB589B0-ADB4-4621-B913-29A945F93BE4}"/>
    </a:ext>
  </a:extLst>
</a:theme>
</file>

<file path=docProps/app.xml><?xml version="1.0" encoding="utf-8"?>
<Properties xmlns="http://schemas.openxmlformats.org/officeDocument/2006/extended-properties" xmlns:vt="http://schemas.openxmlformats.org/officeDocument/2006/docPropsVTypes">
  <Template>Vanier</Template>
  <TotalTime>215</TotalTime>
  <Words>561</Words>
  <Application>Microsoft Office PowerPoint</Application>
  <PresentationFormat>Widescreen</PresentationFormat>
  <Paragraphs>43</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Vanier</vt:lpstr>
      <vt:lpstr>Programming 1</vt:lpstr>
      <vt:lpstr>The Conditional Operators</vt:lpstr>
      <vt:lpstr>Conditional Operators 4</vt:lpstr>
      <vt:lpstr>Control Flow Statements</vt:lpstr>
      <vt:lpstr>The if-then Statement</vt:lpstr>
      <vt:lpstr>The switch Statement</vt:lpstr>
      <vt:lpstr>The switch Statement (cont’d)</vt:lpstr>
      <vt:lpstr>References</vt:lpstr>
      <vt:lpstr>PowerPoint Presentation</vt:lpstr>
    </vt:vector>
  </TitlesOfParts>
  <Company>CEGEP Vanier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Ronald Raphael</dc:creator>
  <cp:lastModifiedBy>Nneamaka Chrysa Adirika</cp:lastModifiedBy>
  <cp:revision>143</cp:revision>
  <dcterms:created xsi:type="dcterms:W3CDTF">2019-06-13T17:37:23Z</dcterms:created>
  <dcterms:modified xsi:type="dcterms:W3CDTF">2024-09-07T23:23:33Z</dcterms:modified>
</cp:coreProperties>
</file>