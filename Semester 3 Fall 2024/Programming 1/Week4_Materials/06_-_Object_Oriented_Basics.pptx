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9" r:id="rId4"/>
    <p:sldId id="272" r:id="rId5"/>
    <p:sldId id="270" r:id="rId6"/>
    <p:sldId id="271" r:id="rId7"/>
    <p:sldId id="273" r:id="rId8"/>
    <p:sldId id="274" r:id="rId9"/>
    <p:sldId id="275" r:id="rId10"/>
    <p:sldId id="276" r:id="rId11"/>
    <p:sldId id="277" r:id="rId12"/>
    <p:sldId id="278" r:id="rId13"/>
    <p:sldId id="279" r:id="rId14"/>
    <p:sldId id="281" r:id="rId15"/>
    <p:sldId id="260" r:id="rId16"/>
    <p:sldId id="261" r:id="rId17"/>
    <p:sldId id="262" r:id="rId18"/>
    <p:sldId id="268" r:id="rId19"/>
    <p:sldId id="264" r:id="rId20"/>
    <p:sldId id="265" r:id="rId21"/>
    <p:sldId id="25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8911F30E-F811-4B0A-A50C-B072DD303825}">
          <p14:sldIdLst>
            <p14:sldId id="256"/>
          </p14:sldIdLst>
        </p14:section>
        <p14:section name="Object Oriented Basics" id="{390D2D94-9E18-4058-B39D-F15F073EE03D}">
          <p14:sldIdLst>
            <p14:sldId id="258"/>
            <p14:sldId id="259"/>
            <p14:sldId id="272"/>
          </p14:sldIdLst>
        </p14:section>
        <p14:section name="Instance Variables and Methods" id="{650E82FF-4B49-47D3-A9F8-0CB724BC15A6}">
          <p14:sldIdLst>
            <p14:sldId id="270"/>
            <p14:sldId id="271"/>
          </p14:sldIdLst>
        </p14:section>
        <p14:section name="Understanding Class Members" id="{2FEE62C7-F7C2-4755-95F7-72F7B0118A7D}">
          <p14:sldIdLst>
            <p14:sldId id="273"/>
            <p14:sldId id="274"/>
            <p14:sldId id="275"/>
            <p14:sldId id="276"/>
            <p14:sldId id="277"/>
            <p14:sldId id="278"/>
            <p14:sldId id="279"/>
            <p14:sldId id="281"/>
          </p14:sldIdLst>
        </p14:section>
        <p14:section name="Object Oriented Basics (2)" id="{55913260-C2C0-4696-B346-AEFFD2AE837C}">
          <p14:sldIdLst>
            <p14:sldId id="260"/>
            <p14:sldId id="261"/>
            <p14:sldId id="262"/>
            <p14:sldId id="268"/>
            <p14:sldId id="264"/>
            <p14:sldId id="265"/>
          </p14:sldIdLst>
        </p14:section>
        <p14:section name="References" id="{7A1B7B76-CE42-4F61-AF47-D87823311B72}">
          <p14:sldIdLst>
            <p14:sldId id="257"/>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nald Raphael" initials="RR" lastIdx="1" clrIdx="0">
    <p:extLst>
      <p:ext uri="{19B8F6BF-5375-455C-9EA6-DF929625EA0E}">
        <p15:presenceInfo xmlns:p15="http://schemas.microsoft.com/office/powerpoint/2012/main" userId="S-1-5-21-916696058-2672773846-924747076-9911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33383"/>
            <a:ext cx="9144000" cy="2076579"/>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6F5DA88-BE35-46EA-8123-B1EAF6CED2DD}" type="datetimeFigureOut">
              <a:rPr lang="en-CA" smtClean="0"/>
              <a:t>2024-09-07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9CAD20B-34C5-4B42-868D-ADD6B3C4A899}" type="slidenum">
              <a:rPr lang="en-CA" smtClean="0"/>
              <a:t>‹#›</a:t>
            </a:fld>
            <a:endParaRPr lang="en-CA"/>
          </a:p>
        </p:txBody>
      </p:sp>
    </p:spTree>
    <p:extLst>
      <p:ext uri="{BB962C8B-B14F-4D97-AF65-F5344CB8AC3E}">
        <p14:creationId xmlns:p14="http://schemas.microsoft.com/office/powerpoint/2010/main" val="3663466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6F5DA88-BE35-46EA-8123-B1EAF6CED2DD}" type="datetimeFigureOut">
              <a:rPr lang="en-CA" smtClean="0"/>
              <a:t>2024-09-07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9CAD20B-34C5-4B42-868D-ADD6B3C4A899}" type="slidenum">
              <a:rPr lang="en-CA" smtClean="0"/>
              <a:t>‹#›</a:t>
            </a:fld>
            <a:endParaRPr lang="en-CA"/>
          </a:p>
        </p:txBody>
      </p:sp>
    </p:spTree>
    <p:extLst>
      <p:ext uri="{BB962C8B-B14F-4D97-AF65-F5344CB8AC3E}">
        <p14:creationId xmlns:p14="http://schemas.microsoft.com/office/powerpoint/2010/main" val="3872687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6F5DA88-BE35-46EA-8123-B1EAF6CED2DD}" type="datetimeFigureOut">
              <a:rPr lang="en-CA" smtClean="0"/>
              <a:t>2024-09-07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9CAD20B-34C5-4B42-868D-ADD6B3C4A899}" type="slidenum">
              <a:rPr lang="en-CA" smtClean="0"/>
              <a:t>‹#›</a:t>
            </a:fld>
            <a:endParaRPr lang="en-CA"/>
          </a:p>
        </p:txBody>
      </p:sp>
    </p:spTree>
    <p:extLst>
      <p:ext uri="{BB962C8B-B14F-4D97-AF65-F5344CB8AC3E}">
        <p14:creationId xmlns:p14="http://schemas.microsoft.com/office/powerpoint/2010/main" val="3892024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6F5DA88-BE35-46EA-8123-B1EAF6CED2DD}" type="datetimeFigureOut">
              <a:rPr lang="en-CA" smtClean="0"/>
              <a:t>2024-09-07</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9CAD20B-34C5-4B42-868D-ADD6B3C4A899}" type="slidenum">
              <a:rPr lang="en-CA" smtClean="0"/>
              <a:t>‹#›</a:t>
            </a:fld>
            <a:endParaRPr lang="en-CA"/>
          </a:p>
        </p:txBody>
      </p:sp>
    </p:spTree>
    <p:extLst>
      <p:ext uri="{BB962C8B-B14F-4D97-AF65-F5344CB8AC3E}">
        <p14:creationId xmlns:p14="http://schemas.microsoft.com/office/powerpoint/2010/main" val="28046301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8114742"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6F5DA88-BE35-46EA-8123-B1EAF6CED2DD}" type="datetimeFigureOut">
              <a:rPr lang="en-CA" smtClean="0"/>
              <a:t>2024-09-07</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99CAD20B-34C5-4B42-868D-ADD6B3C4A899}" type="slidenum">
              <a:rPr lang="en-CA" smtClean="0"/>
              <a:t>‹#›</a:t>
            </a:fld>
            <a:endParaRPr lang="en-CA"/>
          </a:p>
        </p:txBody>
      </p:sp>
    </p:spTree>
    <p:extLst>
      <p:ext uri="{BB962C8B-B14F-4D97-AF65-F5344CB8AC3E}">
        <p14:creationId xmlns:p14="http://schemas.microsoft.com/office/powerpoint/2010/main" val="35078917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6F5DA88-BE35-46EA-8123-B1EAF6CED2DD}" type="datetimeFigureOut">
              <a:rPr lang="en-CA" smtClean="0"/>
              <a:t>2024-09-07</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99CAD20B-34C5-4B42-868D-ADD6B3C4A899}" type="slidenum">
              <a:rPr lang="en-CA" smtClean="0"/>
              <a:t>‹#›</a:t>
            </a:fld>
            <a:endParaRPr lang="en-CA"/>
          </a:p>
        </p:txBody>
      </p:sp>
    </p:spTree>
    <p:extLst>
      <p:ext uri="{BB962C8B-B14F-4D97-AF65-F5344CB8AC3E}">
        <p14:creationId xmlns:p14="http://schemas.microsoft.com/office/powerpoint/2010/main" val="5452028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F5DA88-BE35-46EA-8123-B1EAF6CED2DD}" type="datetimeFigureOut">
              <a:rPr lang="en-CA" smtClean="0"/>
              <a:t>2024-09-07</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99CAD20B-34C5-4B42-868D-ADD6B3C4A899}" type="slidenum">
              <a:rPr lang="en-CA" smtClean="0"/>
              <a:t>‹#›</a:t>
            </a:fld>
            <a:endParaRPr lang="en-CA"/>
          </a:p>
        </p:txBody>
      </p:sp>
    </p:spTree>
    <p:extLst>
      <p:ext uri="{BB962C8B-B14F-4D97-AF65-F5344CB8AC3E}">
        <p14:creationId xmlns:p14="http://schemas.microsoft.com/office/powerpoint/2010/main" val="980027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1482811"/>
            <a:ext cx="6172200" cy="437823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6F5DA88-BE35-46EA-8123-B1EAF6CED2DD}" type="datetimeFigureOut">
              <a:rPr lang="en-CA" smtClean="0"/>
              <a:t>2024-09-07</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9CAD20B-34C5-4B42-868D-ADD6B3C4A899}" type="slidenum">
              <a:rPr lang="en-CA" smtClean="0"/>
              <a:t>‹#›</a:t>
            </a:fld>
            <a:endParaRPr lang="en-CA"/>
          </a:p>
        </p:txBody>
      </p:sp>
    </p:spTree>
    <p:extLst>
      <p:ext uri="{BB962C8B-B14F-4D97-AF65-F5344CB8AC3E}">
        <p14:creationId xmlns:p14="http://schemas.microsoft.com/office/powerpoint/2010/main" val="3428931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1491049"/>
            <a:ext cx="6172200" cy="437000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6F5DA88-BE35-46EA-8123-B1EAF6CED2DD}" type="datetimeFigureOut">
              <a:rPr lang="en-CA" smtClean="0"/>
              <a:t>2024-09-07</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9CAD20B-34C5-4B42-868D-ADD6B3C4A899}" type="slidenum">
              <a:rPr lang="en-CA" smtClean="0"/>
              <a:t>‹#›</a:t>
            </a:fld>
            <a:endParaRPr lang="en-CA"/>
          </a:p>
        </p:txBody>
      </p:sp>
    </p:spTree>
    <p:extLst>
      <p:ext uri="{BB962C8B-B14F-4D97-AF65-F5344CB8AC3E}">
        <p14:creationId xmlns:p14="http://schemas.microsoft.com/office/powerpoint/2010/main" val="22614334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6F5DA88-BE35-46EA-8123-B1EAF6CED2DD}" type="datetimeFigureOut">
              <a:rPr lang="en-CA" smtClean="0"/>
              <a:t>2024-09-07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9CAD20B-34C5-4B42-868D-ADD6B3C4A899}" type="slidenum">
              <a:rPr lang="en-CA" smtClean="0"/>
              <a:t>‹#›</a:t>
            </a:fld>
            <a:endParaRPr lang="en-CA"/>
          </a:p>
        </p:txBody>
      </p:sp>
    </p:spTree>
    <p:extLst>
      <p:ext uri="{BB962C8B-B14F-4D97-AF65-F5344CB8AC3E}">
        <p14:creationId xmlns:p14="http://schemas.microsoft.com/office/powerpoint/2010/main" val="1917813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1482811"/>
            <a:ext cx="2628900" cy="469415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6F5DA88-BE35-46EA-8123-B1EAF6CED2DD}" type="datetimeFigureOut">
              <a:rPr lang="en-CA" smtClean="0"/>
              <a:t>2024-09-07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9CAD20B-34C5-4B42-868D-ADD6B3C4A899}" type="slidenum">
              <a:rPr lang="en-CA" smtClean="0"/>
              <a:t>‹#›</a:t>
            </a:fld>
            <a:endParaRPr lang="en-CA"/>
          </a:p>
        </p:txBody>
      </p:sp>
    </p:spTree>
    <p:extLst>
      <p:ext uri="{BB962C8B-B14F-4D97-AF65-F5344CB8AC3E}">
        <p14:creationId xmlns:p14="http://schemas.microsoft.com/office/powerpoint/2010/main" val="2586980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1" y="365125"/>
            <a:ext cx="8058664"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F5DA88-BE35-46EA-8123-B1EAF6CED2DD}" type="datetimeFigureOut">
              <a:rPr lang="en-CA" smtClean="0"/>
              <a:t>2024-09-07</a:t>
            </a:fld>
            <a:endParaRPr lang="en-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CAD20B-34C5-4B42-868D-ADD6B3C4A899}" type="slidenum">
              <a:rPr lang="en-CA" smtClean="0"/>
              <a:t>‹#›</a:t>
            </a:fld>
            <a:endParaRPr lang="en-CA"/>
          </a:p>
        </p:txBody>
      </p:sp>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020175" y="638608"/>
            <a:ext cx="2333625" cy="707159"/>
          </a:xfrm>
          <a:prstGeom prst="rect">
            <a:avLst/>
          </a:prstGeom>
        </p:spPr>
      </p:pic>
    </p:spTree>
    <p:extLst>
      <p:ext uri="{BB962C8B-B14F-4D97-AF65-F5344CB8AC3E}">
        <p14:creationId xmlns:p14="http://schemas.microsoft.com/office/powerpoint/2010/main" val="14751623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docs.oracle.com/javase/tutorial/java/concepts/index.html" TargetMode="External"/><Relationship Id="rId2" Type="http://schemas.openxmlformats.org/officeDocument/2006/relationships/hyperlink" Target="https://www.w3schools.com/" TargetMode="External"/><Relationship Id="rId1" Type="http://schemas.openxmlformats.org/officeDocument/2006/relationships/slideLayout" Target="../slideLayouts/slideLayout2.xml"/><Relationship Id="rId6" Type="http://schemas.openxmlformats.org/officeDocument/2006/relationships/hyperlink" Target="https://docs.oracle.com/javase/tutorial/java/javaOO/constructors.html" TargetMode="External"/><Relationship Id="rId5" Type="http://schemas.openxmlformats.org/officeDocument/2006/relationships/hyperlink" Target="https://www.w3resource.com/java-tutorial/java-class-methods-instance-variables.php" TargetMode="External"/><Relationship Id="rId4" Type="http://schemas.openxmlformats.org/officeDocument/2006/relationships/hyperlink" Target="https://docs.oracle.com/javase/tutorial/java/javaOO/classvars.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CA" dirty="0"/>
              <a:t>Programming 1</a:t>
            </a:r>
          </a:p>
        </p:txBody>
      </p:sp>
      <p:sp>
        <p:nvSpPr>
          <p:cNvPr id="3" name="Subtitle 2"/>
          <p:cNvSpPr>
            <a:spLocks noGrp="1"/>
          </p:cNvSpPr>
          <p:nvPr>
            <p:ph type="subTitle" idx="1"/>
          </p:nvPr>
        </p:nvSpPr>
        <p:spPr/>
        <p:txBody>
          <a:bodyPr/>
          <a:lstStyle/>
          <a:p>
            <a:r>
              <a:rPr lang="en-CA" dirty="0"/>
              <a:t>Object Oriented Basics</a:t>
            </a:r>
          </a:p>
        </p:txBody>
      </p:sp>
    </p:spTree>
    <p:extLst>
      <p:ext uri="{BB962C8B-B14F-4D97-AF65-F5344CB8AC3E}">
        <p14:creationId xmlns:p14="http://schemas.microsoft.com/office/powerpoint/2010/main" val="717180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What Is an Object?</a:t>
            </a:r>
          </a:p>
        </p:txBody>
      </p:sp>
      <p:sp>
        <p:nvSpPr>
          <p:cNvPr id="3" name="Content Placeholder 2"/>
          <p:cNvSpPr>
            <a:spLocks noGrp="1"/>
          </p:cNvSpPr>
          <p:nvPr>
            <p:ph idx="1"/>
          </p:nvPr>
        </p:nvSpPr>
        <p:spPr/>
        <p:txBody>
          <a:bodyPr/>
          <a:lstStyle/>
          <a:p>
            <a:r>
              <a:rPr lang="en-CA" i="1" dirty="0"/>
              <a:t>An object is a software bundle of related state and behavior. </a:t>
            </a:r>
            <a:r>
              <a:rPr lang="en-CA" i="1" baseline="30000" dirty="0"/>
              <a:t>3</a:t>
            </a:r>
          </a:p>
          <a:p>
            <a:pPr lvl="1"/>
            <a:r>
              <a:rPr lang="en-CA" i="1" dirty="0"/>
              <a:t>Software objects are often used to model the real-world objects that you find in everyday life. </a:t>
            </a:r>
          </a:p>
          <a:p>
            <a:r>
              <a:rPr lang="en-CA" i="1" dirty="0"/>
              <a:t>Objects are key to understanding object-oriented technology. </a:t>
            </a:r>
            <a:r>
              <a:rPr lang="en-CA" i="1" baseline="30000" dirty="0"/>
              <a:t>3</a:t>
            </a:r>
            <a:endParaRPr lang="en-CA" i="1" dirty="0"/>
          </a:p>
          <a:p>
            <a:r>
              <a:rPr lang="en-CA" i="1" dirty="0"/>
              <a:t>Real-world objects share two characteristics: They all have state and behavior.  </a:t>
            </a:r>
            <a:r>
              <a:rPr lang="en-CA" i="1" baseline="30000" dirty="0"/>
              <a:t>3</a:t>
            </a:r>
            <a:endParaRPr lang="en-CA" i="1" dirty="0"/>
          </a:p>
          <a:p>
            <a:pPr lvl="1"/>
            <a:r>
              <a:rPr lang="en-CA" i="1" dirty="0"/>
              <a:t>Identifying the state and behavior for real-world objects is a great way to begin thinking in terms of object-oriented programming.</a:t>
            </a:r>
          </a:p>
        </p:txBody>
      </p:sp>
    </p:spTree>
    <p:extLst>
      <p:ext uri="{BB962C8B-B14F-4D97-AF65-F5344CB8AC3E}">
        <p14:creationId xmlns:p14="http://schemas.microsoft.com/office/powerpoint/2010/main" val="29296158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What Is a Class?</a:t>
            </a:r>
          </a:p>
        </p:txBody>
      </p:sp>
      <p:sp>
        <p:nvSpPr>
          <p:cNvPr id="3" name="Content Placeholder 2"/>
          <p:cNvSpPr>
            <a:spLocks noGrp="1"/>
          </p:cNvSpPr>
          <p:nvPr>
            <p:ph idx="1"/>
          </p:nvPr>
        </p:nvSpPr>
        <p:spPr/>
        <p:txBody>
          <a:bodyPr/>
          <a:lstStyle/>
          <a:p>
            <a:r>
              <a:rPr lang="en-CA" i="1" dirty="0"/>
              <a:t>A class is a blueprint or </a:t>
            </a:r>
            <a:r>
              <a:rPr lang="en-CA" b="1" i="1" dirty="0"/>
              <a:t>prototype</a:t>
            </a:r>
            <a:r>
              <a:rPr lang="en-CA" i="1" dirty="0"/>
              <a:t> from which objects are created. </a:t>
            </a:r>
            <a:r>
              <a:rPr lang="en-CA" i="1" baseline="30000" dirty="0"/>
              <a:t>3</a:t>
            </a:r>
          </a:p>
          <a:p>
            <a:pPr lvl="1"/>
            <a:r>
              <a:rPr lang="en-CA" i="1" dirty="0"/>
              <a:t>In the real world, you'll often find many individual objects all of the same kind. </a:t>
            </a:r>
          </a:p>
          <a:p>
            <a:pPr lvl="1"/>
            <a:r>
              <a:rPr lang="en-CA" i="1" dirty="0"/>
              <a:t>There may be thousands of other bicycles in existence, all of the same make and model. </a:t>
            </a:r>
          </a:p>
          <a:p>
            <a:pPr lvl="1"/>
            <a:r>
              <a:rPr lang="en-CA" i="1" dirty="0"/>
              <a:t>Each bicycle was built from the same set of blueprints and therefore contains the same components. </a:t>
            </a:r>
          </a:p>
          <a:p>
            <a:pPr lvl="1"/>
            <a:r>
              <a:rPr lang="en-CA" i="1" dirty="0"/>
              <a:t>In object-oriented terms, we say that your bicycle is an </a:t>
            </a:r>
            <a:r>
              <a:rPr lang="en-CA" b="1" i="1" dirty="0"/>
              <a:t>instance</a:t>
            </a:r>
            <a:r>
              <a:rPr lang="en-CA" i="1" dirty="0"/>
              <a:t> of the class of objects known as bicycles.</a:t>
            </a:r>
            <a:endParaRPr lang="en-CA" i="1" baseline="30000" dirty="0"/>
          </a:p>
        </p:txBody>
      </p:sp>
    </p:spTree>
    <p:extLst>
      <p:ext uri="{BB962C8B-B14F-4D97-AF65-F5344CB8AC3E}">
        <p14:creationId xmlns:p14="http://schemas.microsoft.com/office/powerpoint/2010/main" val="27738745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dirty="0"/>
              <a:t>Providing Constructors for Your Classes</a:t>
            </a:r>
          </a:p>
        </p:txBody>
      </p:sp>
      <p:sp>
        <p:nvSpPr>
          <p:cNvPr id="3" name="Content Placeholder 2"/>
          <p:cNvSpPr>
            <a:spLocks noGrp="1"/>
          </p:cNvSpPr>
          <p:nvPr>
            <p:ph idx="1"/>
          </p:nvPr>
        </p:nvSpPr>
        <p:spPr/>
        <p:txBody>
          <a:bodyPr/>
          <a:lstStyle/>
          <a:p>
            <a:r>
              <a:rPr lang="en-CA" i="1" dirty="0"/>
              <a:t>A class contains constructors that are invoked to create objects from the class blueprint.</a:t>
            </a:r>
            <a:r>
              <a:rPr lang="en-CA" i="1" baseline="30000" dirty="0"/>
              <a:t> 6</a:t>
            </a:r>
          </a:p>
          <a:p>
            <a:r>
              <a:rPr lang="en-CA" i="1" dirty="0"/>
              <a:t>Constructor declarations look like method declarations—except that they use the name of the class and have no return type.</a:t>
            </a:r>
            <a:r>
              <a:rPr lang="en-CA" i="1" baseline="30000" dirty="0"/>
              <a:t> 6</a:t>
            </a:r>
          </a:p>
          <a:p>
            <a:pPr lvl="1"/>
            <a:r>
              <a:rPr lang="en-CA" i="1" dirty="0"/>
              <a:t>You don't have to provide any constructors for your class, but you must be careful when doing this. </a:t>
            </a:r>
          </a:p>
          <a:p>
            <a:pPr lvl="1"/>
            <a:r>
              <a:rPr lang="en-CA" i="1" dirty="0"/>
              <a:t>The compiler automatically provides a no-argument, default constructor for any class without constructors.</a:t>
            </a:r>
          </a:p>
        </p:txBody>
      </p:sp>
    </p:spTree>
    <p:extLst>
      <p:ext uri="{BB962C8B-B14F-4D97-AF65-F5344CB8AC3E}">
        <p14:creationId xmlns:p14="http://schemas.microsoft.com/office/powerpoint/2010/main" val="4081954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Declaration of Instance Variables</a:t>
            </a:r>
          </a:p>
        </p:txBody>
      </p:sp>
      <p:sp>
        <p:nvSpPr>
          <p:cNvPr id="3" name="Content Placeholder 2"/>
          <p:cNvSpPr>
            <a:spLocks noGrp="1"/>
          </p:cNvSpPr>
          <p:nvPr>
            <p:ph idx="1"/>
          </p:nvPr>
        </p:nvSpPr>
        <p:spPr/>
        <p:txBody>
          <a:bodyPr/>
          <a:lstStyle/>
          <a:p>
            <a:r>
              <a:rPr lang="en-CA" dirty="0"/>
              <a:t>Variables defined within a class are called instance variables because each instance of the class (that is, each object of the class) contains its own copy of these variables.</a:t>
            </a:r>
            <a:r>
              <a:rPr lang="en-CA" baseline="30000" dirty="0"/>
              <a:t> 5</a:t>
            </a:r>
          </a:p>
          <a:p>
            <a:pPr lvl="1"/>
            <a:r>
              <a:rPr lang="en-CA" dirty="0"/>
              <a:t>Thus, the data for one object is separate and unique from the data for another.</a:t>
            </a:r>
          </a:p>
        </p:txBody>
      </p:sp>
    </p:spTree>
    <p:extLst>
      <p:ext uri="{BB962C8B-B14F-4D97-AF65-F5344CB8AC3E}">
        <p14:creationId xmlns:p14="http://schemas.microsoft.com/office/powerpoint/2010/main" val="3314720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Declaration of Methods</a:t>
            </a:r>
          </a:p>
        </p:txBody>
      </p:sp>
      <p:sp>
        <p:nvSpPr>
          <p:cNvPr id="3" name="Content Placeholder 2"/>
          <p:cNvSpPr>
            <a:spLocks noGrp="1"/>
          </p:cNvSpPr>
          <p:nvPr>
            <p:ph idx="1"/>
          </p:nvPr>
        </p:nvSpPr>
        <p:spPr/>
        <p:txBody>
          <a:bodyPr/>
          <a:lstStyle/>
          <a:p>
            <a:r>
              <a:rPr lang="en-CA" i="1" dirty="0"/>
              <a:t>A method is a program module that contains a series of statements that carry out a task. </a:t>
            </a:r>
            <a:r>
              <a:rPr lang="en-CA" i="1" baseline="30000" dirty="0"/>
              <a:t>5</a:t>
            </a:r>
            <a:endParaRPr lang="en-CA" i="1" dirty="0"/>
          </a:p>
          <a:p>
            <a:r>
              <a:rPr lang="en-CA" i="1" dirty="0"/>
              <a:t>To execute a method, you invoke or call it from another method; the calling method makes a method call, which invokes the called method.</a:t>
            </a:r>
            <a:r>
              <a:rPr lang="en-CA" i="1" baseline="30000" dirty="0"/>
              <a:t>5</a:t>
            </a:r>
            <a:endParaRPr lang="en-CA" i="1" dirty="0"/>
          </a:p>
          <a:p>
            <a:pPr lvl="1"/>
            <a:r>
              <a:rPr lang="en-CA" i="1" dirty="0"/>
              <a:t>Any class can contain an unlimited number of methods, and each method can be called an unlimited number of times. </a:t>
            </a:r>
          </a:p>
        </p:txBody>
      </p:sp>
    </p:spTree>
    <p:extLst>
      <p:ext uri="{BB962C8B-B14F-4D97-AF65-F5344CB8AC3E}">
        <p14:creationId xmlns:p14="http://schemas.microsoft.com/office/powerpoint/2010/main" val="15929034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Class Members</a:t>
            </a:r>
          </a:p>
        </p:txBody>
      </p:sp>
      <p:sp>
        <p:nvSpPr>
          <p:cNvPr id="3" name="Content Placeholder 2"/>
          <p:cNvSpPr>
            <a:spLocks noGrp="1"/>
          </p:cNvSpPr>
          <p:nvPr>
            <p:ph idx="1"/>
          </p:nvPr>
        </p:nvSpPr>
        <p:spPr/>
        <p:txBody>
          <a:bodyPr/>
          <a:lstStyle/>
          <a:p>
            <a:r>
              <a:rPr lang="en-CA" dirty="0"/>
              <a:t>In this section, we discuss the use of the static keyword to create fields and methods that belong to the class, rather than to an instance of the class.</a:t>
            </a:r>
            <a:endParaRPr lang="en-US" dirty="0"/>
          </a:p>
        </p:txBody>
      </p:sp>
    </p:spTree>
    <p:extLst>
      <p:ext uri="{BB962C8B-B14F-4D97-AF65-F5344CB8AC3E}">
        <p14:creationId xmlns:p14="http://schemas.microsoft.com/office/powerpoint/2010/main" val="2256515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Variables</a:t>
            </a:r>
          </a:p>
        </p:txBody>
      </p:sp>
      <p:sp>
        <p:nvSpPr>
          <p:cNvPr id="3" name="Content Placeholder 2"/>
          <p:cNvSpPr>
            <a:spLocks noGrp="1"/>
          </p:cNvSpPr>
          <p:nvPr>
            <p:ph idx="1"/>
          </p:nvPr>
        </p:nvSpPr>
        <p:spPr/>
        <p:txBody>
          <a:bodyPr>
            <a:normAutofit/>
          </a:bodyPr>
          <a:lstStyle/>
          <a:p>
            <a:r>
              <a:rPr lang="en-CA" dirty="0"/>
              <a:t>When a number of objects are created from the same class blueprint, they each have their own distinct copies of </a:t>
            </a:r>
            <a:r>
              <a:rPr lang="en-CA" i="1" dirty="0"/>
              <a:t>instance variables</a:t>
            </a:r>
            <a:r>
              <a:rPr lang="en-CA" dirty="0"/>
              <a:t>.</a:t>
            </a:r>
          </a:p>
          <a:p>
            <a:r>
              <a:rPr lang="en-CA" dirty="0"/>
              <a:t>Sometimes, you want to have variables that are common to all objects. </a:t>
            </a:r>
          </a:p>
          <a:p>
            <a:pPr lvl="1"/>
            <a:r>
              <a:rPr lang="en-CA" dirty="0"/>
              <a:t>This is accomplished with the static modifier. </a:t>
            </a:r>
          </a:p>
          <a:p>
            <a:r>
              <a:rPr lang="en-CA" dirty="0"/>
              <a:t>Fields that have the static modifier in their declaration are called static fields or class variables. </a:t>
            </a:r>
          </a:p>
          <a:p>
            <a:r>
              <a:rPr lang="en-CA" dirty="0"/>
              <a:t>They are associated with the class, rather than with any object. </a:t>
            </a:r>
            <a:endParaRPr lang="en-US" dirty="0"/>
          </a:p>
        </p:txBody>
      </p:sp>
    </p:spTree>
    <p:extLst>
      <p:ext uri="{BB962C8B-B14F-4D97-AF65-F5344CB8AC3E}">
        <p14:creationId xmlns:p14="http://schemas.microsoft.com/office/powerpoint/2010/main" val="32261293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Variables (cont’d)</a:t>
            </a:r>
          </a:p>
        </p:txBody>
      </p:sp>
      <p:sp>
        <p:nvSpPr>
          <p:cNvPr id="3" name="Content Placeholder 2"/>
          <p:cNvSpPr>
            <a:spLocks noGrp="1"/>
          </p:cNvSpPr>
          <p:nvPr>
            <p:ph idx="1"/>
          </p:nvPr>
        </p:nvSpPr>
        <p:spPr/>
        <p:txBody>
          <a:bodyPr/>
          <a:lstStyle/>
          <a:p>
            <a:r>
              <a:rPr lang="en-CA" dirty="0"/>
              <a:t>Every instance of the class shares a class variable, which is in one fixed location in memory. </a:t>
            </a:r>
          </a:p>
          <a:p>
            <a:r>
              <a:rPr lang="en-CA" dirty="0"/>
              <a:t>Any object can change the value of a class variable, but class variables can also be manipulated without creating an instance of the class.</a:t>
            </a:r>
            <a:endParaRPr lang="en-US" dirty="0"/>
          </a:p>
          <a:p>
            <a:endParaRPr lang="en-US" dirty="0"/>
          </a:p>
        </p:txBody>
      </p:sp>
    </p:spTree>
    <p:extLst>
      <p:ext uri="{BB962C8B-B14F-4D97-AF65-F5344CB8AC3E}">
        <p14:creationId xmlns:p14="http://schemas.microsoft.com/office/powerpoint/2010/main" val="16098344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Variables (cont’d)</a:t>
            </a:r>
          </a:p>
        </p:txBody>
      </p:sp>
      <p:sp>
        <p:nvSpPr>
          <p:cNvPr id="3" name="Content Placeholder 2"/>
          <p:cNvSpPr>
            <a:spLocks noGrp="1"/>
          </p:cNvSpPr>
          <p:nvPr>
            <p:ph idx="1"/>
          </p:nvPr>
        </p:nvSpPr>
        <p:spPr/>
        <p:txBody>
          <a:bodyPr>
            <a:normAutofit/>
          </a:bodyPr>
          <a:lstStyle/>
          <a:p>
            <a:r>
              <a:rPr lang="en-CA" dirty="0"/>
              <a:t>Class variables are referenced by the class name itself, as in</a:t>
            </a:r>
          </a:p>
          <a:p>
            <a:pPr marL="457200" lvl="1" indent="0">
              <a:buNone/>
            </a:pPr>
            <a:r>
              <a:rPr lang="en-CA" dirty="0" err="1"/>
              <a:t>Bicycle.numberOfBicycles</a:t>
            </a:r>
            <a:endParaRPr lang="en-CA" dirty="0"/>
          </a:p>
          <a:p>
            <a:r>
              <a:rPr lang="en-CA" dirty="0"/>
              <a:t>This makes it clear that they are class variables.</a:t>
            </a:r>
          </a:p>
          <a:p>
            <a:endParaRPr lang="en-CA" dirty="0"/>
          </a:p>
          <a:p>
            <a:r>
              <a:rPr lang="en-CA" dirty="0"/>
              <a:t>Note: You can also refer to static fields with an object reference like</a:t>
            </a:r>
          </a:p>
          <a:p>
            <a:pPr marL="457200" lvl="1" indent="0">
              <a:buNone/>
            </a:pPr>
            <a:r>
              <a:rPr lang="en-CA" dirty="0" err="1"/>
              <a:t>myBike.numberOfBicycles</a:t>
            </a:r>
            <a:endParaRPr lang="en-CA" dirty="0"/>
          </a:p>
          <a:p>
            <a:pPr marL="0" indent="0">
              <a:buNone/>
            </a:pPr>
            <a:r>
              <a:rPr lang="en-CA" dirty="0"/>
              <a:t>but this is discouraged because it does not make it clear that they are class variables.</a:t>
            </a:r>
            <a:endParaRPr lang="en-US" dirty="0"/>
          </a:p>
        </p:txBody>
      </p:sp>
    </p:spTree>
    <p:extLst>
      <p:ext uri="{BB962C8B-B14F-4D97-AF65-F5344CB8AC3E}">
        <p14:creationId xmlns:p14="http://schemas.microsoft.com/office/powerpoint/2010/main" val="4468932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Methods</a:t>
            </a:r>
          </a:p>
        </p:txBody>
      </p:sp>
      <p:sp>
        <p:nvSpPr>
          <p:cNvPr id="3" name="Content Placeholder 2"/>
          <p:cNvSpPr>
            <a:spLocks noGrp="1"/>
          </p:cNvSpPr>
          <p:nvPr>
            <p:ph idx="1"/>
          </p:nvPr>
        </p:nvSpPr>
        <p:spPr/>
        <p:txBody>
          <a:bodyPr/>
          <a:lstStyle/>
          <a:p>
            <a:r>
              <a:rPr lang="en-CA" dirty="0"/>
              <a:t>The Java programming language supports static methods as well as static variables. </a:t>
            </a:r>
          </a:p>
          <a:p>
            <a:r>
              <a:rPr lang="en-CA" dirty="0"/>
              <a:t>Static methods, which have the static modifier in their declarations, should be invoked with the class name, without the need for creating an instance of the class, as in</a:t>
            </a:r>
          </a:p>
          <a:p>
            <a:pPr marL="457200" lvl="1" indent="0">
              <a:buNone/>
            </a:pPr>
            <a:r>
              <a:rPr lang="en-CA" dirty="0" err="1"/>
              <a:t>ClassName.methodName</a:t>
            </a:r>
            <a:r>
              <a:rPr lang="en-CA" dirty="0"/>
              <a:t>(</a:t>
            </a:r>
            <a:r>
              <a:rPr lang="en-CA" dirty="0" err="1"/>
              <a:t>args</a:t>
            </a:r>
            <a:r>
              <a:rPr lang="en-CA" dirty="0"/>
              <a:t>)</a:t>
            </a:r>
            <a:endParaRPr lang="en-US" dirty="0"/>
          </a:p>
        </p:txBody>
      </p:sp>
    </p:spTree>
    <p:extLst>
      <p:ext uri="{BB962C8B-B14F-4D97-AF65-F5344CB8AC3E}">
        <p14:creationId xmlns:p14="http://schemas.microsoft.com/office/powerpoint/2010/main" val="30003046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Methods (cont’d)</a:t>
            </a:r>
          </a:p>
        </p:txBody>
      </p:sp>
      <p:sp>
        <p:nvSpPr>
          <p:cNvPr id="3" name="Content Placeholder 2"/>
          <p:cNvSpPr>
            <a:spLocks noGrp="1"/>
          </p:cNvSpPr>
          <p:nvPr>
            <p:ph idx="1"/>
          </p:nvPr>
        </p:nvSpPr>
        <p:spPr/>
        <p:txBody>
          <a:bodyPr>
            <a:normAutofit fontScale="92500" lnSpcReduction="20000"/>
          </a:bodyPr>
          <a:lstStyle/>
          <a:p>
            <a:r>
              <a:rPr lang="en-CA" dirty="0"/>
              <a:t>A common use for static methods is to access static fields. For example, we could add a static method to the Bicycle class to access the </a:t>
            </a:r>
            <a:r>
              <a:rPr lang="en-CA" dirty="0" err="1"/>
              <a:t>numberOfBicycles</a:t>
            </a:r>
            <a:r>
              <a:rPr lang="en-CA" dirty="0"/>
              <a:t> static field:</a:t>
            </a:r>
          </a:p>
          <a:p>
            <a:pPr marL="457200" lvl="1" indent="0">
              <a:buNone/>
            </a:pPr>
            <a:r>
              <a:rPr lang="en-CA" dirty="0"/>
              <a:t>public static </a:t>
            </a:r>
            <a:r>
              <a:rPr lang="en-CA" dirty="0" err="1"/>
              <a:t>int</a:t>
            </a:r>
            <a:r>
              <a:rPr lang="en-CA" dirty="0"/>
              <a:t> </a:t>
            </a:r>
            <a:r>
              <a:rPr lang="en-CA" dirty="0" err="1"/>
              <a:t>getNumberOfBicycles</a:t>
            </a:r>
            <a:r>
              <a:rPr lang="en-CA" dirty="0"/>
              <a:t>() {</a:t>
            </a:r>
          </a:p>
          <a:p>
            <a:pPr marL="457200" lvl="1" indent="0">
              <a:buNone/>
            </a:pPr>
            <a:r>
              <a:rPr lang="en-CA" dirty="0"/>
              <a:t>    return </a:t>
            </a:r>
            <a:r>
              <a:rPr lang="en-CA" dirty="0" err="1"/>
              <a:t>numberOfBicycles</a:t>
            </a:r>
            <a:r>
              <a:rPr lang="en-CA" dirty="0"/>
              <a:t>;</a:t>
            </a:r>
          </a:p>
          <a:p>
            <a:pPr marL="457200" lvl="1" indent="0">
              <a:buNone/>
            </a:pPr>
            <a:r>
              <a:rPr lang="en-CA" dirty="0"/>
              <a:t>}</a:t>
            </a:r>
          </a:p>
          <a:p>
            <a:r>
              <a:rPr lang="en-CA" dirty="0"/>
              <a:t>Not all combinations of instance and class variables and methods are allowed:</a:t>
            </a:r>
          </a:p>
          <a:p>
            <a:pPr lvl="1"/>
            <a:r>
              <a:rPr lang="en-CA" dirty="0"/>
              <a:t>Instance methods can access instance variables and instance methods directly.</a:t>
            </a:r>
          </a:p>
          <a:p>
            <a:pPr lvl="1"/>
            <a:r>
              <a:rPr lang="en-CA" dirty="0"/>
              <a:t>Instance methods can access class variables and class methods directly.</a:t>
            </a:r>
          </a:p>
          <a:p>
            <a:pPr lvl="1"/>
            <a:r>
              <a:rPr lang="en-CA" dirty="0"/>
              <a:t>Class methods can access class variables and class methods directly.</a:t>
            </a:r>
          </a:p>
          <a:p>
            <a:pPr lvl="1"/>
            <a:r>
              <a:rPr lang="en-CA" dirty="0"/>
              <a:t>Class methods </a:t>
            </a:r>
            <a:r>
              <a:rPr lang="en-CA" b="1" i="1" dirty="0"/>
              <a:t>cannot</a:t>
            </a:r>
            <a:r>
              <a:rPr lang="en-CA" dirty="0"/>
              <a:t> access instance variables or instance methods directly—they must use an object reference. Also, class methods cannot use the </a:t>
            </a:r>
            <a:r>
              <a:rPr lang="en-CA" i="1" dirty="0"/>
              <a:t>this</a:t>
            </a:r>
            <a:r>
              <a:rPr lang="en-CA" dirty="0"/>
              <a:t> keyword as there is no instance for </a:t>
            </a:r>
            <a:r>
              <a:rPr lang="en-CA" i="1" dirty="0"/>
              <a:t>this</a:t>
            </a:r>
            <a:r>
              <a:rPr lang="en-CA" dirty="0"/>
              <a:t> to refer to.</a:t>
            </a:r>
            <a:endParaRPr lang="en-US" dirty="0"/>
          </a:p>
        </p:txBody>
      </p:sp>
    </p:spTree>
    <p:extLst>
      <p:ext uri="{BB962C8B-B14F-4D97-AF65-F5344CB8AC3E}">
        <p14:creationId xmlns:p14="http://schemas.microsoft.com/office/powerpoint/2010/main" val="2293680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Constants</a:t>
            </a:r>
          </a:p>
        </p:txBody>
      </p:sp>
      <p:sp>
        <p:nvSpPr>
          <p:cNvPr id="3" name="Content Placeholder 2"/>
          <p:cNvSpPr>
            <a:spLocks noGrp="1"/>
          </p:cNvSpPr>
          <p:nvPr>
            <p:ph idx="1"/>
          </p:nvPr>
        </p:nvSpPr>
        <p:spPr/>
        <p:txBody>
          <a:bodyPr>
            <a:normAutofit/>
          </a:bodyPr>
          <a:lstStyle/>
          <a:p>
            <a:r>
              <a:rPr lang="en-CA" dirty="0"/>
              <a:t>The </a:t>
            </a:r>
            <a:r>
              <a:rPr lang="en-CA" i="1" dirty="0"/>
              <a:t>static</a:t>
            </a:r>
            <a:r>
              <a:rPr lang="en-CA" dirty="0"/>
              <a:t> modifier, in combination with the </a:t>
            </a:r>
            <a:r>
              <a:rPr lang="en-CA" i="1" dirty="0"/>
              <a:t>final</a:t>
            </a:r>
            <a:r>
              <a:rPr lang="en-CA" dirty="0"/>
              <a:t> modifier, is also used to define constants. </a:t>
            </a:r>
          </a:p>
          <a:p>
            <a:r>
              <a:rPr lang="en-CA" dirty="0"/>
              <a:t>The final modifier indicates that the value of this field cannot change.</a:t>
            </a:r>
          </a:p>
          <a:p>
            <a:r>
              <a:rPr lang="en-CA" dirty="0"/>
              <a:t>For example, the following variable declaration defines a constant named </a:t>
            </a:r>
            <a:r>
              <a:rPr lang="en-CA" i="1" dirty="0"/>
              <a:t>PI</a:t>
            </a:r>
            <a:r>
              <a:rPr lang="en-CA" dirty="0"/>
              <a:t>, whose value is an approximation of pi (the ratio of the circumference of a circle to its diameter):</a:t>
            </a:r>
          </a:p>
          <a:p>
            <a:pPr marL="457200" lvl="1" indent="0">
              <a:buNone/>
            </a:pPr>
            <a:r>
              <a:rPr lang="en-CA" dirty="0"/>
              <a:t>static final double PI = 3.141592653589793;</a:t>
            </a:r>
          </a:p>
        </p:txBody>
      </p:sp>
    </p:spTree>
    <p:extLst>
      <p:ext uri="{BB962C8B-B14F-4D97-AF65-F5344CB8AC3E}">
        <p14:creationId xmlns:p14="http://schemas.microsoft.com/office/powerpoint/2010/main" val="27247885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Constants</a:t>
            </a:r>
          </a:p>
        </p:txBody>
      </p:sp>
      <p:sp>
        <p:nvSpPr>
          <p:cNvPr id="3" name="Content Placeholder 2"/>
          <p:cNvSpPr>
            <a:spLocks noGrp="1"/>
          </p:cNvSpPr>
          <p:nvPr>
            <p:ph idx="1"/>
          </p:nvPr>
        </p:nvSpPr>
        <p:spPr/>
        <p:txBody>
          <a:bodyPr>
            <a:normAutofit/>
          </a:bodyPr>
          <a:lstStyle/>
          <a:p>
            <a:r>
              <a:rPr lang="en-CA" dirty="0"/>
              <a:t>Constants defined in this way cannot be reassigned, and it is a compile-time error if your program tries to do so. </a:t>
            </a:r>
          </a:p>
          <a:p>
            <a:r>
              <a:rPr lang="en-CA" dirty="0"/>
              <a:t>By convention, the names of constant values are spelled in uppercase letters. If the name is composed of more than one word, the words are separated by an underscore (_).</a:t>
            </a:r>
          </a:p>
          <a:p>
            <a:pPr lvl="1"/>
            <a:r>
              <a:rPr lang="en-CA" dirty="0"/>
              <a:t>Note: If a primitive type or a string is defined as a constant and the value is known at compile time, the compiler replaces the constant name everywhere in the code with its value. This is called a compile-time constant. </a:t>
            </a:r>
          </a:p>
          <a:p>
            <a:pPr lvl="1"/>
            <a:r>
              <a:rPr lang="en-CA" dirty="0"/>
              <a:t>If the value of the constant in the outside world changes (for example, if it is legislated that pi actually should be 3.975), you will need to recompile any classes that use this constant to get the current value.</a:t>
            </a:r>
            <a:endParaRPr lang="en-US" dirty="0"/>
          </a:p>
        </p:txBody>
      </p:sp>
    </p:spTree>
    <p:extLst>
      <p:ext uri="{BB962C8B-B14F-4D97-AF65-F5344CB8AC3E}">
        <p14:creationId xmlns:p14="http://schemas.microsoft.com/office/powerpoint/2010/main" val="2168402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What Is Inheritance?</a:t>
            </a:r>
          </a:p>
        </p:txBody>
      </p:sp>
      <p:sp>
        <p:nvSpPr>
          <p:cNvPr id="3" name="Content Placeholder 2"/>
          <p:cNvSpPr>
            <a:spLocks noGrp="1"/>
          </p:cNvSpPr>
          <p:nvPr>
            <p:ph idx="1"/>
          </p:nvPr>
        </p:nvSpPr>
        <p:spPr/>
        <p:txBody>
          <a:bodyPr/>
          <a:lstStyle/>
          <a:p>
            <a:r>
              <a:rPr lang="en-CA" i="1" dirty="0"/>
              <a:t>Inheritance provides a powerful and natural mechanism for organizing and structuring your software. </a:t>
            </a:r>
            <a:r>
              <a:rPr lang="en-CA" i="1" baseline="30000" dirty="0"/>
              <a:t>3</a:t>
            </a:r>
          </a:p>
          <a:p>
            <a:r>
              <a:rPr lang="en-CA" i="1" dirty="0"/>
              <a:t>Different kinds of objects often have a certain amount in common with each other. </a:t>
            </a:r>
            <a:r>
              <a:rPr lang="en-CA" i="1" baseline="30000" dirty="0"/>
              <a:t>3</a:t>
            </a:r>
          </a:p>
          <a:p>
            <a:pPr lvl="1"/>
            <a:r>
              <a:rPr lang="en-CA" i="1" dirty="0"/>
              <a:t>Mountain bikes, road bikes, and tandem bikes, for example, all share the characteristics of bicycles (current speed, current pedal cadence, current gear). Yet each also defines additional features that make them different:</a:t>
            </a:r>
          </a:p>
          <a:p>
            <a:pPr lvl="2"/>
            <a:r>
              <a:rPr lang="en-CA" sz="2400" i="1" dirty="0"/>
              <a:t>tandem bicycles have two seats and two sets of handlebars</a:t>
            </a:r>
          </a:p>
          <a:p>
            <a:pPr lvl="2"/>
            <a:r>
              <a:rPr lang="en-CA" sz="2400" i="1" dirty="0"/>
              <a:t>road bikes have drop handlebars</a:t>
            </a:r>
          </a:p>
          <a:p>
            <a:pPr lvl="2"/>
            <a:r>
              <a:rPr lang="en-CA" sz="2400" i="1" dirty="0"/>
              <a:t>some mountain bikes have an additional chain ring, giving them a lower gear ratio</a:t>
            </a:r>
          </a:p>
        </p:txBody>
      </p:sp>
    </p:spTree>
    <p:extLst>
      <p:ext uri="{BB962C8B-B14F-4D97-AF65-F5344CB8AC3E}">
        <p14:creationId xmlns:p14="http://schemas.microsoft.com/office/powerpoint/2010/main" val="1129401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What Is Inheritance? (cont’d)</a:t>
            </a:r>
          </a:p>
        </p:txBody>
      </p:sp>
      <p:sp>
        <p:nvSpPr>
          <p:cNvPr id="3" name="Content Placeholder 2"/>
          <p:cNvSpPr>
            <a:spLocks noGrp="1"/>
          </p:cNvSpPr>
          <p:nvPr>
            <p:ph idx="1"/>
          </p:nvPr>
        </p:nvSpPr>
        <p:spPr/>
        <p:txBody>
          <a:bodyPr/>
          <a:lstStyle/>
          <a:p>
            <a:r>
              <a:rPr lang="en-CA" i="1" dirty="0"/>
              <a:t>Object-oriented programming allows classes to inherit commonly used state and behavior from other classes. </a:t>
            </a:r>
            <a:r>
              <a:rPr lang="en-CA" i="1" baseline="30000" dirty="0"/>
              <a:t>3</a:t>
            </a:r>
            <a:endParaRPr lang="en-CA" i="1" dirty="0"/>
          </a:p>
          <a:p>
            <a:pPr lvl="1"/>
            <a:r>
              <a:rPr lang="en-CA" i="1" dirty="0"/>
              <a:t>In this example, Bicycle now becomes the superclass of </a:t>
            </a:r>
            <a:r>
              <a:rPr lang="en-CA" i="1" dirty="0" err="1"/>
              <a:t>MountainBike</a:t>
            </a:r>
            <a:r>
              <a:rPr lang="en-CA" i="1" dirty="0"/>
              <a:t>, </a:t>
            </a:r>
            <a:r>
              <a:rPr lang="en-CA" i="1" dirty="0" err="1"/>
              <a:t>RoadBike</a:t>
            </a:r>
            <a:r>
              <a:rPr lang="en-CA" i="1" dirty="0"/>
              <a:t>, and </a:t>
            </a:r>
            <a:r>
              <a:rPr lang="en-CA" i="1" dirty="0" err="1"/>
              <a:t>TandemBike</a:t>
            </a:r>
            <a:r>
              <a:rPr lang="en-CA" i="1" dirty="0"/>
              <a:t>. </a:t>
            </a:r>
          </a:p>
          <a:p>
            <a:pPr lvl="1"/>
            <a:r>
              <a:rPr lang="en-CA" i="1" dirty="0"/>
              <a:t>In the Java programming language, each class is allowed to have one direct superclass, and each superclass has the potential for an unlimited number of subclasses:</a:t>
            </a:r>
          </a:p>
        </p:txBody>
      </p:sp>
    </p:spTree>
    <p:extLst>
      <p:ext uri="{BB962C8B-B14F-4D97-AF65-F5344CB8AC3E}">
        <p14:creationId xmlns:p14="http://schemas.microsoft.com/office/powerpoint/2010/main" val="4551847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What Is Inheritance? (cont’d)</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96000" y="1851916"/>
            <a:ext cx="5400000" cy="4678075"/>
          </a:xfrm>
        </p:spPr>
      </p:pic>
    </p:spTree>
    <p:extLst>
      <p:ext uri="{BB962C8B-B14F-4D97-AF65-F5344CB8AC3E}">
        <p14:creationId xmlns:p14="http://schemas.microsoft.com/office/powerpoint/2010/main" val="32670196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b="1" dirty="0"/>
              <a:t>What Is an Interface?</a:t>
            </a:r>
            <a:endParaRPr lang="en-CA" dirty="0"/>
          </a:p>
        </p:txBody>
      </p:sp>
      <p:sp>
        <p:nvSpPr>
          <p:cNvPr id="3" name="Content Placeholder 2"/>
          <p:cNvSpPr>
            <a:spLocks noGrp="1"/>
          </p:cNvSpPr>
          <p:nvPr>
            <p:ph idx="1"/>
          </p:nvPr>
        </p:nvSpPr>
        <p:spPr/>
        <p:txBody>
          <a:bodyPr>
            <a:normAutofit lnSpcReduction="10000"/>
          </a:bodyPr>
          <a:lstStyle/>
          <a:p>
            <a:r>
              <a:rPr lang="en-CA" i="1" dirty="0"/>
              <a:t>An interface is a contract between a class and the outside world. </a:t>
            </a:r>
            <a:r>
              <a:rPr lang="en-CA" i="1" baseline="30000" dirty="0"/>
              <a:t>3</a:t>
            </a:r>
            <a:endParaRPr lang="en-CA" i="1" dirty="0"/>
          </a:p>
          <a:p>
            <a:r>
              <a:rPr lang="en-CA" i="1" dirty="0"/>
              <a:t>When a class implements an interface, it promises to provide the behavior published by that interface. </a:t>
            </a:r>
            <a:r>
              <a:rPr lang="en-CA" i="1" baseline="30000" dirty="0"/>
              <a:t>3</a:t>
            </a:r>
            <a:endParaRPr lang="en-CA" i="1" dirty="0"/>
          </a:p>
          <a:p>
            <a:r>
              <a:rPr lang="en-CA" i="1" dirty="0"/>
              <a:t>An interface is a group of related methods with empty bodies. </a:t>
            </a:r>
            <a:r>
              <a:rPr lang="en-CA" i="1" baseline="30000" dirty="0"/>
              <a:t>3</a:t>
            </a:r>
            <a:endParaRPr lang="en-CA" i="1" dirty="0"/>
          </a:p>
          <a:p>
            <a:pPr lvl="1"/>
            <a:r>
              <a:rPr lang="en-CA" i="1" dirty="0"/>
              <a:t>Implementing an interface allows a class to become more formal about the behavior it promises to provide. </a:t>
            </a:r>
          </a:p>
          <a:p>
            <a:pPr lvl="1"/>
            <a:r>
              <a:rPr lang="en-CA" i="1" dirty="0"/>
              <a:t>Interfaces form a contract between the class and the outside world, and this contract is enforced at build time by the compiler. </a:t>
            </a:r>
          </a:p>
          <a:p>
            <a:pPr lvl="1"/>
            <a:r>
              <a:rPr lang="en-CA" i="1" dirty="0"/>
              <a:t>If your class claims to implement an interface, all methods defined by that interface must appear in its source code before the class will successfully compile.</a:t>
            </a:r>
          </a:p>
        </p:txBody>
      </p:sp>
    </p:spTree>
    <p:extLst>
      <p:ext uri="{BB962C8B-B14F-4D97-AF65-F5344CB8AC3E}">
        <p14:creationId xmlns:p14="http://schemas.microsoft.com/office/powerpoint/2010/main" val="18060003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b="1" dirty="0"/>
              <a:t>What Is a Package?</a:t>
            </a:r>
            <a:endParaRPr lang="en-CA" dirty="0"/>
          </a:p>
        </p:txBody>
      </p:sp>
      <p:sp>
        <p:nvSpPr>
          <p:cNvPr id="3" name="Content Placeholder 2"/>
          <p:cNvSpPr>
            <a:spLocks noGrp="1"/>
          </p:cNvSpPr>
          <p:nvPr>
            <p:ph idx="1"/>
          </p:nvPr>
        </p:nvSpPr>
        <p:spPr/>
        <p:txBody>
          <a:bodyPr>
            <a:normAutofit/>
          </a:bodyPr>
          <a:lstStyle/>
          <a:p>
            <a:r>
              <a:rPr lang="en-CA" i="1" dirty="0"/>
              <a:t>A package is a namespace for organizing classes and interfaces in a logical manner. Placing your code into packages makes large software projects easier to manage. </a:t>
            </a:r>
            <a:r>
              <a:rPr lang="en-CA" i="1" baseline="30000" dirty="0"/>
              <a:t>3</a:t>
            </a:r>
          </a:p>
          <a:p>
            <a:r>
              <a:rPr lang="en-CA" i="1" dirty="0"/>
              <a:t>A package is a namespace that organizes a set of related classes and interfaces. </a:t>
            </a:r>
            <a:r>
              <a:rPr lang="en-CA" i="1" baseline="30000" dirty="0"/>
              <a:t>3</a:t>
            </a:r>
          </a:p>
          <a:p>
            <a:pPr lvl="1"/>
            <a:r>
              <a:rPr lang="en-CA" i="1" dirty="0"/>
              <a:t>Conceptually you can think of packages as being similar to different folders on your computer. </a:t>
            </a:r>
          </a:p>
          <a:p>
            <a:pPr lvl="1"/>
            <a:r>
              <a:rPr lang="en-CA" i="1" dirty="0"/>
              <a:t>Because software written in the Java programming language can be composed of hundreds or thousands of individual classes, it makes sense to keep things organized by placing related classes and interfaces into packages.</a:t>
            </a:r>
          </a:p>
        </p:txBody>
      </p:sp>
    </p:spTree>
    <p:extLst>
      <p:ext uri="{BB962C8B-B14F-4D97-AF65-F5344CB8AC3E}">
        <p14:creationId xmlns:p14="http://schemas.microsoft.com/office/powerpoint/2010/main" val="5585158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b="1" dirty="0"/>
              <a:t>What Is a Package? (cont’d)</a:t>
            </a:r>
            <a:endParaRPr lang="en-CA" dirty="0"/>
          </a:p>
        </p:txBody>
      </p:sp>
      <p:sp>
        <p:nvSpPr>
          <p:cNvPr id="3" name="Content Placeholder 2"/>
          <p:cNvSpPr>
            <a:spLocks noGrp="1"/>
          </p:cNvSpPr>
          <p:nvPr>
            <p:ph idx="1"/>
          </p:nvPr>
        </p:nvSpPr>
        <p:spPr/>
        <p:txBody>
          <a:bodyPr/>
          <a:lstStyle/>
          <a:p>
            <a:r>
              <a:rPr lang="en-CA" dirty="0"/>
              <a:t>The Java platform provides an enormous class library (a set of packages) suitable for use in your own applications. </a:t>
            </a:r>
          </a:p>
          <a:p>
            <a:r>
              <a:rPr lang="en-CA" dirty="0"/>
              <a:t>This library is known as the "Application Programming Interface", or "API" for short. </a:t>
            </a:r>
          </a:p>
          <a:p>
            <a:pPr lvl="1"/>
            <a:r>
              <a:rPr lang="en-CA" dirty="0"/>
              <a:t>Its packages represent the tasks most commonly associated with general-purpose programming.</a:t>
            </a:r>
          </a:p>
        </p:txBody>
      </p:sp>
    </p:spTree>
    <p:extLst>
      <p:ext uri="{BB962C8B-B14F-4D97-AF65-F5344CB8AC3E}">
        <p14:creationId xmlns:p14="http://schemas.microsoft.com/office/powerpoint/2010/main" val="22242556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References</a:t>
            </a:r>
          </a:p>
        </p:txBody>
      </p:sp>
      <p:sp>
        <p:nvSpPr>
          <p:cNvPr id="3" name="Content Placeholder 2"/>
          <p:cNvSpPr>
            <a:spLocks noGrp="1"/>
          </p:cNvSpPr>
          <p:nvPr>
            <p:ph idx="1"/>
          </p:nvPr>
        </p:nvSpPr>
        <p:spPr/>
        <p:txBody>
          <a:bodyPr/>
          <a:lstStyle/>
          <a:p>
            <a:pPr marL="514350" indent="-514350">
              <a:buFont typeface="+mj-lt"/>
              <a:buAutoNum type="arabicPeriod"/>
            </a:pPr>
            <a:r>
              <a:rPr lang="en-CA" dirty="0"/>
              <a:t>Java Illuminated</a:t>
            </a:r>
          </a:p>
          <a:p>
            <a:pPr marL="514350" indent="-514350">
              <a:buFont typeface="+mj-lt"/>
              <a:buAutoNum type="arabicPeriod"/>
            </a:pPr>
            <a:r>
              <a:rPr lang="en-CA" dirty="0">
                <a:hlinkClick r:id="rId2"/>
              </a:rPr>
              <a:t>w3schools.com</a:t>
            </a:r>
            <a:endParaRPr lang="en-CA" dirty="0"/>
          </a:p>
          <a:p>
            <a:pPr marL="514350" indent="-514350">
              <a:buFont typeface="+mj-lt"/>
              <a:buAutoNum type="arabicPeriod"/>
            </a:pPr>
            <a:r>
              <a:rPr lang="en-CA" dirty="0">
                <a:hlinkClick r:id="rId3"/>
              </a:rPr>
              <a:t>Oracle Docs (Object-Oriented Programming Concepts)</a:t>
            </a:r>
            <a:endParaRPr lang="en-CA" dirty="0"/>
          </a:p>
          <a:p>
            <a:pPr marL="514350" indent="-514350">
              <a:buFont typeface="+mj-lt"/>
              <a:buAutoNum type="arabicPeriod"/>
            </a:pPr>
            <a:r>
              <a:rPr lang="en-CA" dirty="0">
                <a:hlinkClick r:id="rId4"/>
              </a:rPr>
              <a:t>Oracle Docs (Understanding Class Members)</a:t>
            </a:r>
            <a:endParaRPr lang="en-CA" dirty="0"/>
          </a:p>
          <a:p>
            <a:pPr marL="514350" indent="-514350">
              <a:buFont typeface="+mj-lt"/>
              <a:buAutoNum type="arabicPeriod"/>
            </a:pPr>
            <a:r>
              <a:rPr lang="en-CA" dirty="0">
                <a:hlinkClick r:id="rId5"/>
              </a:rPr>
              <a:t>w3resource.com</a:t>
            </a:r>
            <a:endParaRPr lang="en-CA" dirty="0"/>
          </a:p>
          <a:p>
            <a:pPr marL="514350" indent="-514350">
              <a:buFont typeface="+mj-lt"/>
              <a:buAutoNum type="arabicPeriod"/>
            </a:pPr>
            <a:r>
              <a:rPr lang="en-CA" dirty="0">
                <a:hlinkClick r:id="rId6"/>
              </a:rPr>
              <a:t>Oracle Docs (Providing Constructors for Your Classes)</a:t>
            </a:r>
            <a:endParaRPr lang="en-CA" dirty="0"/>
          </a:p>
          <a:p>
            <a:pPr marL="514350" indent="-514350">
              <a:buFont typeface="+mj-lt"/>
              <a:buAutoNum type="arabicPeriod"/>
            </a:pPr>
            <a:endParaRPr lang="en-CA" dirty="0"/>
          </a:p>
        </p:txBody>
      </p:sp>
    </p:spTree>
    <p:extLst>
      <p:ext uri="{BB962C8B-B14F-4D97-AF65-F5344CB8AC3E}">
        <p14:creationId xmlns:p14="http://schemas.microsoft.com/office/powerpoint/2010/main" val="2703462831"/>
      </p:ext>
    </p:extLst>
  </p:cSld>
  <p:clrMapOvr>
    <a:masterClrMapping/>
  </p:clrMapOvr>
</p:sld>
</file>

<file path=ppt/theme/theme1.xml><?xml version="1.0" encoding="utf-8"?>
<a:theme xmlns:a="http://schemas.openxmlformats.org/drawingml/2006/main" name="Vani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er" id="{9243BF55-9D1D-468A-9E61-7654222D46AF}" vid="{0BB589B0-ADB4-4621-B913-29A945F93BE4}"/>
    </a:ext>
  </a:extLst>
</a:theme>
</file>

<file path=docProps/app.xml><?xml version="1.0" encoding="utf-8"?>
<Properties xmlns="http://schemas.openxmlformats.org/officeDocument/2006/extended-properties" xmlns:vt="http://schemas.openxmlformats.org/officeDocument/2006/docPropsVTypes">
  <Template>Vanier</Template>
  <TotalTime>1902</TotalTime>
  <Words>1508</Words>
  <Application>Microsoft Office PowerPoint</Application>
  <PresentationFormat>Widescreen</PresentationFormat>
  <Paragraphs>104</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Vanier</vt:lpstr>
      <vt:lpstr>Programming 1</vt:lpstr>
      <vt:lpstr>What Is an Object?</vt:lpstr>
      <vt:lpstr>What Is a Class?</vt:lpstr>
      <vt:lpstr>Providing Constructors for Your Classes</vt:lpstr>
      <vt:lpstr>Declaration of Instance Variables</vt:lpstr>
      <vt:lpstr>Declaration of Methods</vt:lpstr>
      <vt:lpstr>Understanding Class Members</vt:lpstr>
      <vt:lpstr>Class Variables</vt:lpstr>
      <vt:lpstr>Class Variables (cont’d)</vt:lpstr>
      <vt:lpstr>Class Variables (cont’d)</vt:lpstr>
      <vt:lpstr>Class Methods</vt:lpstr>
      <vt:lpstr>Class Methods (cont’d)</vt:lpstr>
      <vt:lpstr>Constants</vt:lpstr>
      <vt:lpstr>Constants</vt:lpstr>
      <vt:lpstr>What Is Inheritance?</vt:lpstr>
      <vt:lpstr>What Is Inheritance? (cont’d)</vt:lpstr>
      <vt:lpstr>What Is Inheritance? (cont’d)</vt:lpstr>
      <vt:lpstr>What Is an Interface?</vt:lpstr>
      <vt:lpstr>What Is a Package?</vt:lpstr>
      <vt:lpstr>What Is a Package? (cont’d)</vt:lpstr>
      <vt:lpstr>References</vt:lpstr>
    </vt:vector>
  </TitlesOfParts>
  <Company>CEGEP Vanier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Ronald Raphael</dc:creator>
  <cp:lastModifiedBy>Ronald Raphael</cp:lastModifiedBy>
  <cp:revision>170</cp:revision>
  <dcterms:created xsi:type="dcterms:W3CDTF">2019-06-13T17:37:23Z</dcterms:created>
  <dcterms:modified xsi:type="dcterms:W3CDTF">2024-09-07T23:16:59Z</dcterms:modified>
</cp:coreProperties>
</file>