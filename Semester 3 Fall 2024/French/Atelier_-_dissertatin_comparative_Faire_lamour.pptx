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4"/>
    <p:sldId id="264" r:id="rId5"/>
    <p:sldId id="266" r:id="rId6"/>
    <p:sldId id="267" r:id="rId7"/>
    <p:sldId id="262" r:id="rId8"/>
    <p:sldId id="258" r:id="rId9"/>
    <p:sldId id="259" r:id="rId10"/>
    <p:sldId id="260" r:id="rId11"/>
    <p:sldId id="261" r:id="rId12"/>
    <p:sldId id="265" r:id="rId13"/>
    <p:sldId id="269" r:id="rId14"/>
    <p:sldId id="268"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29"/>
  </p:normalViewPr>
  <p:slideViewPr>
    <p:cSldViewPr snapToGrid="0" snapToObjects="1">
      <p:cViewPr varScale="1">
        <p:scale>
          <a:sx n="108" d="100"/>
          <a:sy n="108" d="100"/>
        </p:scale>
        <p:origin x="6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Cliquez et modifiez le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72DE5890-BDCA-7346-A5E1-98A9C83AD535}" type="datetimeFigureOut">
              <a:rPr lang="fr-FR" smtClean="0"/>
              <a:t>16/09/2024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51B739-0E96-C744-A8C5-F9329E92B7E3}" type="slidenum">
              <a:rPr lang="fr-FR" smtClean="0"/>
              <a:t>‹#›</a:t>
            </a:fld>
            <a:endParaRPr lang="fr-FR"/>
          </a:p>
        </p:txBody>
      </p:sp>
    </p:spTree>
    <p:extLst>
      <p:ext uri="{BB962C8B-B14F-4D97-AF65-F5344CB8AC3E}">
        <p14:creationId xmlns:p14="http://schemas.microsoft.com/office/powerpoint/2010/main" val="48365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2DE5890-BDCA-7346-A5E1-98A9C83AD535}" type="datetimeFigureOut">
              <a:rPr lang="fr-FR" smtClean="0"/>
              <a:t>16/09/2024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51B739-0E96-C744-A8C5-F9329E92B7E3}" type="slidenum">
              <a:rPr lang="fr-FR" smtClean="0"/>
              <a:t>‹#›</a:t>
            </a:fld>
            <a:endParaRPr lang="fr-FR"/>
          </a:p>
        </p:txBody>
      </p:sp>
    </p:spTree>
    <p:extLst>
      <p:ext uri="{BB962C8B-B14F-4D97-AF65-F5344CB8AC3E}">
        <p14:creationId xmlns:p14="http://schemas.microsoft.com/office/powerpoint/2010/main" val="612553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Cliquez et modifiez le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72DE5890-BDCA-7346-A5E1-98A9C83AD535}" type="datetimeFigureOut">
              <a:rPr lang="fr-FR" smtClean="0"/>
              <a:t>16/09/2024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51B739-0E96-C744-A8C5-F9329E92B7E3}" type="slidenum">
              <a:rPr lang="fr-FR" smtClean="0"/>
              <a:t>‹#›</a:t>
            </a:fld>
            <a:endParaRPr lang="fr-FR"/>
          </a:p>
        </p:txBody>
      </p:sp>
    </p:spTree>
    <p:extLst>
      <p:ext uri="{BB962C8B-B14F-4D97-AF65-F5344CB8AC3E}">
        <p14:creationId xmlns:p14="http://schemas.microsoft.com/office/powerpoint/2010/main" val="147297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2DE5890-BDCA-7346-A5E1-98A9C83AD535}" type="datetimeFigureOut">
              <a:rPr lang="fr-FR" smtClean="0"/>
              <a:t>16/09/2024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51B739-0E96-C744-A8C5-F9329E92B7E3}" type="slidenum">
              <a:rPr lang="fr-FR" smtClean="0"/>
              <a:t>‹#›</a:t>
            </a:fld>
            <a:endParaRPr lang="fr-FR"/>
          </a:p>
        </p:txBody>
      </p:sp>
    </p:spTree>
    <p:extLst>
      <p:ext uri="{BB962C8B-B14F-4D97-AF65-F5344CB8AC3E}">
        <p14:creationId xmlns:p14="http://schemas.microsoft.com/office/powerpoint/2010/main" val="1730055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Cliquez et modifiez le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2DE5890-BDCA-7346-A5E1-98A9C83AD535}" type="datetimeFigureOut">
              <a:rPr lang="fr-FR" smtClean="0"/>
              <a:t>16/09/2024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551B739-0E96-C744-A8C5-F9329E92B7E3}" type="slidenum">
              <a:rPr lang="fr-FR" smtClean="0"/>
              <a:t>‹#›</a:t>
            </a:fld>
            <a:endParaRPr lang="fr-FR"/>
          </a:p>
        </p:txBody>
      </p:sp>
    </p:spTree>
    <p:extLst>
      <p:ext uri="{BB962C8B-B14F-4D97-AF65-F5344CB8AC3E}">
        <p14:creationId xmlns:p14="http://schemas.microsoft.com/office/powerpoint/2010/main" val="116645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e la date 2"/>
          <p:cNvSpPr>
            <a:spLocks noGrp="1"/>
          </p:cNvSpPr>
          <p:nvPr>
            <p:ph type="dt" sz="half" idx="10"/>
          </p:nvPr>
        </p:nvSpPr>
        <p:spPr/>
        <p:txBody>
          <a:bodyPr/>
          <a:lstStyle/>
          <a:p>
            <a:fld id="{72DE5890-BDCA-7346-A5E1-98A9C83AD535}" type="datetimeFigureOut">
              <a:rPr lang="fr-FR" smtClean="0"/>
              <a:t>16/09/2024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551B739-0E96-C744-A8C5-F9329E92B7E3}" type="slidenum">
              <a:rPr lang="fr-FR" smtClean="0"/>
              <a:t>‹#›</a:t>
            </a:fld>
            <a:endParaRPr lang="fr-FR"/>
          </a:p>
        </p:txBody>
      </p:sp>
    </p:spTree>
    <p:extLst>
      <p:ext uri="{BB962C8B-B14F-4D97-AF65-F5344CB8AC3E}">
        <p14:creationId xmlns:p14="http://schemas.microsoft.com/office/powerpoint/2010/main" val="1949697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2DE5890-BDCA-7346-A5E1-98A9C83AD535}" type="datetimeFigureOut">
              <a:rPr lang="fr-FR" smtClean="0"/>
              <a:t>16/09/2024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551B739-0E96-C744-A8C5-F9329E92B7E3}" type="slidenum">
              <a:rPr lang="fr-FR" smtClean="0"/>
              <a:t>‹#›</a:t>
            </a:fld>
            <a:endParaRPr lang="fr-FR"/>
          </a:p>
        </p:txBody>
      </p:sp>
    </p:spTree>
    <p:extLst>
      <p:ext uri="{BB962C8B-B14F-4D97-AF65-F5344CB8AC3E}">
        <p14:creationId xmlns:p14="http://schemas.microsoft.com/office/powerpoint/2010/main" val="1193163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Cliquez et modifiez le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72DE5890-BDCA-7346-A5E1-98A9C83AD535}" type="datetimeFigureOut">
              <a:rPr lang="fr-FR" smtClean="0"/>
              <a:t>16/09/2024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51B739-0E96-C744-A8C5-F9329E92B7E3}" type="slidenum">
              <a:rPr lang="fr-FR" smtClean="0"/>
              <a:t>‹#›</a:t>
            </a:fld>
            <a:endParaRPr lang="fr-FR"/>
          </a:p>
        </p:txBody>
      </p:sp>
    </p:spTree>
    <p:extLst>
      <p:ext uri="{BB962C8B-B14F-4D97-AF65-F5344CB8AC3E}">
        <p14:creationId xmlns:p14="http://schemas.microsoft.com/office/powerpoint/2010/main" val="1748391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Cliquez et modifiez le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72DE5890-BDCA-7346-A5E1-98A9C83AD535}" type="datetimeFigureOut">
              <a:rPr lang="fr-FR" smtClean="0"/>
              <a:t>16/09/2024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51B739-0E96-C744-A8C5-F9329E92B7E3}" type="slidenum">
              <a:rPr lang="fr-FR" smtClean="0"/>
              <a:t>‹#›</a:t>
            </a:fld>
            <a:endParaRPr lang="fr-FR"/>
          </a:p>
        </p:txBody>
      </p:sp>
    </p:spTree>
    <p:extLst>
      <p:ext uri="{BB962C8B-B14F-4D97-AF65-F5344CB8AC3E}">
        <p14:creationId xmlns:p14="http://schemas.microsoft.com/office/powerpoint/2010/main" val="1193954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2DE5890-BDCA-7346-A5E1-98A9C83AD535}" type="datetimeFigureOut">
              <a:rPr lang="fr-FR" smtClean="0"/>
              <a:t>16/09/2024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51B739-0E96-C744-A8C5-F9329E92B7E3}" type="slidenum">
              <a:rPr lang="fr-FR" smtClean="0"/>
              <a:t>‹#›</a:t>
            </a:fld>
            <a:endParaRPr lang="fr-FR"/>
          </a:p>
        </p:txBody>
      </p:sp>
    </p:spTree>
    <p:extLst>
      <p:ext uri="{BB962C8B-B14F-4D97-AF65-F5344CB8AC3E}">
        <p14:creationId xmlns:p14="http://schemas.microsoft.com/office/powerpoint/2010/main" val="711932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2DE5890-BDCA-7346-A5E1-98A9C83AD535}" type="datetimeFigureOut">
              <a:rPr lang="fr-FR" smtClean="0"/>
              <a:t>16/09/2024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51B739-0E96-C744-A8C5-F9329E92B7E3}" type="slidenum">
              <a:rPr lang="fr-FR" smtClean="0"/>
              <a:t>‹#›</a:t>
            </a:fld>
            <a:endParaRPr lang="fr-FR"/>
          </a:p>
        </p:txBody>
      </p:sp>
    </p:spTree>
    <p:extLst>
      <p:ext uri="{BB962C8B-B14F-4D97-AF65-F5344CB8AC3E}">
        <p14:creationId xmlns:p14="http://schemas.microsoft.com/office/powerpoint/2010/main" val="1822634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Cliquez et modifiez le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DE5890-BDCA-7346-A5E1-98A9C83AD535}" type="datetimeFigureOut">
              <a:rPr lang="fr-FR" smtClean="0"/>
              <a:t>16/09/2024</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51B739-0E96-C744-A8C5-F9329E92B7E3}" type="slidenum">
              <a:rPr lang="fr-FR" smtClean="0"/>
              <a:t>‹#›</a:t>
            </a:fld>
            <a:endParaRPr lang="fr-FR"/>
          </a:p>
        </p:txBody>
      </p:sp>
    </p:spTree>
    <p:extLst>
      <p:ext uri="{BB962C8B-B14F-4D97-AF65-F5344CB8AC3E}">
        <p14:creationId xmlns:p14="http://schemas.microsoft.com/office/powerpoint/2010/main" val="1787703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a:t>Atelier : la dissertation critique comparative</a:t>
            </a:r>
          </a:p>
        </p:txBody>
      </p:sp>
      <p:sp>
        <p:nvSpPr>
          <p:cNvPr id="3" name="Sous-titre 2"/>
          <p:cNvSpPr>
            <a:spLocks noGrp="1"/>
          </p:cNvSpPr>
          <p:nvPr>
            <p:ph type="subTitle" idx="1"/>
          </p:nvPr>
        </p:nvSpPr>
        <p:spPr/>
        <p:txBody>
          <a:bodyPr/>
          <a:lstStyle/>
          <a:p>
            <a:endParaRPr lang="fr-FR" dirty="0"/>
          </a:p>
        </p:txBody>
      </p:sp>
    </p:spTree>
    <p:extLst>
      <p:ext uri="{BB962C8B-B14F-4D97-AF65-F5344CB8AC3E}">
        <p14:creationId xmlns:p14="http://schemas.microsoft.com/office/powerpoint/2010/main" val="1308594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a:t>Question</a:t>
            </a:r>
          </a:p>
        </p:txBody>
      </p:sp>
      <p:sp>
        <p:nvSpPr>
          <p:cNvPr id="3" name="Espace réservé du contenu 2"/>
          <p:cNvSpPr>
            <a:spLocks noGrp="1"/>
          </p:cNvSpPr>
          <p:nvPr>
            <p:ph idx="1"/>
          </p:nvPr>
        </p:nvSpPr>
        <p:spPr/>
        <p:txBody>
          <a:bodyPr>
            <a:normAutofit/>
          </a:bodyPr>
          <a:lstStyle/>
          <a:p>
            <a:r>
              <a:rPr lang="fr-CA" dirty="0"/>
              <a:t>Peut-on dire que la sexualité dans « Pugnace et flamboyante » et « Dans mon parc » est synonyme de pouvoir?</a:t>
            </a:r>
            <a:endParaRPr lang="fr-FR" dirty="0"/>
          </a:p>
        </p:txBody>
      </p:sp>
    </p:spTree>
    <p:extLst>
      <p:ext uri="{BB962C8B-B14F-4D97-AF65-F5344CB8AC3E}">
        <p14:creationId xmlns:p14="http://schemas.microsoft.com/office/powerpoint/2010/main" val="25665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314641-56AA-DC3F-6047-DD30A04588CE}"/>
              </a:ext>
            </a:extLst>
          </p:cNvPr>
          <p:cNvSpPr>
            <a:spLocks noGrp="1"/>
          </p:cNvSpPr>
          <p:nvPr>
            <p:ph type="title"/>
          </p:nvPr>
        </p:nvSpPr>
        <p:spPr/>
        <p:txBody>
          <a:bodyPr/>
          <a:lstStyle/>
          <a:p>
            <a:r>
              <a:rPr lang="fr-FR" dirty="0"/>
              <a:t>Décortiquer la question</a:t>
            </a:r>
          </a:p>
        </p:txBody>
      </p:sp>
      <p:sp>
        <p:nvSpPr>
          <p:cNvPr id="3" name="Espace réservé du contenu 2">
            <a:extLst>
              <a:ext uri="{FF2B5EF4-FFF2-40B4-BE49-F238E27FC236}">
                <a16:creationId xmlns:a16="http://schemas.microsoft.com/office/drawing/2014/main" id="{805997C6-B975-2178-DD51-F27DCBB1A49D}"/>
              </a:ext>
            </a:extLst>
          </p:cNvPr>
          <p:cNvSpPr>
            <a:spLocks noGrp="1"/>
          </p:cNvSpPr>
          <p:nvPr>
            <p:ph idx="1"/>
          </p:nvPr>
        </p:nvSpPr>
        <p:spPr/>
        <p:txBody>
          <a:bodyPr/>
          <a:lstStyle/>
          <a:p>
            <a:endParaRPr lang="fr-CA" dirty="0"/>
          </a:p>
          <a:p>
            <a:r>
              <a:rPr lang="fr-CA" dirty="0"/>
              <a:t>Verbe initial : Démontrez/ Peut-on dire </a:t>
            </a:r>
            <a:r>
              <a:rPr lang="fr-CA" dirty="0">
                <a:sym typeface="Wingdings"/>
              </a:rPr>
              <a:t> on doit trancher par rapport à une prise de position.</a:t>
            </a:r>
          </a:p>
          <a:p>
            <a:r>
              <a:rPr lang="fr-CA" dirty="0">
                <a:sym typeface="Wingdings"/>
              </a:rPr>
              <a:t>Thématique à l’étude : est-ce que la sexualité est synonyme de pouvoir?</a:t>
            </a:r>
            <a:endParaRPr lang="fr-CA" dirty="0"/>
          </a:p>
          <a:p>
            <a:r>
              <a:rPr lang="fr-CA" dirty="0"/>
              <a:t>Objet d’étude : deux textes </a:t>
            </a:r>
            <a:r>
              <a:rPr lang="fr-CA" dirty="0">
                <a:sym typeface="Wingdings"/>
              </a:rPr>
              <a:t> « Pugnace et flamboyante » et « Dans mon parc »</a:t>
            </a:r>
            <a:endParaRPr lang="fr-CA" dirty="0"/>
          </a:p>
          <a:p>
            <a:r>
              <a:rPr lang="fr-CA" dirty="0"/>
              <a:t>Discussion ensemble : qu’est-ce qui tient du pouvoir et qu’est-ce qui tient de son contraire?</a:t>
            </a:r>
            <a:endParaRPr lang="fr-FR" dirty="0"/>
          </a:p>
          <a:p>
            <a:pPr marL="0" indent="0">
              <a:buNone/>
            </a:pPr>
            <a:endParaRPr lang="fr-FR" dirty="0"/>
          </a:p>
        </p:txBody>
      </p:sp>
    </p:spTree>
    <p:extLst>
      <p:ext uri="{BB962C8B-B14F-4D97-AF65-F5344CB8AC3E}">
        <p14:creationId xmlns:p14="http://schemas.microsoft.com/office/powerpoint/2010/main" val="1778084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174CB8-CB3D-4AA3-D08B-20FA2FF560C1}"/>
              </a:ext>
            </a:extLst>
          </p:cNvPr>
          <p:cNvSpPr>
            <a:spLocks noGrp="1"/>
          </p:cNvSpPr>
          <p:nvPr>
            <p:ph type="title"/>
          </p:nvPr>
        </p:nvSpPr>
        <p:spPr/>
        <p:txBody>
          <a:bodyPr/>
          <a:lstStyle/>
          <a:p>
            <a:r>
              <a:rPr lang="fr-FR" dirty="0"/>
              <a:t>Annoter le texte </a:t>
            </a:r>
          </a:p>
        </p:txBody>
      </p:sp>
      <p:sp>
        <p:nvSpPr>
          <p:cNvPr id="3" name="Espace réservé du contenu 2">
            <a:extLst>
              <a:ext uri="{FF2B5EF4-FFF2-40B4-BE49-F238E27FC236}">
                <a16:creationId xmlns:a16="http://schemas.microsoft.com/office/drawing/2014/main" id="{A7734880-803E-8035-7EA1-D418429D5C0A}"/>
              </a:ext>
            </a:extLst>
          </p:cNvPr>
          <p:cNvSpPr>
            <a:spLocks noGrp="1"/>
          </p:cNvSpPr>
          <p:nvPr>
            <p:ph idx="1"/>
          </p:nvPr>
        </p:nvSpPr>
        <p:spPr/>
        <p:txBody>
          <a:bodyPr/>
          <a:lstStyle/>
          <a:p>
            <a:r>
              <a:rPr lang="fr-FR" dirty="0"/>
              <a:t>Cherchez dans les deux textes des passages où la sexualité montre une prise de pouvoir ou encore, dans le cas contraire, un signe de soumission. </a:t>
            </a:r>
          </a:p>
        </p:txBody>
      </p:sp>
    </p:spTree>
    <p:extLst>
      <p:ext uri="{BB962C8B-B14F-4D97-AF65-F5344CB8AC3E}">
        <p14:creationId xmlns:p14="http://schemas.microsoft.com/office/powerpoint/2010/main" val="2860187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C619A-53FF-4651-A404-33EC9CA5736D}"/>
              </a:ext>
            </a:extLst>
          </p:cNvPr>
          <p:cNvSpPr>
            <a:spLocks noGrp="1"/>
          </p:cNvSpPr>
          <p:nvPr>
            <p:ph type="title"/>
          </p:nvPr>
        </p:nvSpPr>
        <p:spPr>
          <a:xfrm>
            <a:off x="838200" y="365126"/>
            <a:ext cx="10329909" cy="531520"/>
          </a:xfrm>
        </p:spPr>
        <p:txBody>
          <a:bodyPr>
            <a:normAutofit fontScale="90000"/>
          </a:bodyPr>
          <a:lstStyle/>
          <a:p>
            <a:r>
              <a:rPr lang="fr-CA" dirty="0"/>
              <a:t>Oui : sexualité = pouvoir</a:t>
            </a:r>
            <a:endParaRPr lang="en-US" dirty="0"/>
          </a:p>
        </p:txBody>
      </p:sp>
      <p:sp>
        <p:nvSpPr>
          <p:cNvPr id="3" name="Content Placeholder 2">
            <a:extLst>
              <a:ext uri="{FF2B5EF4-FFF2-40B4-BE49-F238E27FC236}">
                <a16:creationId xmlns:a16="http://schemas.microsoft.com/office/drawing/2014/main" id="{D309D245-9138-412B-A2B8-4CEDF12D2AC6}"/>
              </a:ext>
            </a:extLst>
          </p:cNvPr>
          <p:cNvSpPr>
            <a:spLocks noGrp="1"/>
          </p:cNvSpPr>
          <p:nvPr>
            <p:ph idx="1"/>
          </p:nvPr>
        </p:nvSpPr>
        <p:spPr>
          <a:xfrm>
            <a:off x="133165" y="772358"/>
            <a:ext cx="11984854" cy="6001304"/>
          </a:xfrm>
        </p:spPr>
        <p:txBody>
          <a:bodyPr>
            <a:normAutofit fontScale="85000" lnSpcReduction="20000"/>
          </a:bodyPr>
          <a:lstStyle/>
          <a:p>
            <a:pPr marL="0" indent="0">
              <a:buNone/>
            </a:pPr>
            <a:r>
              <a:rPr lang="fr-CA" dirty="0"/>
              <a:t>Pugnace et flamboyante :</a:t>
            </a:r>
          </a:p>
          <a:p>
            <a:pPr>
              <a:buFontTx/>
              <a:buChar char="-"/>
            </a:pPr>
            <a:r>
              <a:rPr lang="fr-CA" dirty="0"/>
              <a:t>p. 42 : Wilfred détruit son jardin : rappel de son histoire de violence sexuelle.</a:t>
            </a:r>
          </a:p>
          <a:p>
            <a:pPr>
              <a:buFontTx/>
              <a:buChar char="-"/>
            </a:pPr>
            <a:r>
              <a:rPr lang="fr-CA" dirty="0"/>
              <a:t>39 : Garde espoir malgré tout ce qu’elle a vécu</a:t>
            </a:r>
          </a:p>
          <a:p>
            <a:pPr>
              <a:buFontTx/>
              <a:buChar char="-"/>
            </a:pPr>
            <a:r>
              <a:rPr lang="fr-CA" dirty="0"/>
              <a:t>P. 40 : jardinage = métaphore de sa sexualité positive, jardin = façon de prendre le pouvoir.</a:t>
            </a:r>
          </a:p>
          <a:p>
            <a:pPr>
              <a:buFontTx/>
              <a:buChar char="-"/>
            </a:pPr>
            <a:r>
              <a:rPr lang="fr-CA" dirty="0"/>
              <a:t>Pouvoir incestueux du père : contre le gré de Rosa</a:t>
            </a:r>
          </a:p>
          <a:p>
            <a:pPr>
              <a:buFontTx/>
              <a:buChar char="-"/>
            </a:pPr>
            <a:r>
              <a:rPr lang="fr-CA" dirty="0"/>
              <a:t>Wilfred souhaite contrôler Rosa à tout prix</a:t>
            </a:r>
          </a:p>
          <a:p>
            <a:pPr>
              <a:buFontTx/>
              <a:buChar char="-"/>
            </a:pPr>
            <a:r>
              <a:rPr lang="fr-CA" dirty="0"/>
              <a:t>P.41 : refus de respecter le souhait de Rosa lorsque Wilfred détruit le jardin de Rosa (la force à la soumission.)</a:t>
            </a:r>
          </a:p>
          <a:p>
            <a:pPr>
              <a:buFontTx/>
              <a:buChar char="-"/>
            </a:pPr>
            <a:r>
              <a:rPr lang="fr-CA" dirty="0"/>
              <a:t>P. 41 : aime malgré tout le produit de la violence qu’elle a vécue (famille, proches, etc.)</a:t>
            </a:r>
          </a:p>
          <a:p>
            <a:pPr>
              <a:buFontTx/>
              <a:buChar char="-"/>
            </a:pPr>
            <a:r>
              <a:rPr lang="fr-CA" dirty="0"/>
              <a:t>Terre = la descendance qu’elle aurait réellement choisie.</a:t>
            </a:r>
          </a:p>
          <a:p>
            <a:pPr marL="0" indent="0">
              <a:buNone/>
            </a:pPr>
            <a:r>
              <a:rPr lang="fr-CA" dirty="0"/>
              <a:t>Dans mon parc :</a:t>
            </a:r>
          </a:p>
          <a:p>
            <a:pPr>
              <a:buFontTx/>
              <a:buChar char="-"/>
            </a:pPr>
            <a:r>
              <a:rPr lang="fr-CA" dirty="0"/>
              <a:t>p. 45 : vision de l’homme et de sa mère : l’homme prend une forme de pouvoir sur la mère, selon sa vision d’enfant.  </a:t>
            </a:r>
          </a:p>
          <a:p>
            <a:pPr>
              <a:buFontTx/>
              <a:buChar char="-"/>
            </a:pPr>
            <a:r>
              <a:rPr lang="fr-CA" dirty="0"/>
              <a:t>Priorisation de son désir au détriment de son fils.</a:t>
            </a:r>
          </a:p>
          <a:p>
            <a:pPr>
              <a:buFontTx/>
              <a:buChar char="-"/>
            </a:pPr>
            <a:r>
              <a:rPr lang="fr-CA" dirty="0"/>
              <a:t>P. 46 : Cri = résultante d’une domination qui la précède</a:t>
            </a:r>
          </a:p>
          <a:p>
            <a:pPr>
              <a:buFontTx/>
              <a:buChar char="-"/>
            </a:pPr>
            <a:endParaRPr lang="en-US" dirty="0"/>
          </a:p>
        </p:txBody>
      </p:sp>
    </p:spTree>
    <p:extLst>
      <p:ext uri="{BB962C8B-B14F-4D97-AF65-F5344CB8AC3E}">
        <p14:creationId xmlns:p14="http://schemas.microsoft.com/office/powerpoint/2010/main" val="2558909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FA9F5-4FC9-4881-83D0-E592DA894E5F}"/>
              </a:ext>
            </a:extLst>
          </p:cNvPr>
          <p:cNvSpPr>
            <a:spLocks noGrp="1"/>
          </p:cNvSpPr>
          <p:nvPr>
            <p:ph type="title"/>
          </p:nvPr>
        </p:nvSpPr>
        <p:spPr>
          <a:xfrm>
            <a:off x="838200" y="365125"/>
            <a:ext cx="10276643" cy="709073"/>
          </a:xfrm>
        </p:spPr>
        <p:txBody>
          <a:bodyPr/>
          <a:lstStyle/>
          <a:p>
            <a:r>
              <a:rPr lang="fr-CA" dirty="0"/>
              <a:t>Non: pouvoir = autre chose</a:t>
            </a:r>
            <a:endParaRPr lang="en-US" dirty="0"/>
          </a:p>
        </p:txBody>
      </p:sp>
      <p:sp>
        <p:nvSpPr>
          <p:cNvPr id="3" name="Content Placeholder 2">
            <a:extLst>
              <a:ext uri="{FF2B5EF4-FFF2-40B4-BE49-F238E27FC236}">
                <a16:creationId xmlns:a16="http://schemas.microsoft.com/office/drawing/2014/main" id="{305DF12C-B877-4BA9-BB9C-90D7D781DEAB}"/>
              </a:ext>
            </a:extLst>
          </p:cNvPr>
          <p:cNvSpPr>
            <a:spLocks noGrp="1"/>
          </p:cNvSpPr>
          <p:nvPr>
            <p:ph idx="1"/>
          </p:nvPr>
        </p:nvSpPr>
        <p:spPr>
          <a:xfrm>
            <a:off x="195309" y="1074198"/>
            <a:ext cx="11996691" cy="5663953"/>
          </a:xfrm>
        </p:spPr>
        <p:txBody>
          <a:bodyPr>
            <a:normAutofit fontScale="92500" lnSpcReduction="10000"/>
          </a:bodyPr>
          <a:lstStyle/>
          <a:p>
            <a:pPr marL="0" indent="0">
              <a:buNone/>
            </a:pPr>
            <a:r>
              <a:rPr lang="fr-CA" dirty="0"/>
              <a:t>Pugnace et flamboyante :</a:t>
            </a:r>
          </a:p>
          <a:p>
            <a:pPr marL="0" indent="0">
              <a:buNone/>
            </a:pPr>
            <a:r>
              <a:rPr lang="fr-CA" dirty="0"/>
              <a:t>- Absence de pouvoir de Wilfred : s’effondre complètement. Meurt peu longtemps après.</a:t>
            </a:r>
          </a:p>
          <a:p>
            <a:pPr>
              <a:buFontTx/>
              <a:buChar char="-"/>
            </a:pPr>
            <a:r>
              <a:rPr lang="fr-CA" dirty="0"/>
              <a:t>Innocence par rapport à ce que tout ce qu’elle a vécu. </a:t>
            </a:r>
          </a:p>
          <a:p>
            <a:pPr>
              <a:buFontTx/>
              <a:buChar char="-"/>
            </a:pPr>
            <a:r>
              <a:rPr lang="fr-CA" dirty="0"/>
              <a:t>Soumission forcée (par son âge, c’est une enfant, etc.)</a:t>
            </a:r>
          </a:p>
          <a:p>
            <a:pPr>
              <a:buFontTx/>
              <a:buChar char="-"/>
            </a:pPr>
            <a:r>
              <a:rPr lang="fr-CA" dirty="0"/>
              <a:t>Considérée comme un objet sexuel</a:t>
            </a:r>
          </a:p>
          <a:p>
            <a:pPr>
              <a:buFontTx/>
              <a:buChar char="-"/>
            </a:pPr>
            <a:r>
              <a:rPr lang="fr-CA" dirty="0"/>
              <a:t>Larmes de rage = tristesse. Ne peut pas contrôler ses larmes : ce qu’elle vit est trop gros.</a:t>
            </a:r>
          </a:p>
          <a:p>
            <a:pPr>
              <a:buFontTx/>
              <a:buChar char="-"/>
            </a:pPr>
            <a:r>
              <a:rPr lang="fr-CA" dirty="0"/>
              <a:t>Soumission : la rend dans une posture où elle se fait enlever sa joie.</a:t>
            </a:r>
          </a:p>
          <a:p>
            <a:pPr>
              <a:buFontTx/>
              <a:buChar char="-"/>
            </a:pPr>
            <a:r>
              <a:rPr lang="fr-CA" dirty="0"/>
              <a:t>Obligée d’être confrontée aux conséquences de la violence sexuelle qu’elle a vécue. </a:t>
            </a:r>
          </a:p>
          <a:p>
            <a:pPr marL="0" indent="0">
              <a:buNone/>
            </a:pPr>
            <a:r>
              <a:rPr lang="fr-CA" dirty="0"/>
              <a:t>Dans mon parc :</a:t>
            </a:r>
          </a:p>
          <a:p>
            <a:pPr>
              <a:buFontTx/>
              <a:buChar char="-"/>
            </a:pPr>
            <a:r>
              <a:rPr lang="fr-CA" dirty="0"/>
              <a:t>Mère a ruiné sa vision du sexe, ca le poursuit encore aujourd’hui. </a:t>
            </a:r>
          </a:p>
          <a:p>
            <a:pPr>
              <a:buFontTx/>
              <a:buChar char="-"/>
            </a:pPr>
            <a:r>
              <a:rPr lang="fr-CA" dirty="0"/>
              <a:t>Incapable de mettre le blâme sur sa mère (pas de pouvoir sur le désir de sa mère)</a:t>
            </a:r>
          </a:p>
          <a:p>
            <a:pPr>
              <a:buFontTx/>
              <a:buChar char="-"/>
            </a:pPr>
            <a:endParaRPr lang="en-US" dirty="0"/>
          </a:p>
          <a:p>
            <a:pPr marL="0" indent="0">
              <a:buNone/>
            </a:pPr>
            <a:endParaRPr lang="en-US" dirty="0"/>
          </a:p>
        </p:txBody>
      </p:sp>
    </p:spTree>
    <p:extLst>
      <p:ext uri="{BB962C8B-B14F-4D97-AF65-F5344CB8AC3E}">
        <p14:creationId xmlns:p14="http://schemas.microsoft.com/office/powerpoint/2010/main" val="599307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Paragraphe à question comparative : plan</a:t>
            </a:r>
          </a:p>
        </p:txBody>
      </p:sp>
      <p:sp>
        <p:nvSpPr>
          <p:cNvPr id="3" name="Espace réservé du contenu 2"/>
          <p:cNvSpPr>
            <a:spLocks noGrp="1"/>
          </p:cNvSpPr>
          <p:nvPr>
            <p:ph idx="1"/>
          </p:nvPr>
        </p:nvSpPr>
        <p:spPr/>
        <p:txBody>
          <a:bodyPr>
            <a:normAutofit fontScale="92500" lnSpcReduction="10000"/>
          </a:bodyPr>
          <a:lstStyle/>
          <a:p>
            <a:r>
              <a:rPr lang="fr-FR" dirty="0"/>
              <a:t>Idée principale : englobe les deux idées secondaires</a:t>
            </a:r>
          </a:p>
          <a:p>
            <a:r>
              <a:rPr lang="fr-FR" dirty="0"/>
              <a:t>Idée secondaire 1 : idée formulée à partir du texte A</a:t>
            </a:r>
          </a:p>
          <a:p>
            <a:r>
              <a:rPr lang="fr-FR" dirty="0"/>
              <a:t>Citation 1 : preuve tirée du texte A</a:t>
            </a:r>
          </a:p>
          <a:p>
            <a:r>
              <a:rPr lang="fr-FR" dirty="0"/>
              <a:t>Explication : mettre en contexte l’idée, approfondir avec l’analyse d’un procédé d’écriture ou d’une connaissance générale.</a:t>
            </a:r>
          </a:p>
          <a:p>
            <a:r>
              <a:rPr lang="fr-FR" dirty="0"/>
              <a:t>Idée secondaire 2 : idée formulée à partir du texte B</a:t>
            </a:r>
          </a:p>
          <a:p>
            <a:r>
              <a:rPr lang="fr-FR" dirty="0"/>
              <a:t>Citation 2 : preuve tirée du texte B</a:t>
            </a:r>
          </a:p>
          <a:p>
            <a:r>
              <a:rPr lang="fr-FR" dirty="0"/>
              <a:t>Explication : mettre en contexte l’idée, approfondir avec l’analyse d’un procédé d’écriture ou d’une connaissance générale.</a:t>
            </a:r>
          </a:p>
          <a:p>
            <a:r>
              <a:rPr lang="fr-FR" dirty="0"/>
              <a:t>Mini-conclusion : résumer en une phrase les trois idées (les 3 thèmes.)</a:t>
            </a:r>
          </a:p>
          <a:p>
            <a:endParaRPr lang="fr-FR" dirty="0"/>
          </a:p>
          <a:p>
            <a:endParaRPr lang="fr-FR" dirty="0"/>
          </a:p>
          <a:p>
            <a:endParaRPr lang="fr-FR" dirty="0"/>
          </a:p>
          <a:p>
            <a:endParaRPr lang="fr-FR" dirty="0"/>
          </a:p>
        </p:txBody>
      </p:sp>
    </p:spTree>
    <p:extLst>
      <p:ext uri="{BB962C8B-B14F-4D97-AF65-F5344CB8AC3E}">
        <p14:creationId xmlns:p14="http://schemas.microsoft.com/office/powerpoint/2010/main" val="1564775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Choix des citations</a:t>
            </a:r>
          </a:p>
        </p:txBody>
      </p:sp>
      <p:sp>
        <p:nvSpPr>
          <p:cNvPr id="3" name="Espace réservé du contenu 2"/>
          <p:cNvSpPr>
            <a:spLocks noGrp="1"/>
          </p:cNvSpPr>
          <p:nvPr>
            <p:ph idx="1"/>
          </p:nvPr>
        </p:nvSpPr>
        <p:spPr/>
        <p:txBody>
          <a:bodyPr/>
          <a:lstStyle/>
          <a:p>
            <a:pPr lvl="0"/>
            <a:r>
              <a:rPr lang="fr-CA" dirty="0"/>
              <a:t>Citation 1 : « Dans la chimie de son cerveau, quelque chose se grille instantanément. Y’aura beau la forcer dans le lit, tant qu’a sera en vie, a va rester sauvage et insoumise. » (p. 43)</a:t>
            </a:r>
            <a:endParaRPr lang="fr-FR" dirty="0"/>
          </a:p>
          <a:p>
            <a:pPr lvl="0"/>
            <a:r>
              <a:rPr lang="fr-CA" dirty="0"/>
              <a:t>Citation 2 : « Avec le recul, je constate que c’est juste le premier d’une longue série d’hommes qui ont donné l’occasion à ma mère de crier qu’elle était une femme sexuée pis le crier vraiment fort, pas juste à moi, pas juste à tout le quartier, à l’univers comme. » (p. 46)</a:t>
            </a:r>
            <a:endParaRPr lang="fr-FR" dirty="0"/>
          </a:p>
          <a:p>
            <a:endParaRPr lang="fr-FR" dirty="0"/>
          </a:p>
        </p:txBody>
      </p:sp>
    </p:spTree>
    <p:extLst>
      <p:ext uri="{BB962C8B-B14F-4D97-AF65-F5344CB8AC3E}">
        <p14:creationId xmlns:p14="http://schemas.microsoft.com/office/powerpoint/2010/main" val="720066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Trouver des thèmes : les idées secondaires</a:t>
            </a:r>
          </a:p>
        </p:txBody>
      </p:sp>
      <p:sp>
        <p:nvSpPr>
          <p:cNvPr id="3" name="Espace réservé du contenu 2"/>
          <p:cNvSpPr>
            <a:spLocks noGrp="1"/>
          </p:cNvSpPr>
          <p:nvPr>
            <p:ph idx="1"/>
          </p:nvPr>
        </p:nvSpPr>
        <p:spPr/>
        <p:txBody>
          <a:bodyPr>
            <a:normAutofit lnSpcReduction="10000"/>
          </a:bodyPr>
          <a:lstStyle/>
          <a:p>
            <a:pPr lvl="0"/>
            <a:r>
              <a:rPr lang="fr-CA" dirty="0"/>
              <a:t>Citation 1 : « Dans la chimie de son cerveau, quelque chose se grille instantanément. Y’aura beau la forcer dans le lit, tant qu’a sera en vie, a va rester sauvage et insoumise. » (p. 43)</a:t>
            </a:r>
            <a:br>
              <a:rPr lang="fr-FR" dirty="0"/>
            </a:br>
            <a:r>
              <a:rPr lang="fr-CA" b="1" u="sng" dirty="0"/>
              <a:t>Changement: La grand-mère dans l’extrait, en s’opposant clairement à la volonté de son mari, réussit à changer sa position dominée dans les relations conjugales.</a:t>
            </a:r>
            <a:r>
              <a:rPr lang="fr-FR" dirty="0">
                <a:effectLst/>
              </a:rPr>
              <a:t> </a:t>
            </a:r>
            <a:endParaRPr lang="fr-FR" dirty="0"/>
          </a:p>
          <a:p>
            <a:pPr lvl="0"/>
            <a:r>
              <a:rPr lang="fr-CA" dirty="0"/>
              <a:t>Citation 2 : « Avec le recul, je constate que c’est juste le premier d’une longue série d’hommes qui ont donné l’occasion à ma mère de crier qu’elle était une femme sexuée pis le crier vraiment fort, pas juste à moi, pas juste à tout le quartier, à l’univers comme. » (p. 46)</a:t>
            </a:r>
            <a:br>
              <a:rPr lang="fr-CA" dirty="0"/>
            </a:br>
            <a:r>
              <a:rPr lang="fr-CA" b="1" u="sng" dirty="0"/>
              <a:t>libération sexuelle. La mère utilise sa vie sexuelle comme outil de libération du rôle habituellement attribué aux femmes.</a:t>
            </a:r>
            <a:r>
              <a:rPr lang="fr-FR" dirty="0">
                <a:effectLst/>
              </a:rPr>
              <a:t> </a:t>
            </a:r>
            <a:endParaRPr lang="fr-FR" dirty="0"/>
          </a:p>
          <a:p>
            <a:endParaRPr lang="fr-FR" dirty="0"/>
          </a:p>
        </p:txBody>
      </p:sp>
    </p:spTree>
    <p:extLst>
      <p:ext uri="{BB962C8B-B14F-4D97-AF65-F5344CB8AC3E}">
        <p14:creationId xmlns:p14="http://schemas.microsoft.com/office/powerpoint/2010/main" val="323915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Idée principale</a:t>
            </a:r>
          </a:p>
        </p:txBody>
      </p:sp>
      <p:sp>
        <p:nvSpPr>
          <p:cNvPr id="3" name="Espace réservé du contenu 2"/>
          <p:cNvSpPr>
            <a:spLocks noGrp="1"/>
          </p:cNvSpPr>
          <p:nvPr>
            <p:ph idx="1"/>
          </p:nvPr>
        </p:nvSpPr>
        <p:spPr/>
        <p:txBody>
          <a:bodyPr/>
          <a:lstStyle/>
          <a:p>
            <a:r>
              <a:rPr lang="fr-FR" dirty="0"/>
              <a:t>Trouver un lien entre les deux exemples</a:t>
            </a:r>
          </a:p>
          <a:p>
            <a:r>
              <a:rPr lang="fr-CA" b="1" u="sng" dirty="0"/>
              <a:t>Affranchissement des femmes : La sexualité est une forme de pouvoir à travers l’affranchissement des femmes.</a:t>
            </a:r>
            <a:endParaRPr lang="fr-FR" dirty="0"/>
          </a:p>
        </p:txBody>
      </p:sp>
    </p:spTree>
    <p:extLst>
      <p:ext uri="{BB962C8B-B14F-4D97-AF65-F5344CB8AC3E}">
        <p14:creationId xmlns:p14="http://schemas.microsoft.com/office/powerpoint/2010/main" val="1332515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L’explication : procédés et vision du monde</a:t>
            </a:r>
          </a:p>
        </p:txBody>
      </p:sp>
      <p:sp>
        <p:nvSpPr>
          <p:cNvPr id="3" name="Espace réservé du contenu 2"/>
          <p:cNvSpPr>
            <a:spLocks noGrp="1"/>
          </p:cNvSpPr>
          <p:nvPr>
            <p:ph idx="1"/>
          </p:nvPr>
        </p:nvSpPr>
        <p:spPr/>
        <p:txBody>
          <a:bodyPr/>
          <a:lstStyle/>
          <a:p>
            <a:r>
              <a:rPr lang="fr-FR" dirty="0"/>
              <a:t>Que pourrait-on trouver comme procédés?</a:t>
            </a:r>
          </a:p>
          <a:p>
            <a:r>
              <a:rPr lang="fr-FR" dirty="0"/>
              <a:t>Peut-on faire un lien avec le théâtre documentaire?</a:t>
            </a:r>
          </a:p>
          <a:p>
            <a:endParaRPr lang="fr-FR" dirty="0"/>
          </a:p>
          <a:p>
            <a:r>
              <a:rPr lang="fr-FR" dirty="0"/>
              <a:t>Pistes de réflexion :</a:t>
            </a:r>
          </a:p>
          <a:p>
            <a:r>
              <a:rPr lang="fr-FR" dirty="0"/>
              <a:t>- Figure de style, dénotation (définition et nuance du mot.)</a:t>
            </a:r>
          </a:p>
          <a:p>
            <a:r>
              <a:rPr lang="fr-FR" dirty="0"/>
              <a:t>Théâtre documentaire : réfléchit à un thème, à renseigner. </a:t>
            </a:r>
          </a:p>
        </p:txBody>
      </p:sp>
    </p:spTree>
    <p:extLst>
      <p:ext uri="{BB962C8B-B14F-4D97-AF65-F5344CB8AC3E}">
        <p14:creationId xmlns:p14="http://schemas.microsoft.com/office/powerpoint/2010/main" val="666508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557BB5-91DD-1ABE-D160-02FAD389DDEE}"/>
              </a:ext>
            </a:extLst>
          </p:cNvPr>
          <p:cNvSpPr>
            <a:spLocks noGrp="1"/>
          </p:cNvSpPr>
          <p:nvPr>
            <p:ph type="title"/>
          </p:nvPr>
        </p:nvSpPr>
        <p:spPr>
          <a:xfrm>
            <a:off x="838199" y="1"/>
            <a:ext cx="10602687" cy="272142"/>
          </a:xfrm>
        </p:spPr>
        <p:txBody>
          <a:bodyPr>
            <a:normAutofit fontScale="90000"/>
          </a:bodyPr>
          <a:lstStyle/>
          <a:p>
            <a:r>
              <a:rPr lang="fr-FR" sz="3600" dirty="0"/>
              <a:t>Paragraphe complet : </a:t>
            </a:r>
          </a:p>
        </p:txBody>
      </p:sp>
      <p:sp>
        <p:nvSpPr>
          <p:cNvPr id="3" name="Espace réservé du contenu 2">
            <a:extLst>
              <a:ext uri="{FF2B5EF4-FFF2-40B4-BE49-F238E27FC236}">
                <a16:creationId xmlns:a16="http://schemas.microsoft.com/office/drawing/2014/main" id="{2F79E84F-4747-E587-BD53-2BC8E3C3D5C8}"/>
              </a:ext>
            </a:extLst>
          </p:cNvPr>
          <p:cNvSpPr>
            <a:spLocks noGrp="1"/>
          </p:cNvSpPr>
          <p:nvPr>
            <p:ph idx="1"/>
          </p:nvPr>
        </p:nvSpPr>
        <p:spPr>
          <a:xfrm>
            <a:off x="0" y="272144"/>
            <a:ext cx="12192001" cy="6585856"/>
          </a:xfrm>
        </p:spPr>
        <p:txBody>
          <a:bodyPr>
            <a:normAutofit/>
          </a:bodyPr>
          <a:lstStyle/>
          <a:p>
            <a:pPr marL="0" indent="0">
              <a:buNone/>
            </a:pPr>
            <a:r>
              <a:rPr lang="fr-FR" b="1" dirty="0"/>
              <a:t>D’abord, </a:t>
            </a:r>
            <a:r>
              <a:rPr lang="fr-CA" dirty="0"/>
              <a:t>la sexualité est une forme de pouvoir à travers l’affranchissement des femmes. Ainsi, dans « Pugnace et flamboyante », la grand-mère réussit à changer sa position de dominée dans les relations conjugales en s’opposant clairement à la volonté de son mari : « Dans la chimie de son cerveau, quelque chose se grille instantanément. Y’aura beau la forcer dans le lit, tant qu’a sera en vie, a va rester sauvage et insoumise. » (p. 43) Durant des années, Rosa a subi différentes formes d’abus, psychologique et sexuels, de la part d’hommes de son entourage. Pour atteindre une forme de bonheur, elle met toute son énergie dans l’élaboration d’un jardin. Lorsque son mari, Wilfred, décide de raser le jardin, elle se rebelle pour la première fois de sa vie. Elle refuse la domination de celui-ci. Par son seul refus, Wilfred s’effondre. L’usage du mot « insoumise » souligne ce refus d’accepter le contrôle du mari.</a:t>
            </a:r>
            <a:r>
              <a:rPr lang="fr-FR" dirty="0"/>
              <a:t> </a:t>
            </a:r>
          </a:p>
          <a:p>
            <a:pPr marL="0" indent="0">
              <a:buNone/>
            </a:pPr>
            <a:endParaRPr lang="fr-FR" dirty="0"/>
          </a:p>
        </p:txBody>
      </p:sp>
    </p:spTree>
    <p:extLst>
      <p:ext uri="{BB962C8B-B14F-4D97-AF65-F5344CB8AC3E}">
        <p14:creationId xmlns:p14="http://schemas.microsoft.com/office/powerpoint/2010/main" val="2791132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5B1E1-E380-4F4B-9457-5E273D4B57F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2D54625-DF2C-4D2C-976A-B5D856C3227C}"/>
              </a:ext>
            </a:extLst>
          </p:cNvPr>
          <p:cNvSpPr>
            <a:spLocks noGrp="1"/>
          </p:cNvSpPr>
          <p:nvPr>
            <p:ph idx="1"/>
          </p:nvPr>
        </p:nvSpPr>
        <p:spPr>
          <a:xfrm>
            <a:off x="213064" y="266330"/>
            <a:ext cx="11140736" cy="5910633"/>
          </a:xfrm>
        </p:spPr>
        <p:txBody>
          <a:bodyPr>
            <a:normAutofit lnSpcReduction="10000"/>
          </a:bodyPr>
          <a:lstStyle/>
          <a:p>
            <a:r>
              <a:rPr lang="fr-FR" b="1" dirty="0"/>
              <a:t>De plus, </a:t>
            </a:r>
            <a:r>
              <a:rPr lang="fr-CA" dirty="0"/>
              <a:t>la mère, dans « Mon parc », utilise sa vie sexuelle comme outil de libération du rôle habituellement attribué aux femmes : « Avec le recul, je constate que c’est juste le premier d’une longue série d’hommes qui ont donné l’occasion à ma mère de crier qu’elle était une femme sexuée pis le crier vraiment fort, pas juste à moi, pas juste à tout le quartier, à l’univers comme. » (p. 46) Même si le narrateur semble troublé par le comportement de sa mère, il réalise des années plus tard que le fait que sa mère accueillait des hommes chez elle était une façon de se sentir libre. Ici, à travers le travail du théâtre documentaire, Anne-Marie Olivier présente différents aspects de la sexualité, pas toujours reluisants, pour montrer que la vie sexuelle des gens est complexe et nuancée, qu’à travers la noirceur peut surgir une forme de liberté. </a:t>
            </a:r>
            <a:r>
              <a:rPr lang="fr-CA" b="1" dirty="0"/>
              <a:t>Donc, </a:t>
            </a:r>
            <a:r>
              <a:rPr lang="fr-CA" dirty="0"/>
              <a:t>dans les deux extraits de la pièce de théâtre </a:t>
            </a:r>
            <a:r>
              <a:rPr lang="fr-CA" i="1" dirty="0"/>
              <a:t>Faire l’amour, </a:t>
            </a:r>
            <a:r>
              <a:rPr lang="fr-CA" dirty="0"/>
              <a:t>la sexualité est montrée comme un exemple de pouvoir à travers l’affranchissement des femmes puisque la grand-mère réussit à ne plus être soumise à son mari et que la mère utilise sa sexualité pour atteindre une forme de liberté. </a:t>
            </a:r>
            <a:endParaRPr lang="fr-FR" dirty="0"/>
          </a:p>
          <a:p>
            <a:endParaRPr lang="en-US" dirty="0"/>
          </a:p>
        </p:txBody>
      </p:sp>
    </p:spTree>
    <p:extLst>
      <p:ext uri="{BB962C8B-B14F-4D97-AF65-F5344CB8AC3E}">
        <p14:creationId xmlns:p14="http://schemas.microsoft.com/office/powerpoint/2010/main" val="3523455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A92C9-C123-433B-887A-AC409B7F62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B82906-6EF0-4172-A7CD-9770CA7568C8}"/>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6D826691-CEDE-4A37-A63E-98F623686F3A}"/>
              </a:ext>
            </a:extLst>
          </p:cNvPr>
          <p:cNvSpPr/>
          <p:nvPr/>
        </p:nvSpPr>
        <p:spPr>
          <a:xfrm>
            <a:off x="3048000" y="751344"/>
            <a:ext cx="6096000" cy="5355312"/>
          </a:xfrm>
          <a:prstGeom prst="rect">
            <a:avLst/>
          </a:prstGeom>
        </p:spPr>
        <p:txBody>
          <a:bodyPr>
            <a:spAutoFit/>
          </a:bodyPr>
          <a:lstStyle/>
          <a:p>
            <a:r>
              <a:rPr lang="fr-FR" b="1" dirty="0"/>
              <a:t>De plus, </a:t>
            </a:r>
            <a:r>
              <a:rPr lang="fr-CA" dirty="0"/>
              <a:t>la mère, dans « Mon parc », utilise sa vie sexuelle comme outil de libération du rôle habituellement attribué aux femmes : « Avec le recul, je constate que c’est juste le premier d’une longue série d’hommes qui ont donné l’occasion à ma mère de crier qu’elle était une femme sexuée pis le crier vraiment fort, pas juste à moi, pas juste à tout le quartier, à l’univers comme. » (p. 46) Même si le narrateur semble troublé par le comportement de sa mère, il réalise des années plus tard que le fait que sa mère accueillait des hommes chez elle était une façon de se sentir libre. Ici, à travers le travail du théâtre documentaire, Anne-Marie Olivier présente différents aspects de la sexualité, pas toujours reluisants, pour montrer que la vie sexuelle des gens est complexe et nuancée, qu’à travers la noirceur peut surgir une forme de liberté. </a:t>
            </a:r>
            <a:r>
              <a:rPr lang="fr-CA" b="1" dirty="0"/>
              <a:t>Donc, </a:t>
            </a:r>
            <a:r>
              <a:rPr lang="fr-CA" dirty="0"/>
              <a:t>dans les deux extraits de la pièce de théâtre </a:t>
            </a:r>
            <a:r>
              <a:rPr lang="fr-CA" i="1" dirty="0"/>
              <a:t>Faire l’amour, </a:t>
            </a:r>
            <a:r>
              <a:rPr lang="fr-CA" dirty="0"/>
              <a:t>la sexualité est montrée comme un exemple de pouvoir à travers l’affranchissement des femmes puisque la grand-mère réussit à ne plus être soumise à son mari et que la mère utilise sa sexualité pour atteindre une forme de liberté. </a:t>
            </a:r>
            <a:endParaRPr lang="fr-FR" dirty="0"/>
          </a:p>
        </p:txBody>
      </p:sp>
    </p:spTree>
    <p:extLst>
      <p:ext uri="{BB962C8B-B14F-4D97-AF65-F5344CB8AC3E}">
        <p14:creationId xmlns:p14="http://schemas.microsoft.com/office/powerpoint/2010/main" val="2806425275"/>
      </p:ext>
    </p:extLst>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2127</TotalTime>
  <Words>1561</Words>
  <Application>Microsoft Office PowerPoint</Application>
  <PresentationFormat>Widescreen</PresentationFormat>
  <Paragraphs>68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Thème Office</vt:lpstr>
      <vt:lpstr>Atelier : la dissertation critique comparative</vt:lpstr>
      <vt:lpstr>Question</vt:lpstr>
      <vt:lpstr>Décortiquer la question</vt:lpstr>
      <vt:lpstr>Annoter le texte </vt:lpstr>
      <vt:lpstr>Oui : sexualité = pouvoir</vt:lpstr>
      <vt:lpstr>Non: pouvoir = autre chose</vt:lpstr>
      <vt:lpstr>Paragraphe à question comparative : plan</vt:lpstr>
      <vt:lpstr>Choix des citations</vt:lpstr>
      <vt:lpstr>Trouver des thèmes : les idées secondaires</vt:lpstr>
      <vt:lpstr>Idée principale</vt:lpstr>
      <vt:lpstr>L’explication : procédés et vision du monde</vt:lpstr>
      <vt:lpstr>Paragraphe complet :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Atelier : la dissertation critique comparative</dc:title>
  <dc:creator>Constance Harrison-Julien</dc:creator>
  <cp:lastModifiedBy>Constance Julien</cp:lastModifiedBy>
  <cp:revision>36</cp:revision>
  <dcterms:created xsi:type="dcterms:W3CDTF">2020-10-08T13:40:54Z</dcterms:created>
  <dcterms:modified xsi:type="dcterms:W3CDTF">2024-09-16T16:29:42Z</dcterms:modified>
</cp:coreProperties>
</file>