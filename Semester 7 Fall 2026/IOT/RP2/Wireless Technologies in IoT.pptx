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2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9" r:id="rId3"/>
    <p:sldId id="261" r:id="rId4"/>
    <p:sldId id="278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81" r:id="rId14"/>
    <p:sldId id="274" r:id="rId15"/>
    <p:sldId id="277" r:id="rId16"/>
    <p:sldId id="276" r:id="rId17"/>
    <p:sldId id="275" r:id="rId18"/>
    <p:sldId id="263" r:id="rId19"/>
    <p:sldId id="273" r:id="rId20"/>
    <p:sldId id="265" r:id="rId21"/>
    <p:sldId id="268" r:id="rId2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7" d="100"/>
          <a:sy n="117" d="100"/>
        </p:scale>
        <p:origin x="294" y="10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4EB7-856E-45FD-83F0-5F7C6F3E4372}" type="datetimeFigureOut">
              <a:rPr lang="en-US"/>
              <a:t>10/26/2026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86E15-F82A-4596-A46C-375C6D3981E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0E40-8125-41F8-BB6C-139D8D531A4F}" type="datetimeFigureOut">
              <a:rPr lang="en-US"/>
              <a:t>10/26/2026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05DB2-FD3E-441D-8B7E-7AE83ECE27B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block"/>
          <p:cNvSpPr/>
          <p:nvPr/>
        </p:nvSpPr>
        <p:spPr bwMode="white">
          <a:xfrm>
            <a:off x="1141413" y="1600200"/>
            <a:ext cx="990295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top graphic" descr="Top border design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tangle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bottom graphic" descr="Bottom border design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tangle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1522414" y="1905000"/>
            <a:ext cx="9143998" cy="2667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029200"/>
            <a:ext cx="8229598" cy="838200"/>
          </a:xfr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93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64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76800"/>
            <a:ext cx="8229598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872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49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606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4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4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76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19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ottom graphic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961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930" y="1293495"/>
            <a:ext cx="5577840" cy="40233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69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86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71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84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782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4507" y="609600"/>
            <a:ext cx="1143001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609600"/>
            <a:ext cx="7696198" cy="5410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10/26/2026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032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ottom graphic" descr="Bottom border design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top graphic" descr="Top border design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tangle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8E36636D-D922-432D-A958-524484B5923D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4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thingsnetwork.org/docs/lorawan/what-is-lorawan/" TargetMode="External"/><Relationship Id="rId2" Type="http://schemas.openxmlformats.org/officeDocument/2006/relationships/hyperlink" Target="https://homey.app/en-ca/wiki/what-is-z-wave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ibm.com/think/topics/lidar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Wireless Technologies in IoT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List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your first bullet point here</a:t>
            </a:r>
          </a:p>
          <a:p>
            <a:r>
              <a:rPr lang="en-US" dirty="0"/>
              <a:t>Add your second bullet point here</a:t>
            </a:r>
          </a:p>
          <a:p>
            <a:r>
              <a:rPr lang="en-US" dirty="0"/>
              <a:t>Add your third bullet point here</a:t>
            </a:r>
          </a:p>
        </p:txBody>
      </p:sp>
    </p:spTree>
    <p:extLst>
      <p:ext uri="{BB962C8B-B14F-4D97-AF65-F5344CB8AC3E}">
        <p14:creationId xmlns:p14="http://schemas.microsoft.com/office/powerpoint/2010/main" val="27230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118A15-9930-400A-BD5F-1D073D07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ZigBee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F8F488-EFFA-43C0-9C0E-CD085E452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35A455-1774-481A-B17A-E7EAE3952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14477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Low-power wireless communication protocol designed for sensor networks, monitoring, and automation. Based on IEEE 802.15.4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3F94DB2-2A19-00D9-DA20-7359F194202E}"/>
              </a:ext>
            </a:extLst>
          </p:cNvPr>
          <p:cNvSpPr txBox="1">
            <a:spLocks/>
          </p:cNvSpPr>
          <p:nvPr/>
        </p:nvSpPr>
        <p:spPr>
          <a:xfrm>
            <a:off x="15224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Main Components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8DE8138F-A61A-C555-824F-630444DCD8DD}"/>
              </a:ext>
            </a:extLst>
          </p:cNvPr>
          <p:cNvSpPr txBox="1">
            <a:spLocks/>
          </p:cNvSpPr>
          <p:nvPr/>
        </p:nvSpPr>
        <p:spPr>
          <a:xfrm>
            <a:off x="1522412" y="4572002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Coordinator: creates and manages the network</a:t>
            </a:r>
          </a:p>
          <a:p>
            <a:r>
              <a:rPr lang="en-US" dirty="0"/>
              <a:t>Router: Forwards data between devices</a:t>
            </a:r>
          </a:p>
          <a:p>
            <a:r>
              <a:rPr lang="en-US" dirty="0"/>
              <a:t>End Device: Collects Data or performs actions, often using a battery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2E2E212-5178-7D86-08A5-FF2E8C51705A}"/>
              </a:ext>
            </a:extLst>
          </p:cNvPr>
          <p:cNvSpPr txBox="1">
            <a:spLocks/>
          </p:cNvSpPr>
          <p:nvPr/>
        </p:nvSpPr>
        <p:spPr>
          <a:xfrm>
            <a:off x="6246813" y="1828800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Architecture and Design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A4294AE-888C-FD2E-8F43-A1803CEB85A7}"/>
              </a:ext>
            </a:extLst>
          </p:cNvPr>
          <p:cNvSpPr txBox="1">
            <a:spLocks/>
          </p:cNvSpPr>
          <p:nvPr/>
        </p:nvSpPr>
        <p:spPr>
          <a:xfrm>
            <a:off x="6246813" y="2590801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Star, tree, mesh network topologies</a:t>
            </a:r>
          </a:p>
          <a:p>
            <a:r>
              <a:rPr lang="en-US" dirty="0"/>
              <a:t>2.4GHz</a:t>
            </a:r>
          </a:p>
          <a:p>
            <a:r>
              <a:rPr lang="en-US" dirty="0"/>
              <a:t>Low data rates, suitable for small sensor messages</a:t>
            </a:r>
          </a:p>
          <a:p>
            <a:r>
              <a:rPr lang="en-US" dirty="0"/>
              <a:t>AES-128 encryption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B7B371A-B541-E25B-EEFB-F825E1908E52}"/>
              </a:ext>
            </a:extLst>
          </p:cNvPr>
          <p:cNvSpPr txBox="1">
            <a:spLocks/>
          </p:cNvSpPr>
          <p:nvPr/>
        </p:nvSpPr>
        <p:spPr>
          <a:xfrm>
            <a:off x="62468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Applications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01F43FCF-E0E8-037C-8B45-F2C7D5DB4C54}"/>
              </a:ext>
            </a:extLst>
          </p:cNvPr>
          <p:cNvSpPr txBox="1">
            <a:spLocks/>
          </p:cNvSpPr>
          <p:nvPr/>
        </p:nvSpPr>
        <p:spPr>
          <a:xfrm>
            <a:off x="6246812" y="4572002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Smart lighting and thermostats</a:t>
            </a:r>
          </a:p>
          <a:p>
            <a:r>
              <a:rPr lang="en-US" dirty="0"/>
              <a:t>Motion and door sensors</a:t>
            </a:r>
          </a:p>
          <a:p>
            <a:r>
              <a:rPr lang="en-US" dirty="0"/>
              <a:t>Smart energy meters</a:t>
            </a:r>
          </a:p>
          <a:p>
            <a:r>
              <a:rPr lang="en-US" dirty="0"/>
              <a:t>Building </a:t>
            </a:r>
            <a:r>
              <a:rPr lang="en-US" dirty="0" err="1"/>
              <a:t>autmation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14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7A0D-695B-CB28-4917-7461E500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667446-6A8D-4938-E853-0830D025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2" y="609600"/>
            <a:ext cx="9143538" cy="1066800"/>
          </a:xfrm>
        </p:spPr>
        <p:txBody>
          <a:bodyPr/>
          <a:lstStyle/>
          <a:p>
            <a:r>
              <a:rPr lang="en-US" dirty="0"/>
              <a:t>ZigBee (Cont’d)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B90D02-9917-B06A-D28E-24723A8FD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 and Cons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FDE575C-0B3A-CB81-F128-68ADDB170C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Pros</a:t>
            </a:r>
          </a:p>
          <a:p>
            <a:r>
              <a:rPr lang="en-US"/>
              <a:t>Low power consumption and long battery life</a:t>
            </a:r>
          </a:p>
          <a:p>
            <a:r>
              <a:rPr lang="en-US"/>
              <a:t>Mesh networking (extends range)</a:t>
            </a:r>
          </a:p>
          <a:p>
            <a:r>
              <a:rPr lang="en-US"/>
              <a:t>Supports many devices in one network</a:t>
            </a:r>
          </a:p>
          <a:p>
            <a:r>
              <a:rPr lang="en-US"/>
              <a:t>Large ecosystem of compatible products</a:t>
            </a:r>
          </a:p>
          <a:p>
            <a:pPr marL="0" indent="0">
              <a:buNone/>
            </a:pPr>
            <a:r>
              <a:rPr lang="en-US"/>
              <a:t>Cons</a:t>
            </a:r>
          </a:p>
          <a:p>
            <a:r>
              <a:rPr lang="en-US"/>
              <a:t>Limited bandwidth compared to Wi-Fi and mobile data</a:t>
            </a:r>
          </a:p>
          <a:p>
            <a:r>
              <a:rPr lang="en-US"/>
              <a:t>2.4 GHz Interference</a:t>
            </a:r>
          </a:p>
          <a:p>
            <a:r>
              <a:rPr lang="en-US"/>
              <a:t>Compatibility depends on the product profile and supported features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65C806E-5976-E861-7E08-214F5A369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Company and Product example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5E6CE2E-8A43-2FB7-9660-5E704AB3C78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Company: Signify / Philips Hue</a:t>
            </a:r>
          </a:p>
          <a:p>
            <a:r>
              <a:rPr lang="en-US" dirty="0"/>
              <a:t>Product: Philips Hue Bridge</a:t>
            </a:r>
          </a:p>
          <a:p>
            <a:pPr lvl="1"/>
            <a:r>
              <a:rPr lang="en-US" dirty="0"/>
              <a:t>Connects compatible smart lights using ZigBee</a:t>
            </a:r>
          </a:p>
          <a:p>
            <a:pPr lvl="1"/>
            <a:r>
              <a:rPr lang="en-US" dirty="0"/>
              <a:t>Connects the lighting system to a home network</a:t>
            </a:r>
          </a:p>
          <a:p>
            <a:pPr lvl="1"/>
            <a:r>
              <a:rPr lang="en-US" dirty="0"/>
              <a:t>Supports lighting automation and app-based control</a:t>
            </a:r>
          </a:p>
          <a:p>
            <a:pPr lvl="1"/>
            <a:r>
              <a:rPr lang="en-US" dirty="0"/>
              <a:t>Supports up to 50 bulbs on the standard Bridge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088CF-5639-D2F5-DC4C-41D7F3E44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89" t="15079" r="13888" b="12698"/>
          <a:stretch>
            <a:fillRect/>
          </a:stretch>
        </p:blipFill>
        <p:spPr>
          <a:xfrm>
            <a:off x="7313612" y="4114800"/>
            <a:ext cx="1981200" cy="198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7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FD75-C4E7-DAD9-38C3-75C480FC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A7551E-A31F-DF0E-AECC-EF2B6FEAB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Z-Wave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0F0646-E391-5342-0E4E-3A45205BB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7DD6F9-C28E-416B-1ED4-944CF275B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1447799"/>
          </a:xfrm>
        </p:spPr>
        <p:txBody>
          <a:bodyPr>
            <a:normAutofit/>
          </a:bodyPr>
          <a:lstStyle/>
          <a:p>
            <a:r>
              <a:rPr lang="en-US" dirty="0"/>
              <a:t>Wireless communications protocol used primarily for home automation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C2AFE4C-5DE0-49BA-7641-1BCC5F8973E5}"/>
              </a:ext>
            </a:extLst>
          </p:cNvPr>
          <p:cNvSpPr txBox="1">
            <a:spLocks/>
          </p:cNvSpPr>
          <p:nvPr/>
        </p:nvSpPr>
        <p:spPr>
          <a:xfrm>
            <a:off x="15224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Main Components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80E91B8-0472-75F3-CDA5-E98EE26ED7E9}"/>
              </a:ext>
            </a:extLst>
          </p:cNvPr>
          <p:cNvSpPr txBox="1">
            <a:spLocks/>
          </p:cNvSpPr>
          <p:nvPr/>
        </p:nvSpPr>
        <p:spPr>
          <a:xfrm>
            <a:off x="1522412" y="4572002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Controller: Network Administrator</a:t>
            </a:r>
          </a:p>
          <a:p>
            <a:r>
              <a:rPr lang="en-US" dirty="0"/>
              <a:t>Routing Nodes: Extensions</a:t>
            </a:r>
          </a:p>
          <a:p>
            <a:r>
              <a:rPr lang="en-US" dirty="0"/>
              <a:t>End Nodes: End Devices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1A17BD9-4F03-09F0-FD70-1F3528659C6F}"/>
              </a:ext>
            </a:extLst>
          </p:cNvPr>
          <p:cNvSpPr txBox="1">
            <a:spLocks/>
          </p:cNvSpPr>
          <p:nvPr/>
        </p:nvSpPr>
        <p:spPr>
          <a:xfrm>
            <a:off x="6246813" y="1828800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Architecture and Design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AE5CAD29-0401-988A-9D05-8AFC0A50CAEE}"/>
              </a:ext>
            </a:extLst>
          </p:cNvPr>
          <p:cNvSpPr txBox="1">
            <a:spLocks/>
          </p:cNvSpPr>
          <p:nvPr/>
        </p:nvSpPr>
        <p:spPr>
          <a:xfrm>
            <a:off x="6246813" y="2590801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Mesh Network</a:t>
            </a:r>
          </a:p>
          <a:p>
            <a:r>
              <a:rPr lang="en-US" dirty="0"/>
              <a:t>Regional sub-GHz frequency bands</a:t>
            </a:r>
          </a:p>
          <a:p>
            <a:r>
              <a:rPr lang="en-US" dirty="0"/>
              <a:t>Avoids 2.4GHz interference compared to Wi-Fi and ZigBee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9C1E0EB-E983-63FE-F90A-DE0F7735A5AF}"/>
              </a:ext>
            </a:extLst>
          </p:cNvPr>
          <p:cNvSpPr txBox="1">
            <a:spLocks/>
          </p:cNvSpPr>
          <p:nvPr/>
        </p:nvSpPr>
        <p:spPr>
          <a:xfrm>
            <a:off x="62468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Applications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0A10CFC9-5C0C-047F-4133-DE797FD7B3C2}"/>
              </a:ext>
            </a:extLst>
          </p:cNvPr>
          <p:cNvSpPr txBox="1">
            <a:spLocks/>
          </p:cNvSpPr>
          <p:nvPr/>
        </p:nvSpPr>
        <p:spPr>
          <a:xfrm>
            <a:off x="6246812" y="4572002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Smart door locks and alarms</a:t>
            </a:r>
          </a:p>
          <a:p>
            <a:r>
              <a:rPr lang="en-US" dirty="0"/>
              <a:t>Home Lighting and switches</a:t>
            </a:r>
          </a:p>
          <a:p>
            <a:r>
              <a:rPr lang="en-US" dirty="0"/>
              <a:t>Temperature and environmental sensors</a:t>
            </a:r>
          </a:p>
          <a:p>
            <a:r>
              <a:rPr lang="en-US" dirty="0"/>
              <a:t>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104878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8029-92D6-BD08-A971-80E065CD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B8F6B4E-0D8C-C3AC-4D5E-ADA7046A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2" y="609600"/>
            <a:ext cx="9143538" cy="1066800"/>
          </a:xfrm>
        </p:spPr>
        <p:txBody>
          <a:bodyPr/>
          <a:lstStyle/>
          <a:p>
            <a:r>
              <a:rPr lang="en-US" dirty="0"/>
              <a:t>Z-Wave (Cont’d)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EF1B21-16B7-9143-D0C6-8916A03B3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 and Cons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5F326B-C414-2475-B8D1-D91205621C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Pros</a:t>
            </a:r>
          </a:p>
          <a:p>
            <a:r>
              <a:rPr lang="en-US" dirty="0"/>
              <a:t>Lower power for battery devices</a:t>
            </a:r>
          </a:p>
          <a:p>
            <a:r>
              <a:rPr lang="en-US" dirty="0"/>
              <a:t>Sub-</a:t>
            </a:r>
            <a:r>
              <a:rPr lang="en-US" dirty="0" err="1"/>
              <a:t>Ghz</a:t>
            </a:r>
            <a:r>
              <a:rPr lang="en-US" dirty="0"/>
              <a:t> range</a:t>
            </a:r>
          </a:p>
          <a:p>
            <a:r>
              <a:rPr lang="en-US" dirty="0"/>
              <a:t>Mesh Networking</a:t>
            </a:r>
          </a:p>
          <a:p>
            <a:r>
              <a:rPr lang="en-US" dirty="0"/>
              <a:t>Two-way Feedback between devices</a:t>
            </a:r>
          </a:p>
          <a:p>
            <a:r>
              <a:rPr lang="en-US" dirty="0"/>
              <a:t>Interoperability</a:t>
            </a:r>
          </a:p>
          <a:p>
            <a:pPr marL="0" indent="0">
              <a:buNone/>
            </a:pPr>
            <a:r>
              <a:rPr lang="en-US" dirty="0"/>
              <a:t>Cons</a:t>
            </a:r>
          </a:p>
          <a:p>
            <a:r>
              <a:rPr lang="en-US" dirty="0"/>
              <a:t>Higher Device Costs</a:t>
            </a:r>
          </a:p>
          <a:p>
            <a:r>
              <a:rPr lang="en-US" dirty="0"/>
              <a:t>Smaller Device Selection</a:t>
            </a:r>
          </a:p>
          <a:p>
            <a:r>
              <a:rPr lang="en-US" dirty="0"/>
              <a:t>Regional Frequency differences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C35638-51FA-5013-4B52-9F1091AB5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Company and Product example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A303D1A-D191-66BC-0D00-36D35DBBAE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Company: </a:t>
            </a:r>
            <a:r>
              <a:rPr lang="en-US" dirty="0" err="1"/>
              <a:t>Aeotec</a:t>
            </a:r>
            <a:endParaRPr lang="en-US" dirty="0"/>
          </a:p>
          <a:p>
            <a:r>
              <a:rPr lang="en-US" dirty="0"/>
              <a:t>Product: </a:t>
            </a:r>
            <a:r>
              <a:rPr lang="en-US" dirty="0" err="1"/>
              <a:t>Aeotec</a:t>
            </a:r>
            <a:r>
              <a:rPr lang="en-US" dirty="0"/>
              <a:t> Smart Home Hub</a:t>
            </a:r>
          </a:p>
          <a:p>
            <a:pPr lvl="1"/>
            <a:r>
              <a:rPr lang="en-US" dirty="0"/>
              <a:t>Connects supported Z-Wave Zigbee devices</a:t>
            </a:r>
          </a:p>
          <a:p>
            <a:pPr lvl="1"/>
            <a:r>
              <a:rPr lang="en-US" dirty="0"/>
              <a:t>Integrates with SmartThings platform</a:t>
            </a:r>
          </a:p>
          <a:p>
            <a:pPr lvl="1"/>
            <a:r>
              <a:rPr lang="en-US" dirty="0"/>
              <a:t>Supports smart-home automations and notifications</a:t>
            </a:r>
          </a:p>
          <a:p>
            <a:pPr lvl="1"/>
            <a:r>
              <a:rPr lang="en-US" dirty="0"/>
              <a:t>Allows compatible devices form different product categories to work together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D3CE2-7BE5-0637-7F97-56E844D446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 t="21201" r="5200" b="19600"/>
          <a:stretch>
            <a:fillRect/>
          </a:stretch>
        </p:blipFill>
        <p:spPr>
          <a:xfrm>
            <a:off x="6932612" y="4184197"/>
            <a:ext cx="3124199" cy="20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39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4B95-21A2-A8BE-17CD-67A977EF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84A417-4335-C6A9-1588-F69218A7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LoRaWAN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D3FC25-5F03-9F87-634D-21DE92CC7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C1E436-A062-2B5A-EF74-186A78D86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144779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MAC layer protocol build on top of LoRa modulation, which defines how devices use the LoRa hardware</a:t>
            </a:r>
          </a:p>
          <a:p>
            <a:r>
              <a:rPr lang="en-US" dirty="0"/>
              <a:t>LoRa: Wireless modulation technique from Chirp Spread Spectrum (CSS), encoding information on radio waves using chirp pulses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57D5F38-0BA5-B164-B334-31EA6E141655}"/>
              </a:ext>
            </a:extLst>
          </p:cNvPr>
          <p:cNvSpPr txBox="1">
            <a:spLocks/>
          </p:cNvSpPr>
          <p:nvPr/>
        </p:nvSpPr>
        <p:spPr>
          <a:xfrm>
            <a:off x="15224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Main Components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CA5025AB-CAC6-F747-A780-77D1E0F462D5}"/>
              </a:ext>
            </a:extLst>
          </p:cNvPr>
          <p:cNvSpPr txBox="1">
            <a:spLocks/>
          </p:cNvSpPr>
          <p:nvPr/>
        </p:nvSpPr>
        <p:spPr>
          <a:xfrm>
            <a:off x="1522411" y="4572002"/>
            <a:ext cx="4572001" cy="1447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End Devices: Sensors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Gateways: Receives and Sends data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Network Server: Manages network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Application Servers: Securely processing application data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Join Servers: Processes join-request messages sent by end devices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FDFA880-8DC2-FAFB-CDC1-658277843D63}"/>
              </a:ext>
            </a:extLst>
          </p:cNvPr>
          <p:cNvSpPr txBox="1">
            <a:spLocks/>
          </p:cNvSpPr>
          <p:nvPr/>
        </p:nvSpPr>
        <p:spPr>
          <a:xfrm>
            <a:off x="6246813" y="1828800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Architecture and Design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A5F4DC0-9B16-60DA-2B34-266459863241}"/>
              </a:ext>
            </a:extLst>
          </p:cNvPr>
          <p:cNvSpPr txBox="1">
            <a:spLocks/>
          </p:cNvSpPr>
          <p:nvPr/>
        </p:nvSpPr>
        <p:spPr>
          <a:xfrm>
            <a:off x="6246813" y="2590801"/>
            <a:ext cx="54101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Star of stars topology central nodes having their own central nodes</a:t>
            </a:r>
          </a:p>
          <a:p>
            <a:r>
              <a:rPr lang="en-US" dirty="0"/>
              <a:t>LoRa modulation</a:t>
            </a:r>
          </a:p>
          <a:p>
            <a:r>
              <a:rPr lang="en-US" dirty="0"/>
              <a:t>Gateways relay messages between devices and network servers</a:t>
            </a:r>
          </a:p>
          <a:p>
            <a:r>
              <a:rPr lang="en-US" dirty="0"/>
              <a:t>Optimized for small, occasional data transmissions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637AAD1-ECDD-EB46-C807-90EA1334E9F5}"/>
              </a:ext>
            </a:extLst>
          </p:cNvPr>
          <p:cNvSpPr txBox="1">
            <a:spLocks/>
          </p:cNvSpPr>
          <p:nvPr/>
        </p:nvSpPr>
        <p:spPr>
          <a:xfrm>
            <a:off x="62468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Applications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DD8A6C57-863B-E743-B291-71D916FE7F1A}"/>
              </a:ext>
            </a:extLst>
          </p:cNvPr>
          <p:cNvSpPr txBox="1">
            <a:spLocks/>
          </p:cNvSpPr>
          <p:nvPr/>
        </p:nvSpPr>
        <p:spPr>
          <a:xfrm>
            <a:off x="6246812" y="4572002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Smart agriculture and soil monitoring</a:t>
            </a:r>
          </a:p>
          <a:p>
            <a:r>
              <a:rPr lang="en-US" dirty="0"/>
              <a:t>Water and electricity meters</a:t>
            </a:r>
          </a:p>
          <a:p>
            <a:r>
              <a:rPr lang="en-US" dirty="0"/>
              <a:t>Smart city infrastructure</a:t>
            </a:r>
          </a:p>
          <a:p>
            <a:r>
              <a:rPr lang="en-US" dirty="0"/>
              <a:t>Asset and environmental</a:t>
            </a:r>
          </a:p>
        </p:txBody>
      </p:sp>
    </p:spTree>
    <p:extLst>
      <p:ext uri="{BB962C8B-B14F-4D97-AF65-F5344CB8AC3E}">
        <p14:creationId xmlns:p14="http://schemas.microsoft.com/office/powerpoint/2010/main" val="4083774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E91E4-4045-537A-9933-41FF013E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A26C23D-2E5F-02C2-7249-F84AA630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2" y="609600"/>
            <a:ext cx="9143538" cy="1066800"/>
          </a:xfrm>
        </p:spPr>
        <p:txBody>
          <a:bodyPr/>
          <a:lstStyle/>
          <a:p>
            <a:r>
              <a:rPr lang="en-US" dirty="0" err="1"/>
              <a:t>LoRaWAN</a:t>
            </a:r>
            <a:r>
              <a:rPr lang="en-US" dirty="0"/>
              <a:t> (Cont’d)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C3E7E6-55AE-4239-9634-DD3E21E0D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8D792D-8EF5-F771-C62D-2F069D6D46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Pros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Long range: multiple kilometers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Low power: can last years on battery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Low cost: less than 20 euros (~$30 CAD)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Low bandwidth: 902-928 MHz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Able to create own gateways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Cons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Low data throughput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Struggles with large files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Gateway placement </a:t>
            </a:r>
            <a:r>
              <a:rPr lang="en-US" dirty="0" err="1"/>
              <a:t>dependant</a:t>
            </a: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Requires network server and good coverage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468694-51A6-E5CB-0FFD-7234606BF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Company and Product example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3049EF6-9017-3862-7120-F9C72CDCDEA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Company: </a:t>
            </a:r>
            <a:r>
              <a:rPr lang="en-US" dirty="0" err="1"/>
              <a:t>Milesight</a:t>
            </a:r>
            <a:endParaRPr lang="en-US" dirty="0"/>
          </a:p>
          <a:p>
            <a:r>
              <a:rPr lang="en-US" dirty="0"/>
              <a:t>Product: </a:t>
            </a:r>
            <a:r>
              <a:rPr lang="en-US" dirty="0" err="1"/>
              <a:t>Milesight</a:t>
            </a:r>
            <a:r>
              <a:rPr lang="en-US" dirty="0"/>
              <a:t> UG65 </a:t>
            </a:r>
            <a:r>
              <a:rPr lang="en-US" dirty="0" err="1"/>
              <a:t>LoRaWAN</a:t>
            </a:r>
            <a:r>
              <a:rPr lang="en-US" dirty="0"/>
              <a:t> Gateway</a:t>
            </a:r>
          </a:p>
          <a:p>
            <a:pPr lvl="1"/>
            <a:r>
              <a:rPr lang="en-US" dirty="0" err="1"/>
              <a:t>Recives</a:t>
            </a:r>
            <a:r>
              <a:rPr lang="en-US" dirty="0"/>
              <a:t> messages from </a:t>
            </a:r>
            <a:r>
              <a:rPr lang="en-US" dirty="0" err="1"/>
              <a:t>LoRaWAN</a:t>
            </a:r>
            <a:r>
              <a:rPr lang="en-US" dirty="0"/>
              <a:t> devices</a:t>
            </a:r>
          </a:p>
          <a:p>
            <a:pPr lvl="1"/>
            <a:r>
              <a:rPr lang="en-US" dirty="0"/>
              <a:t>Forwards data to a network server through IP connection</a:t>
            </a:r>
          </a:p>
          <a:p>
            <a:pPr lvl="1"/>
            <a:r>
              <a:rPr lang="en-US" dirty="0"/>
              <a:t>Provides bridge between sensor networks and IoT applications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BB5FFC-E4D6-FB16-629A-30C039420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412" y="3352800"/>
            <a:ext cx="3656012" cy="36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35E0-EB1C-A590-1A4B-A214AB58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1F88C9-3FB9-2F4A-A209-A0C521DB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LiDAR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63AAA-3C82-D92A-6CAC-7C696E0B0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A5433CB-BB21-9611-F474-6B99069E4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14477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Light Detection and Ranging: Remote-sensing method that uses laser beams to measure precise distances and movement in real time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1704D0D-ABCE-9334-0331-60F95A22A2A3}"/>
              </a:ext>
            </a:extLst>
          </p:cNvPr>
          <p:cNvSpPr txBox="1">
            <a:spLocks/>
          </p:cNvSpPr>
          <p:nvPr/>
        </p:nvSpPr>
        <p:spPr>
          <a:xfrm>
            <a:off x="15224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Main Components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DF8802F4-EFBB-301E-1F98-FA7638EF6C2B}"/>
              </a:ext>
            </a:extLst>
          </p:cNvPr>
          <p:cNvSpPr txBox="1">
            <a:spLocks/>
          </p:cNvSpPr>
          <p:nvPr/>
        </p:nvSpPr>
        <p:spPr>
          <a:xfrm>
            <a:off x="1522411" y="4572002"/>
            <a:ext cx="4572001" cy="1447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Laser scanner: emits rapid pulses of near-infrared laser light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LiDAR sensor: Detects and collects returning light pulses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Processor: Calculates the time and distance + building resultant data set, aka LiDAR point cloud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99B4E02-3F67-A69F-C714-005410F9CB0A}"/>
              </a:ext>
            </a:extLst>
          </p:cNvPr>
          <p:cNvSpPr txBox="1">
            <a:spLocks/>
          </p:cNvSpPr>
          <p:nvPr/>
        </p:nvSpPr>
        <p:spPr>
          <a:xfrm>
            <a:off x="6246813" y="1828800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Architecture and Design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04071412-44F3-7231-6171-B0AE77D79D00}"/>
              </a:ext>
            </a:extLst>
          </p:cNvPr>
          <p:cNvSpPr txBox="1">
            <a:spLocks/>
          </p:cNvSpPr>
          <p:nvPr/>
        </p:nvSpPr>
        <p:spPr>
          <a:xfrm>
            <a:off x="6246813" y="2590801"/>
            <a:ext cx="54101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Laser hits an object</a:t>
            </a:r>
          </a:p>
          <a:p>
            <a:r>
              <a:rPr lang="en-US" dirty="0"/>
              <a:t>Sensor detects this</a:t>
            </a:r>
          </a:p>
          <a:p>
            <a:r>
              <a:rPr lang="en-US" dirty="0"/>
              <a:t>Processor calculates the distance</a:t>
            </a:r>
          </a:p>
          <a:p>
            <a:r>
              <a:rPr lang="en-US" dirty="0"/>
              <a:t>Multiple rounds of this creates a 3D point cloud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95D344D-3EA9-D3B4-DE32-99BE5286C7BA}"/>
              </a:ext>
            </a:extLst>
          </p:cNvPr>
          <p:cNvSpPr txBox="1">
            <a:spLocks/>
          </p:cNvSpPr>
          <p:nvPr/>
        </p:nvSpPr>
        <p:spPr>
          <a:xfrm>
            <a:off x="62468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Applications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D9C1A119-5B44-D7F6-2194-269B70B6D942}"/>
              </a:ext>
            </a:extLst>
          </p:cNvPr>
          <p:cNvSpPr txBox="1">
            <a:spLocks/>
          </p:cNvSpPr>
          <p:nvPr/>
        </p:nvSpPr>
        <p:spPr>
          <a:xfrm>
            <a:off x="6246812" y="4572002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Agriculture</a:t>
            </a:r>
          </a:p>
          <a:p>
            <a:r>
              <a:rPr lang="en-US" dirty="0"/>
              <a:t>Aerospace and Defense</a:t>
            </a:r>
          </a:p>
          <a:p>
            <a:r>
              <a:rPr lang="en-US" dirty="0"/>
              <a:t>Automotive</a:t>
            </a:r>
          </a:p>
          <a:p>
            <a:r>
              <a:rPr lang="en-US" dirty="0"/>
              <a:t>Aviation</a:t>
            </a:r>
          </a:p>
        </p:txBody>
      </p:sp>
    </p:spTree>
    <p:extLst>
      <p:ext uri="{BB962C8B-B14F-4D97-AF65-F5344CB8AC3E}">
        <p14:creationId xmlns:p14="http://schemas.microsoft.com/office/powerpoint/2010/main" val="4044157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2934-FF00-C407-7059-8E5444269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AD5F7-6C1D-0F37-E1B6-FB25F6A4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2" y="609600"/>
            <a:ext cx="9143538" cy="1066800"/>
          </a:xfrm>
        </p:spPr>
        <p:txBody>
          <a:bodyPr/>
          <a:lstStyle/>
          <a:p>
            <a:r>
              <a:rPr lang="en-US" dirty="0"/>
              <a:t>LiDAR (Cont’d)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F58DD4-45B5-2754-2C91-A105BA6D1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BCBBD6-0D8B-0BCD-3559-133D32C82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2" y="2514601"/>
            <a:ext cx="7086599" cy="51816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Pros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Accurate distance measurements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Detailed 3D environmental data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Useful for mapping and obstacle detection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Can operate in low-light conditions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/>
              <a:t>Cons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Can be expensive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Fog, heavy rain, dust, and obstructions can affect measurements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Requires processing power and calibration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Sensing technology rather than a wireless communication protocol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122726-BAA8-36F8-1DAE-3DF885627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Company and Product example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A3B7894-C821-40C6-D88A-7BB48AF28A1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Company: Ouster</a:t>
            </a:r>
          </a:p>
          <a:p>
            <a:r>
              <a:rPr lang="en-US" dirty="0"/>
              <a:t>Product: OS0 </a:t>
            </a:r>
            <a:r>
              <a:rPr lang="en-US" dirty="0" err="1"/>
              <a:t>liDAR</a:t>
            </a:r>
            <a:endParaRPr lang="en-US" dirty="0"/>
          </a:p>
          <a:p>
            <a:pPr lvl="1"/>
            <a:r>
              <a:rPr lang="en-US" dirty="0"/>
              <a:t>Ultra-wide field of view</a:t>
            </a:r>
          </a:p>
          <a:p>
            <a:pPr lvl="1"/>
            <a:r>
              <a:rPr lang="en-US" dirty="0"/>
              <a:t>Produces 3D point-cloud data</a:t>
            </a:r>
          </a:p>
          <a:p>
            <a:pPr lvl="1"/>
            <a:r>
              <a:rPr lang="en-US" dirty="0"/>
              <a:t>Designed for short-range perception</a:t>
            </a:r>
          </a:p>
          <a:p>
            <a:pPr lvl="1"/>
            <a:r>
              <a:rPr lang="en-US" dirty="0"/>
              <a:t>Used in Robotics and industrial automation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10E711-30A4-6BF7-F993-EED784194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12" y="3561695"/>
            <a:ext cx="3087411" cy="308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81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F6460-B9BD-BF8A-B801-9F630353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0B7BDCD-3716-FC61-5C6B-27656AF7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Li-Fi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6F7009-7707-42B4-BC95-443DBF3E3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4619D80-E529-CAFD-B4EF-22CDA0D7A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1447799"/>
          </a:xfrm>
        </p:spPr>
        <p:txBody>
          <a:bodyPr>
            <a:normAutofit/>
          </a:bodyPr>
          <a:lstStyle/>
          <a:p>
            <a:r>
              <a:rPr lang="en-US" dirty="0"/>
              <a:t>Light Fidelity: Wireless networking technology that uses light to transmit data and provide network connectivity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AAB9648-0E00-1616-22D9-8868989C699F}"/>
              </a:ext>
            </a:extLst>
          </p:cNvPr>
          <p:cNvSpPr txBox="1">
            <a:spLocks/>
          </p:cNvSpPr>
          <p:nvPr/>
        </p:nvSpPr>
        <p:spPr>
          <a:xfrm>
            <a:off x="15224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Main Components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C476F339-61ED-E4DC-8AA5-6A34CF39E66E}"/>
              </a:ext>
            </a:extLst>
          </p:cNvPr>
          <p:cNvSpPr txBox="1">
            <a:spLocks/>
          </p:cNvSpPr>
          <p:nvPr/>
        </p:nvSpPr>
        <p:spPr>
          <a:xfrm>
            <a:off x="1522411" y="4572002"/>
            <a:ext cx="4572001" cy="1447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Data Source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LED transmitter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Light communication channel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1200" dirty="0"/>
              <a:t>Photodetector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75BE940-C588-D384-6BC0-B4757336E871}"/>
              </a:ext>
            </a:extLst>
          </p:cNvPr>
          <p:cNvSpPr txBox="1">
            <a:spLocks/>
          </p:cNvSpPr>
          <p:nvPr/>
        </p:nvSpPr>
        <p:spPr>
          <a:xfrm>
            <a:off x="6246813" y="1828800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Architecture and Design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DF77961-7204-920B-0949-55F03156150F}"/>
              </a:ext>
            </a:extLst>
          </p:cNvPr>
          <p:cNvSpPr txBox="1">
            <a:spLocks/>
          </p:cNvSpPr>
          <p:nvPr/>
        </p:nvSpPr>
        <p:spPr>
          <a:xfrm>
            <a:off x="6246813" y="2590801"/>
            <a:ext cx="54101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70000"/>
              </a:lnSpc>
              <a:spcBef>
                <a:spcPts val="0"/>
              </a:spcBef>
            </a:pPr>
            <a:r>
              <a:rPr lang="en-US" dirty="0"/>
              <a:t>Star / Peer-to-Peer Topology</a:t>
            </a:r>
          </a:p>
          <a:p>
            <a:pPr lvl="0">
              <a:lnSpc>
                <a:spcPct val="170000"/>
              </a:lnSpc>
              <a:spcBef>
                <a:spcPts val="0"/>
              </a:spcBef>
            </a:pPr>
            <a:r>
              <a:rPr lang="en-US" dirty="0"/>
              <a:t>Compliments with Wi-Fi / Cellular network</a:t>
            </a:r>
          </a:p>
          <a:p>
            <a:pPr lvl="0">
              <a:lnSpc>
                <a:spcPct val="170000"/>
              </a:lnSpc>
              <a:spcBef>
                <a:spcPts val="0"/>
              </a:spcBef>
            </a:pPr>
            <a:r>
              <a:rPr lang="en-US" dirty="0"/>
              <a:t>Data is encoded into </a:t>
            </a:r>
            <a:r>
              <a:rPr lang="en-US" dirty="0" err="1"/>
              <a:t>raplidly</a:t>
            </a:r>
            <a:r>
              <a:rPr lang="en-US" dirty="0"/>
              <a:t> changing light signals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400550-73F7-13F0-EACA-4B7D4E4CAD47}"/>
              </a:ext>
            </a:extLst>
          </p:cNvPr>
          <p:cNvSpPr txBox="1">
            <a:spLocks/>
          </p:cNvSpPr>
          <p:nvPr/>
        </p:nvSpPr>
        <p:spPr>
          <a:xfrm>
            <a:off x="6246812" y="3810001"/>
            <a:ext cx="4419599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Applications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A1C9C324-A1B2-48D9-43DC-F2F40672CC68}"/>
              </a:ext>
            </a:extLst>
          </p:cNvPr>
          <p:cNvSpPr txBox="1">
            <a:spLocks/>
          </p:cNvSpPr>
          <p:nvPr/>
        </p:nvSpPr>
        <p:spPr>
          <a:xfrm>
            <a:off x="6246812" y="4572002"/>
            <a:ext cx="4419599" cy="1447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Indoor office networking</a:t>
            </a:r>
          </a:p>
          <a:p>
            <a:r>
              <a:rPr lang="en-US" dirty="0"/>
              <a:t>Hospitals</a:t>
            </a:r>
          </a:p>
          <a:p>
            <a:r>
              <a:rPr lang="en-US" dirty="0"/>
              <a:t>Secure indoor wireless communications</a:t>
            </a:r>
          </a:p>
          <a:p>
            <a:r>
              <a:rPr lang="en-US" dirty="0"/>
              <a:t>High-density wireless connectivity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95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36766-7267-5EB9-F5A8-56634492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666793-8013-53EB-BC36-1902EE31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2" y="609600"/>
            <a:ext cx="9143538" cy="1066800"/>
          </a:xfrm>
        </p:spPr>
        <p:txBody>
          <a:bodyPr/>
          <a:lstStyle/>
          <a:p>
            <a:r>
              <a:rPr lang="en-US" dirty="0"/>
              <a:t>Li-Fi (Cont’d)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FE1053-D440-0BA7-2B62-F26E1DD4C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849534-4A08-D5AE-E16B-7509A92D8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2" y="2514601"/>
            <a:ext cx="7086599" cy="51816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Pros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High Data Transfer Rates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Enhanced Security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Energy Efficiency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Reduces Radio Frequency Congestion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/>
              <a:t>Cons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Limited Range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Outdoor Limitations</a:t>
            </a:r>
          </a:p>
          <a:p>
            <a:pPr lvl="0">
              <a:lnSpc>
                <a:spcPct val="100000"/>
              </a:lnSpc>
            </a:pPr>
            <a:r>
              <a:rPr lang="en-US" sz="1100" dirty="0"/>
              <a:t>Limited Usability in Darkness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FF2C53-A7CF-DC96-58F6-D3D43B941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4212" y="1899555"/>
            <a:ext cx="4419599" cy="685801"/>
          </a:xfrm>
        </p:spPr>
        <p:txBody>
          <a:bodyPr/>
          <a:lstStyle/>
          <a:p>
            <a:r>
              <a:rPr lang="en-US" dirty="0"/>
              <a:t>Company and Product example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49DDB5B-33E4-3F92-5DAD-9BAEBC207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4212" y="2661556"/>
            <a:ext cx="4419599" cy="3429000"/>
          </a:xfrm>
        </p:spPr>
        <p:txBody>
          <a:bodyPr>
            <a:normAutofit/>
          </a:bodyPr>
          <a:lstStyle/>
          <a:p>
            <a:r>
              <a:rPr lang="en-US" dirty="0"/>
              <a:t>Company: Signify</a:t>
            </a:r>
          </a:p>
          <a:p>
            <a:r>
              <a:rPr lang="en-US" dirty="0"/>
              <a:t>Product: </a:t>
            </a:r>
            <a:r>
              <a:rPr lang="en-US" dirty="0" err="1"/>
              <a:t>Trulifi</a:t>
            </a:r>
            <a:endParaRPr lang="en-US" dirty="0"/>
          </a:p>
          <a:p>
            <a:pPr lvl="1"/>
            <a:r>
              <a:rPr lang="en-US" dirty="0"/>
              <a:t>Provides optical wireless connectivity</a:t>
            </a:r>
          </a:p>
          <a:p>
            <a:pPr lvl="1"/>
            <a:r>
              <a:rPr lang="en-US" dirty="0"/>
              <a:t>Designed for professional indoor environments</a:t>
            </a:r>
          </a:p>
          <a:p>
            <a:pPr lvl="1"/>
            <a:r>
              <a:rPr lang="en-US" dirty="0"/>
              <a:t>Supports data transmission using light-based communication</a:t>
            </a:r>
          </a:p>
          <a:p>
            <a:pPr lvl="1"/>
            <a:r>
              <a:rPr lang="en-US" dirty="0"/>
              <a:t>Can complement conventional wireless networks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D4F52B-E44D-8BB3-73CE-13CDB2666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011" y="2231569"/>
            <a:ext cx="3579814" cy="238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41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31B2-0B8E-EFBB-7789-FAEF2C20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19C8F0-C683-76B0-C889-28C749C9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Li-Fi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D52A7F-5881-9F4D-1BB4-2DF2EFCF8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7C0154-23A7-8693-C6CC-2E63F91E4D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DC7057-99E3-CC68-37FD-65199BB0D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F076B0-166C-1D45-BCB9-76BB06D69CF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4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4C761-8B0A-8D54-50D0-64664411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1DE045-A4B0-942A-741B-7C2B045F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44D764-3435-FC27-A32E-8861A46B8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BD7C80-6796-62DC-F161-780052305A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D28AF2-E25D-D0A9-0ED6-F70BB9546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F506762-443D-5C8D-C419-1FDB215D79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98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B232F-0B98-A86B-E4BF-9D8878EE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5635F65-8E50-3526-FFF8-CCDD9C40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NB-IoT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31E65A-0FA7-6667-455D-1892B9FF6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C0A9194-731C-9C77-4589-F5AEE2AC4D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23B22-A264-C152-3D58-5DB357578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5832F77-06D6-0946-B94E-C8E36B41A78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39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490A-5A28-0E82-6CC6-4D72A237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CE766D-F357-303D-049B-BCC8942F5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3F2499-8B38-3272-7C43-366B71F78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1C5088-6748-B91F-8FF5-82DE073DD7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7C28F1-146D-33B7-5621-0A9146DB9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0B5646-3FA3-7DAB-4821-446078DF525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34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B057-9EE3-9ABD-F249-E6DD7241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D354701-7372-6F75-4E50-B30D41FD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2E5344-55F2-EC56-E080-3046408E0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E494E3-753A-FBA5-CAF5-BBCC8CD613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52C23F-E242-71B0-622D-0F8564D13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BFDCB7-0711-5A99-EB7A-DAAFA6D64BA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65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BFC598-81AC-4941-973C-6034B821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</p:spTree>
    <p:extLst>
      <p:ext uri="{BB962C8B-B14F-4D97-AF65-F5344CB8AC3E}">
        <p14:creationId xmlns:p14="http://schemas.microsoft.com/office/powerpoint/2010/main" val="51801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51287D-E234-1907-47AB-0BEA836CB70E}"/>
              </a:ext>
            </a:extLst>
          </p:cNvPr>
          <p:cNvSpPr txBox="1"/>
          <p:nvPr/>
        </p:nvSpPr>
        <p:spPr>
          <a:xfrm>
            <a:off x="1006833" y="304800"/>
            <a:ext cx="10019666" cy="3083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Reference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ZigBee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Z-Wave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https://homey.app/en-ca/wiki/what-is-z-wave/</a:t>
            </a:r>
            <a:r>
              <a:rPr lang="en-US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400" dirty="0" err="1"/>
              <a:t>LoRaWAN</a:t>
            </a:r>
            <a:endParaRPr lang="en-US" sz="24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https://www.thethingsnetwork.org/docs/lorawan/what-is-lorawan/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LiDAR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https://www.ibm.com/think/topics/lidar</a:t>
            </a:r>
            <a:r>
              <a:rPr lang="en-US" sz="2400" dirty="0"/>
              <a:t>  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382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B45298-8664-4F94-84D5-8E99EDEB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21CF6-2E67-4577-BA74-7355551C7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B3B8A1-B522-4C43-B7D3-A5FD1DA97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5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E763-3EFC-4A97-8AF7-8838E6AE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3" name="Picture Placeholder 2" descr="An empty placeholder to add an image. Click on the placeholder and select the image that you wish to add">
            <a:extLst>
              <a:ext uri="{FF2B5EF4-FFF2-40B4-BE49-F238E27FC236}">
                <a16:creationId xmlns:a16="http://schemas.microsoft.com/office/drawing/2014/main" id="{BAA1B70D-5203-4611-A7C2-17FAF29FDA81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9F200-F83B-4178-A537-145F7BB34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riped Border 16x9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  <a:ln>
          <a:solidFill>
            <a:schemeClr val="accent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riped black border presentation (widescreen).potx" id="{96522838-024F-4A04-A543-9EF396F770C0}" vid="{BD969DAD-256A-4182-ABA2-1577ED7D3144}"/>
    </a:ext>
  </a:extLst>
</a:theme>
</file>

<file path=ppt/theme/theme2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Striped black border presentation (widescreen)</Template>
  <TotalTime>161</TotalTime>
  <Words>913</Words>
  <Application>Microsoft Office PowerPoint</Application>
  <PresentationFormat>Custom</PresentationFormat>
  <Paragraphs>202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Euphemia</vt:lpstr>
      <vt:lpstr>Striped Border 16x9</vt:lpstr>
      <vt:lpstr>Wireless Technologies in IoT</vt:lpstr>
      <vt:lpstr>Title and Content Layout with List</vt:lpstr>
      <vt:lpstr>ZigBee</vt:lpstr>
      <vt:lpstr>ZigBee (Cont’d)</vt:lpstr>
      <vt:lpstr>Z-Wave</vt:lpstr>
      <vt:lpstr>Z-Wave (Cont’d)</vt:lpstr>
      <vt:lpstr>LoRaWAN</vt:lpstr>
      <vt:lpstr>LoRaWAN (Cont’d)</vt:lpstr>
      <vt:lpstr>LiDAR</vt:lpstr>
      <vt:lpstr>LiDAR (Cont’d)</vt:lpstr>
      <vt:lpstr>Li-Fi</vt:lpstr>
      <vt:lpstr>Li-Fi (Cont’d)</vt:lpstr>
      <vt:lpstr>Li-Fi</vt:lpstr>
      <vt:lpstr>VLC</vt:lpstr>
      <vt:lpstr>NB-IoT</vt:lpstr>
      <vt:lpstr>LTE</vt:lpstr>
      <vt:lpstr>5G</vt:lpstr>
      <vt:lpstr>Add a Slide Title - 3</vt:lpstr>
      <vt:lpstr>PowerPoint Presentation</vt:lpstr>
      <vt:lpstr>Add a Slide Title - 4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Efren Fabro</dc:creator>
  <cp:lastModifiedBy>Cyril Efren Fabro</cp:lastModifiedBy>
  <cp:revision>2</cp:revision>
  <dcterms:created xsi:type="dcterms:W3CDTF">2026-10-27T00:11:23Z</dcterms:created>
  <dcterms:modified xsi:type="dcterms:W3CDTF">2026-10-27T02:52:26Z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