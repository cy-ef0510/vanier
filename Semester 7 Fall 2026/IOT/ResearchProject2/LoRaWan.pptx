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300" r:id="rId6"/>
    <p:sldId id="257" r:id="rId7"/>
    <p:sldId id="258" r:id="rId8"/>
    <p:sldId id="317" r:id="rId9"/>
    <p:sldId id="261" r:id="rId10"/>
    <p:sldId id="289" r:id="rId11"/>
    <p:sldId id="299" r:id="rId12"/>
    <p:sldId id="287" r:id="rId13"/>
    <p:sldId id="296" r:id="rId14"/>
    <p:sldId id="303" r:id="rId15"/>
    <p:sldId id="266" r:id="rId16"/>
    <p:sldId id="307" r:id="rId17"/>
    <p:sldId id="308" r:id="rId18"/>
    <p:sldId id="309" r:id="rId19"/>
    <p:sldId id="310" r:id="rId20"/>
    <p:sldId id="311" r:id="rId21"/>
    <p:sldId id="312" r:id="rId22"/>
    <p:sldId id="314" r:id="rId23"/>
    <p:sldId id="315" r:id="rId24"/>
    <p:sldId id="313" r:id="rId25"/>
    <p:sldId id="316" r:id="rId26"/>
    <p:sldId id="269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3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GB" noProof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GB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GB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ws.amazon.com/iot-wireless/latest/developerguide/iot-lorawan.html?utm_source=chatgpt.com" TargetMode="External"/><Relationship Id="rId3" Type="http://schemas.openxmlformats.org/officeDocument/2006/relationships/hyperlink" Target="https://www.thethingsnetwork.org/docs/lorawan/architecture/?utm_source=chatgpt.com" TargetMode="External"/><Relationship Id="rId7" Type="http://schemas.openxmlformats.org/officeDocument/2006/relationships/hyperlink" Target="https://www.thethingsindustries.com/the-things-stack/features/?utm_source=chatgpt.com" TargetMode="External"/><Relationship Id="rId2" Type="http://schemas.openxmlformats.org/officeDocument/2006/relationships/hyperlink" Target="https://www.thethingsnetwork.org/docs/lorawan/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ilesight.com/iot/product/lorawan-sensor/am300?utm_source=chatgpt.com" TargetMode="External"/><Relationship Id="rId5" Type="http://schemas.openxmlformats.org/officeDocument/2006/relationships/hyperlink" Target="https://www.milesight.com/iot/product/lorawan-sensor/em300-th?utm_source=chatgpt.com" TargetMode="External"/><Relationship Id="rId4" Type="http://schemas.openxmlformats.org/officeDocument/2006/relationships/hyperlink" Target="https://www.thethingsnetwork.org/docs/lorawan/classes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Cyril Efren Fabro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D3995-D6FB-60F9-AC54-0434FF07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0" y="1580978"/>
            <a:ext cx="9315396" cy="300931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871917F9-8E03-D6AA-D4DD-ACBB09194A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18654E-F0A5-64F6-DE00-A9BBE0D7D93D}"/>
              </a:ext>
            </a:extLst>
          </p:cNvPr>
          <p:cNvSpPr txBox="1"/>
          <p:nvPr/>
        </p:nvSpPr>
        <p:spPr>
          <a:xfrm>
            <a:off x="-61145" y="6554531"/>
            <a:ext cx="5776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https://www.ezurio.com/iot-devices/lorawan-iot-devices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AF4AA-8BF8-E7A9-3E59-873C0D1E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48A5B6-5355-881D-0376-4E319547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72BCC2-05EA-1B20-2149-682516FBE5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11214099" cy="4279304"/>
          </a:xfrm>
        </p:spPr>
        <p:txBody>
          <a:bodyPr numCol="2"/>
          <a:lstStyle/>
          <a:p>
            <a:r>
              <a:rPr lang="en-US" dirty="0"/>
              <a:t>Definition</a:t>
            </a:r>
          </a:p>
          <a:p>
            <a:r>
              <a:rPr lang="en-US" dirty="0"/>
              <a:t>Main Components</a:t>
            </a:r>
          </a:p>
          <a:p>
            <a:r>
              <a:rPr lang="en-US" dirty="0"/>
              <a:t>Architecture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Device Classes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Advantages and Disadvantages</a:t>
            </a:r>
          </a:p>
          <a:p>
            <a:r>
              <a:rPr lang="en-US" dirty="0"/>
              <a:t>Companies that use </a:t>
            </a:r>
            <a:r>
              <a:rPr lang="en-US" dirty="0" err="1"/>
              <a:t>LoRaWan</a:t>
            </a:r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697C5-C7DC-555F-0378-86402CA6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2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(Cont.)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11214099" cy="4279304"/>
          </a:xfrm>
        </p:spPr>
        <p:txBody>
          <a:bodyPr numCol="2"/>
          <a:lstStyle/>
          <a:p>
            <a:pPr lvl="0"/>
            <a:r>
              <a:rPr lang="en-US" dirty="0" err="1"/>
              <a:t>LoRaWAN</a:t>
            </a:r>
            <a:r>
              <a:rPr lang="en-US" dirty="0"/>
              <a:t> stands for Long Range Wide Area Network.</a:t>
            </a:r>
          </a:p>
          <a:p>
            <a:pPr lvl="0"/>
            <a:r>
              <a:rPr lang="en-US" dirty="0"/>
              <a:t>Low-Power Wide-Area Network (LPWAN) communication protocol designed for Internet of Things (IoT) devices.</a:t>
            </a:r>
          </a:p>
          <a:p>
            <a:pPr lvl="0"/>
            <a:r>
              <a:rPr lang="en-US" dirty="0"/>
              <a:t>Enables devices to communicate over long distances while consuming little energy.</a:t>
            </a:r>
          </a:p>
          <a:p>
            <a:pPr lvl="0"/>
            <a:r>
              <a:rPr lang="en-US" dirty="0"/>
              <a:t>Suitable for small, occasional data transmissions, such as temperature readings, water-meter readings, and soil-moisture measurements.</a:t>
            </a:r>
          </a:p>
          <a:p>
            <a:pPr lvl="0"/>
            <a:r>
              <a:rPr lang="en-US" dirty="0"/>
              <a:t>Open standard maintained by the LoRa Alliance.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Important Distinction:</a:t>
            </a:r>
          </a:p>
          <a:p>
            <a:pPr lvl="0"/>
            <a:r>
              <a:rPr lang="en-US" dirty="0"/>
              <a:t>LoRa: Physical radio technology that transmits data wirelessly.</a:t>
            </a:r>
          </a:p>
          <a:p>
            <a:pPr lvl="0"/>
            <a:r>
              <a:rPr lang="en-US" dirty="0" err="1"/>
              <a:t>LoRaWAN</a:t>
            </a:r>
            <a:r>
              <a:rPr lang="en-US" dirty="0"/>
              <a:t>: Communication protocol that manages devices, messages, network access, and security.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1B8C36-6313-E8C3-BF31-263F7A6DA0A8}"/>
              </a:ext>
            </a:extLst>
          </p:cNvPr>
          <p:cNvGrpSpPr/>
          <p:nvPr/>
        </p:nvGrpSpPr>
        <p:grpSpPr>
          <a:xfrm>
            <a:off x="5361710" y="3150524"/>
            <a:ext cx="6612772" cy="3301094"/>
            <a:chOff x="6249772" y="3594118"/>
            <a:chExt cx="5724709" cy="2857500"/>
          </a:xfrm>
        </p:grpSpPr>
        <p:pic>
          <p:nvPicPr>
            <p:cNvPr id="8" name="Picture 7" descr="https://www.google.com/url?sa=t&amp;source=web&amp;rct=j&amp;url=https%3A%2F%2Fwww.semtech.com%2Flora%2Fecosystem%2Flora-alliance&amp;ved=0CBcQjRxqFwoTCMDl2YL5xJcDFQAAAAAdAAAAABA-&amp;opi=89978449">
              <a:extLst>
                <a:ext uri="{FF2B5EF4-FFF2-40B4-BE49-F238E27FC236}">
                  <a16:creationId xmlns:a16="http://schemas.microsoft.com/office/drawing/2014/main" id="{11121402-BD13-5A7C-B07B-1AEF8C156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9481" y="3594118"/>
              <a:ext cx="5715000" cy="28575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13AF03-E1C8-20C2-776F-C22AA1B046AF}"/>
                </a:ext>
              </a:extLst>
            </p:cNvPr>
            <p:cNvSpPr txBox="1"/>
            <p:nvPr/>
          </p:nvSpPr>
          <p:spPr>
            <a:xfrm>
              <a:off x="6249772" y="5672077"/>
              <a:ext cx="5724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https://www.semtech.com/lora/ecosystem/lora-alliance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7874-5074-0DD6-07DE-EB6769D71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617199-83F8-A2B4-667E-6D961916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>
            <a:normAutofit/>
          </a:bodyPr>
          <a:lstStyle/>
          <a:p>
            <a:r>
              <a:rPr lang="en-US" dirty="0"/>
              <a:t>Definition (Cont.)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0C0A05-7704-C7E9-F519-170B1AF2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8F342F-FF1D-B53E-14C9-A22C1FBBA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69"/>
          <a:stretch>
            <a:fillRect/>
          </a:stretch>
        </p:blipFill>
        <p:spPr>
          <a:xfrm>
            <a:off x="0" y="1349380"/>
            <a:ext cx="12192000" cy="4730308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950F82-2096-62C8-AA2B-A99748950AA9}"/>
              </a:ext>
            </a:extLst>
          </p:cNvPr>
          <p:cNvSpPr txBox="1"/>
          <p:nvPr/>
        </p:nvSpPr>
        <p:spPr>
          <a:xfrm>
            <a:off x="0" y="6128305"/>
            <a:ext cx="778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https://news.rakwireless.com/everything-you-need-to-know-about-lorawan/ </a:t>
            </a:r>
          </a:p>
        </p:txBody>
      </p:sp>
    </p:spTree>
    <p:extLst>
      <p:ext uri="{BB962C8B-B14F-4D97-AF65-F5344CB8AC3E}">
        <p14:creationId xmlns:p14="http://schemas.microsoft.com/office/powerpoint/2010/main" val="3734668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(Cont.)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681163"/>
            <a:ext cx="5157787" cy="535531"/>
          </a:xfrm>
        </p:spPr>
        <p:txBody>
          <a:bodyPr/>
          <a:lstStyle/>
          <a:p>
            <a:r>
              <a:rPr lang="en-US" dirty="0"/>
              <a:t>Long-Range Communication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535531"/>
          </a:xfrm>
        </p:spPr>
        <p:txBody>
          <a:bodyPr/>
          <a:lstStyle/>
          <a:p>
            <a:r>
              <a:rPr lang="en-US" dirty="0"/>
              <a:t>Low Power Consumption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505075"/>
            <a:ext cx="5157787" cy="1366534"/>
          </a:xfrm>
        </p:spPr>
        <p:txBody>
          <a:bodyPr/>
          <a:lstStyle/>
          <a:p>
            <a:r>
              <a:rPr lang="en-US" dirty="0"/>
              <a:t>Devices can communicate across large areas, including rural locations and buildings. Actual range depends on terrain, buildings, antenna placement, and interference.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6475412" y="2505075"/>
            <a:ext cx="5183188" cy="1366534"/>
          </a:xfrm>
        </p:spPr>
        <p:txBody>
          <a:bodyPr/>
          <a:lstStyle/>
          <a:p>
            <a:r>
              <a:rPr lang="en-US" dirty="0"/>
              <a:t>Devices can spend most of their time in sleep mode, helping battery-powered sensors last for years under suitable operating conditions.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16067EB-77DB-DF24-8983-FDB7E6B848A0}"/>
              </a:ext>
            </a:extLst>
          </p:cNvPr>
          <p:cNvSpPr txBox="1">
            <a:spLocks/>
          </p:cNvSpPr>
          <p:nvPr/>
        </p:nvSpPr>
        <p:spPr>
          <a:xfrm>
            <a:off x="444500" y="4008594"/>
            <a:ext cx="5157787" cy="30279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Security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775370F-D384-88F9-8A78-622928F9522A}"/>
              </a:ext>
            </a:extLst>
          </p:cNvPr>
          <p:cNvSpPr txBox="1">
            <a:spLocks/>
          </p:cNvSpPr>
          <p:nvPr/>
        </p:nvSpPr>
        <p:spPr>
          <a:xfrm>
            <a:off x="444500" y="4832506"/>
            <a:ext cx="5157787" cy="1354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LoRaWAN</a:t>
            </a:r>
            <a:r>
              <a:rPr lang="en-US" dirty="0"/>
              <a:t> supports device authentication, message integrity, and AES-based encryption.</a:t>
            </a:r>
          </a:p>
          <a:p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2EA910B-5767-2BB6-E0F5-F959F7FF0374}"/>
              </a:ext>
            </a:extLst>
          </p:cNvPr>
          <p:cNvSpPr txBox="1">
            <a:spLocks/>
          </p:cNvSpPr>
          <p:nvPr/>
        </p:nvSpPr>
        <p:spPr>
          <a:xfrm>
            <a:off x="6475412" y="4008594"/>
            <a:ext cx="5157787" cy="30279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Large-Scale Connectivity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2C16B99-276C-439D-C8E9-D7C2783A647E}"/>
              </a:ext>
            </a:extLst>
          </p:cNvPr>
          <p:cNvSpPr txBox="1">
            <a:spLocks/>
          </p:cNvSpPr>
          <p:nvPr/>
        </p:nvSpPr>
        <p:spPr>
          <a:xfrm>
            <a:off x="6475412" y="4832506"/>
            <a:ext cx="5157787" cy="1354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gateway can receive messages from many devices, depending on coverage, traffic, radio settings, and network capacity.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DB68-9610-43C9-FFFD-A92BA8A5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B4169C-1429-1BD4-2E2D-F6A3180D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319EE-BAF3-911D-E993-70EA8092B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53775-2D3F-9626-AB25-CF0D9B37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9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8F18-7ECC-2852-1892-5F2869C1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CEA99F-BD07-0646-0940-D605AD1C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A80AEF-A890-A094-5B9A-326310B9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0DA8F7-CB88-7389-DF62-D297CCDB8357}"/>
              </a:ext>
            </a:extLst>
          </p:cNvPr>
          <p:cNvGrpSpPr/>
          <p:nvPr/>
        </p:nvGrpSpPr>
        <p:grpSpPr>
          <a:xfrm>
            <a:off x="444500" y="1357595"/>
            <a:ext cx="2005677" cy="769443"/>
            <a:chOff x="706563" y="3496710"/>
            <a:chExt cx="2005677" cy="104644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42CABB5-83C2-35DB-D0CA-177A07EDA158}"/>
                </a:ext>
              </a:extLst>
            </p:cNvPr>
            <p:cNvSpPr txBox="1"/>
            <p:nvPr/>
          </p:nvSpPr>
          <p:spPr>
            <a:xfrm>
              <a:off x="706563" y="3496710"/>
              <a:ext cx="17107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End Devices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AA9A76A-235F-7157-0C5B-0032DC6055F3}"/>
                </a:ext>
              </a:extLst>
            </p:cNvPr>
            <p:cNvSpPr txBox="1"/>
            <p:nvPr/>
          </p:nvSpPr>
          <p:spPr>
            <a:xfrm>
              <a:off x="706563" y="3896821"/>
              <a:ext cx="20056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Collects Data and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Sends it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1548A7-8E96-0F99-5003-645984EAAC2D}"/>
              </a:ext>
            </a:extLst>
          </p:cNvPr>
          <p:cNvGrpSpPr/>
          <p:nvPr/>
        </p:nvGrpSpPr>
        <p:grpSpPr>
          <a:xfrm>
            <a:off x="444500" y="2282531"/>
            <a:ext cx="3215031" cy="1526267"/>
            <a:chOff x="3191017" y="3496710"/>
            <a:chExt cx="1580882" cy="2154436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0A6A65-A523-666D-038A-8ADEE4B4931B}"/>
                </a:ext>
              </a:extLst>
            </p:cNvPr>
            <p:cNvSpPr txBox="1"/>
            <p:nvPr/>
          </p:nvSpPr>
          <p:spPr>
            <a:xfrm>
              <a:off x="3191017" y="3496710"/>
              <a:ext cx="678817" cy="5647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Gateways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DD4BD4-AFF8-B153-BA0A-7472836F3E1B}"/>
                </a:ext>
              </a:extLst>
            </p:cNvPr>
            <p:cNvSpPr txBox="1"/>
            <p:nvPr/>
          </p:nvSpPr>
          <p:spPr>
            <a:xfrm>
              <a:off x="3191017" y="3896820"/>
              <a:ext cx="158088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Receives the end devices data and forwards it to network server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C732F7-1D33-95BF-5F57-D56BB05D334D}"/>
              </a:ext>
            </a:extLst>
          </p:cNvPr>
          <p:cNvGrpSpPr/>
          <p:nvPr/>
        </p:nvGrpSpPr>
        <p:grpSpPr>
          <a:xfrm>
            <a:off x="444500" y="3492447"/>
            <a:ext cx="2064989" cy="1046392"/>
            <a:chOff x="5063505" y="3496710"/>
            <a:chExt cx="2064989" cy="132344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A27B78A-EED0-D194-C93D-B2856B17136D}"/>
                </a:ext>
              </a:extLst>
            </p:cNvPr>
            <p:cNvSpPr txBox="1"/>
            <p:nvPr/>
          </p:nvSpPr>
          <p:spPr>
            <a:xfrm>
              <a:off x="5063505" y="3496710"/>
              <a:ext cx="20649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Network Server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80E901-6CCF-7DD8-4D2E-B3D423A20A41}"/>
                </a:ext>
              </a:extLst>
            </p:cNvPr>
            <p:cNvSpPr txBox="1"/>
            <p:nvPr/>
          </p:nvSpPr>
          <p:spPr>
            <a:xfrm>
              <a:off x="5063505" y="3896820"/>
              <a:ext cx="156536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Validates and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routes the 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message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00EBDC-D68C-1AB9-DA39-BA96946B0ABA}"/>
              </a:ext>
            </a:extLst>
          </p:cNvPr>
          <p:cNvGrpSpPr/>
          <p:nvPr/>
        </p:nvGrpSpPr>
        <p:grpSpPr>
          <a:xfrm>
            <a:off x="444500" y="4663234"/>
            <a:ext cx="2449710" cy="925465"/>
            <a:chOff x="7128494" y="3496710"/>
            <a:chExt cx="2449710" cy="132656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01D86EA-51B4-EB3A-8E80-046D77870622}"/>
                </a:ext>
              </a:extLst>
            </p:cNvPr>
            <p:cNvSpPr txBox="1"/>
            <p:nvPr/>
          </p:nvSpPr>
          <p:spPr>
            <a:xfrm>
              <a:off x="7128494" y="3496710"/>
              <a:ext cx="2449710" cy="573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Application Server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5B2A29-D5DC-1B44-91BB-76CB354C80AE}"/>
                </a:ext>
              </a:extLst>
            </p:cNvPr>
            <p:cNvSpPr txBox="1"/>
            <p:nvPr/>
          </p:nvSpPr>
          <p:spPr>
            <a:xfrm>
              <a:off x="7128494" y="3896820"/>
              <a:ext cx="2064989" cy="926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Process/Forward Data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03FFAF-DE2E-07B0-4556-7490FA5BC705}"/>
              </a:ext>
            </a:extLst>
          </p:cNvPr>
          <p:cNvGrpSpPr/>
          <p:nvPr/>
        </p:nvGrpSpPr>
        <p:grpSpPr>
          <a:xfrm>
            <a:off x="444500" y="5533059"/>
            <a:ext cx="1954381" cy="569515"/>
            <a:chOff x="9671318" y="3496710"/>
            <a:chExt cx="1954381" cy="76944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FF09527-1B18-B4CC-D2C1-66930C00AFB5}"/>
                </a:ext>
              </a:extLst>
            </p:cNvPr>
            <p:cNvSpPr txBox="1"/>
            <p:nvPr/>
          </p:nvSpPr>
          <p:spPr>
            <a:xfrm>
              <a:off x="9671318" y="3496710"/>
              <a:ext cx="15808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Application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C26F45-E1A3-A6CF-5C3E-CBC5410C160F}"/>
                </a:ext>
              </a:extLst>
            </p:cNvPr>
            <p:cNvSpPr txBox="1"/>
            <p:nvPr/>
          </p:nvSpPr>
          <p:spPr>
            <a:xfrm>
              <a:off x="9671318" y="3896820"/>
              <a:ext cx="1954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Displays the data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1EFD6018-60BA-7F2F-EA0F-0AC5341B0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9" y="1357594"/>
            <a:ext cx="7346951" cy="48172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FE1193-D0EC-83C1-8D22-B86BB8932019}"/>
              </a:ext>
            </a:extLst>
          </p:cNvPr>
          <p:cNvSpPr txBox="1"/>
          <p:nvPr/>
        </p:nvSpPr>
        <p:spPr>
          <a:xfrm>
            <a:off x="2939142" y="6174849"/>
            <a:ext cx="7815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https://www.thethingsnetwork.org/forum/t/lorawan-multi-end-devices/34778</a:t>
            </a:r>
          </a:p>
        </p:txBody>
      </p:sp>
    </p:spTree>
    <p:extLst>
      <p:ext uri="{BB962C8B-B14F-4D97-AF65-F5344CB8AC3E}">
        <p14:creationId xmlns:p14="http://schemas.microsoft.com/office/powerpoint/2010/main" val="253559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ABAB-1A0E-C75C-DC98-0DF23EEFC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580C4D-4831-7A19-7952-CA72A0D8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39C9D-687B-B6D3-5E4A-E65344B55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B97F64-BA1D-D85E-2F55-8E172EEC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405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ED883-F31D-B574-8A6C-1B86332E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FAEE2DB-4A15-F2C0-A202-D1012151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CC44E9-3C24-E19E-D16F-78D9584998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625385"/>
            <a:ext cx="11214099" cy="4093243"/>
          </a:xfrm>
        </p:spPr>
        <p:txBody>
          <a:bodyPr numCol="2"/>
          <a:lstStyle/>
          <a:p>
            <a:pPr lvl="0"/>
            <a:r>
              <a:rPr lang="en-US" b="1" u="sng" dirty="0"/>
              <a:t>Frequency bands:</a:t>
            </a:r>
            <a:r>
              <a:rPr lang="en-US" dirty="0"/>
              <a:t> region-specific radio frequencies. </a:t>
            </a:r>
          </a:p>
          <a:p>
            <a:pPr lvl="0"/>
            <a:r>
              <a:rPr lang="en-US" b="1" u="sng" dirty="0"/>
              <a:t>Modulation:</a:t>
            </a:r>
            <a:r>
              <a:rPr lang="en-US" dirty="0"/>
              <a:t> Chirp Spread Spectrum (CSS) to transmit data and enable reception of relatively weak signals.</a:t>
            </a:r>
          </a:p>
          <a:p>
            <a:pPr lvl="0"/>
            <a:r>
              <a:rPr lang="en-US" b="1" u="sng" dirty="0"/>
              <a:t>Spreading factors:</a:t>
            </a:r>
            <a:r>
              <a:rPr lang="en-US" dirty="0"/>
              <a:t> Spreading Factors SF7–SF12. Higher spreading factors generally improve sensitivity and range but reduce data rate and increase airtime.</a:t>
            </a:r>
          </a:p>
          <a:p>
            <a:pPr lvl="0"/>
            <a:r>
              <a:rPr lang="en-US" b="1" u="sng" dirty="0"/>
              <a:t>Adaptive Data Rate (ADR):</a:t>
            </a:r>
            <a:r>
              <a:rPr lang="en-US" dirty="0"/>
              <a:t> Adjustable data rate and transmission power when conditions allow, improving efficiency.</a:t>
            </a:r>
          </a:p>
          <a:p>
            <a:pPr lvl="0"/>
            <a:r>
              <a:rPr lang="en-US" b="1" u="sng" dirty="0"/>
              <a:t>Message types:</a:t>
            </a:r>
            <a:r>
              <a:rPr lang="en-US" dirty="0"/>
              <a:t> Devices transmit uplink messages to the network.</a:t>
            </a:r>
          </a:p>
          <a:p>
            <a:pPr lvl="0"/>
            <a:r>
              <a:rPr lang="en-US" b="1" u="sng" dirty="0"/>
              <a:t>Activation:</a:t>
            </a:r>
            <a:r>
              <a:rPr lang="en-US" dirty="0"/>
              <a:t> Over-The-Air Activation (OTAA) allows a device to join the network and establish session keys. </a:t>
            </a:r>
            <a:r>
              <a:rPr lang="en-US" b="1" u="sng" dirty="0"/>
              <a:t>Why the design matters: </a:t>
            </a:r>
          </a:p>
          <a:p>
            <a:r>
              <a:rPr lang="en-US" dirty="0"/>
              <a:t>The radio settings determine the trade-off between range, airtime, energy use, and network capacity.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3EDD4-5D22-CED8-9D50-65D571D6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42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67DA-66ED-06A6-6896-E9B70F12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C5907F-774C-3C69-EFBC-9622CE63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Classes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459BD-11B7-9945-B231-407057682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93C6B0-2E32-76F1-6353-A6FFD73F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067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112057"/>
              </p:ext>
            </p:extLst>
          </p:nvPr>
        </p:nvGraphicFramePr>
        <p:xfrm>
          <a:off x="1130300" y="1856740"/>
          <a:ext cx="101219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617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3581333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2530475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  <a:gridCol w="2530475">
                  <a:extLst>
                    <a:ext uri="{9D8B030D-6E8A-4147-A177-3AD203B41FA5}">
                      <a16:colId xmlns:a16="http://schemas.microsoft.com/office/drawing/2014/main" val="59554961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lt"/>
                          <a:cs typeface="Arial" panose="020B0604020202020204" pitchFamily="34" charset="0"/>
                        </a:rPr>
                        <a:t>Class</a:t>
                      </a:r>
                      <a:endParaRPr lang="en-GB" sz="1600" b="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>
                          <a:latin typeface="+mn-lt"/>
                          <a:cs typeface="Arial" panose="020B0604020202020204" pitchFamily="34" charset="0"/>
                        </a:rPr>
                        <a:t>How it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>
                          <a:latin typeface="+mn-lt"/>
                          <a:cs typeface="Arial" panose="020B0604020202020204" pitchFamily="34" charset="0"/>
                        </a:rPr>
                        <a:t>Best suited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>
                          <a:latin typeface="+mn-lt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Class 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Opens two short receive windows after each uplink transmission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Battery-powered sensors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Soil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Class 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Adds scheduled receive windows synchronised using network beacons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Devices needing more predictable downlink opportunities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Smart Street Lighting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Class C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Keeps its receiver open most of the time when not transmitting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Mains-powered actuators needing more responsive 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Powered Controller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8464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51BDB-217B-14C1-B51E-DE0B0E7212A8}"/>
              </a:ext>
            </a:extLst>
          </p:cNvPr>
          <p:cNvSpPr txBox="1"/>
          <p:nvPr/>
        </p:nvSpPr>
        <p:spPr>
          <a:xfrm>
            <a:off x="1130300" y="4673123"/>
            <a:ext cx="1024100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All </a:t>
            </a:r>
            <a:r>
              <a:rPr lang="en-US" dirty="0" err="1">
                <a:solidFill>
                  <a:schemeClr val="bg1"/>
                </a:solidFill>
              </a:rPr>
              <a:t>LoRaWAN</a:t>
            </a:r>
            <a:r>
              <a:rPr lang="en-US" dirty="0">
                <a:solidFill>
                  <a:schemeClr val="bg1"/>
                </a:solidFill>
              </a:rPr>
              <a:t> devices must support Class 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 A generally offers the lowest power consumption.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 B allows more predictable opportunities to receive messages.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 C offers the most frequent opportunities to receive messages but consumes more power.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018F-E3B7-493F-9F11-FB27BCE1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B03284-045A-F222-9E1B-28312F1F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0C732-5A88-3208-E63D-8A42E39EE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C055D8-FA75-3A5E-DF98-D8CFFC1F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069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DBB4-FF31-E78A-5D58-4B1F2E270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A0FCF6-11D5-D592-7225-7771319BE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A2A507-410D-0DDB-58ED-A0D2FB49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E4FB1D-11DD-759B-E039-AD95C262ECD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Agriculture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450D5-BB13-6087-945C-C449D7832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Cities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DF2D80-22B9-CFE8-D638-DDAC7AE323B9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pPr lvl="0"/>
            <a:r>
              <a:rPr lang="en-US" dirty="0"/>
              <a:t>Soil-moisture monitoring</a:t>
            </a:r>
          </a:p>
          <a:p>
            <a:pPr lvl="0"/>
            <a:r>
              <a:rPr lang="en-US" dirty="0"/>
              <a:t>Irrigation management</a:t>
            </a:r>
          </a:p>
          <a:p>
            <a:pPr lvl="0"/>
            <a:r>
              <a:rPr lang="en-US" dirty="0"/>
              <a:t>Greenhouse monitoring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3AC207-5A86-BAB7-3045-8AACF6F62D3D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pPr lvl="0"/>
            <a:r>
              <a:rPr lang="en-US" dirty="0"/>
              <a:t>Parking sensors</a:t>
            </a:r>
          </a:p>
          <a:p>
            <a:pPr lvl="0"/>
            <a:r>
              <a:rPr lang="en-US" dirty="0"/>
              <a:t>Waste-bin monitoring</a:t>
            </a:r>
          </a:p>
          <a:p>
            <a:pPr lvl="0"/>
            <a:r>
              <a:rPr lang="en-US" dirty="0"/>
              <a:t>Streetlight monitoring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A7448-4626-8F4E-9574-59258124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1" y="3534681"/>
            <a:ext cx="3719286" cy="2645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435359-99F8-D0D4-D210-AB18466DD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2" y="3534681"/>
            <a:ext cx="4751388" cy="26587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3364D9-2086-2E09-6E7C-68EE1CE2BC2A}"/>
              </a:ext>
            </a:extLst>
          </p:cNvPr>
          <p:cNvSpPr txBox="1"/>
          <p:nvPr/>
        </p:nvSpPr>
        <p:spPr>
          <a:xfrm>
            <a:off x="6403424" y="6189663"/>
            <a:ext cx="532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https://www.mokolora.com/lorawan-in-smart-cities/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70E57-C4D8-ECE0-E112-7D27F114ACF1}"/>
              </a:ext>
            </a:extLst>
          </p:cNvPr>
          <p:cNvSpPr txBox="1"/>
          <p:nvPr/>
        </p:nvSpPr>
        <p:spPr>
          <a:xfrm>
            <a:off x="358115" y="6180023"/>
            <a:ext cx="604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https://www.richerlink.com/lora-smart-agriculture-solution/</a:t>
            </a:r>
          </a:p>
        </p:txBody>
      </p:sp>
    </p:spTree>
    <p:extLst>
      <p:ext uri="{BB962C8B-B14F-4D97-AF65-F5344CB8AC3E}">
        <p14:creationId xmlns:p14="http://schemas.microsoft.com/office/powerpoint/2010/main" val="961445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B31A5-F679-1EDD-B286-8CB24724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66ADA9-D9A0-234F-CD30-3E91EA62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EFE5C1-5A89-5F3A-E0B6-6629738D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4E7BA5-7029-B6DB-F03A-342DBBE0B3F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Industry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A9A5-B81B-186A-36A3-6B676E7AD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Utilities and Buildings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6024A6-136B-B530-65DE-B27325A0B088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2" y="2211161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Equipment monitoring</a:t>
            </a:r>
          </a:p>
          <a:p>
            <a:pPr lvl="0"/>
            <a:r>
              <a:rPr lang="en-US" dirty="0"/>
              <a:t>Leak detection</a:t>
            </a:r>
          </a:p>
          <a:p>
            <a:pPr lvl="0"/>
            <a:r>
              <a:rPr lang="en-US" dirty="0"/>
              <a:t>Environmental sensing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F9B9DC-3F39-4CE7-DA35-E00CB8903C04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6411910" y="2093119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Water-meter reading</a:t>
            </a:r>
          </a:p>
          <a:p>
            <a:pPr lvl="0"/>
            <a:r>
              <a:rPr lang="en-US" dirty="0"/>
              <a:t>Energy monitoring</a:t>
            </a:r>
          </a:p>
          <a:p>
            <a:pPr lvl="0"/>
            <a:r>
              <a:rPr lang="en-US" dirty="0"/>
              <a:t>Indoor air quality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FB106B-9879-5F06-CA34-61853450E7FD}"/>
              </a:ext>
            </a:extLst>
          </p:cNvPr>
          <p:cNvSpPr txBox="1"/>
          <p:nvPr/>
        </p:nvSpPr>
        <p:spPr>
          <a:xfrm>
            <a:off x="444500" y="6189663"/>
            <a:ext cx="601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https://tektelic.com/expertise/lorawan-for-mining-industry/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6942D9-201F-C58A-CAFC-291F73A63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196143"/>
            <a:ext cx="5033736" cy="31205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5C81CA-6576-E0D0-779A-1AE319DBE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911" y="3196143"/>
            <a:ext cx="4276458" cy="29935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1F066C-A925-B626-C775-2FAB9D95E501}"/>
              </a:ext>
            </a:extLst>
          </p:cNvPr>
          <p:cNvSpPr txBox="1"/>
          <p:nvPr/>
        </p:nvSpPr>
        <p:spPr>
          <a:xfrm>
            <a:off x="444500" y="6504667"/>
            <a:ext cx="8392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https://www.robustel.store/blogs/industrial-iot-blog/lorawan-for-smart-utilities-amr</a:t>
            </a:r>
          </a:p>
        </p:txBody>
      </p:sp>
    </p:spTree>
    <p:extLst>
      <p:ext uri="{BB962C8B-B14F-4D97-AF65-F5344CB8AC3E}">
        <p14:creationId xmlns:p14="http://schemas.microsoft.com/office/powerpoint/2010/main" val="2146451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A6EF-03B6-B744-C245-29EF3D4DB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0622D4-C285-1A15-C286-4FCD0E1E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775C83-3BFC-3FF1-B60C-B07BFF979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82D9E4-D097-C2F9-22F5-6D1E7D81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098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9B3D-68C8-17AA-7D9E-68FC7F8D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DB8B20-CF38-E590-62DA-B4F4B599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16DFC-1D6F-5605-F29B-DDB6FF1E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1A179E-DC31-5437-2CDF-961E4E0D27A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32236-CDF6-CFA6-E6CD-37901C9A4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FC9220-E5A6-8009-EE52-CEA1BE79D38D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pPr lvl="0"/>
            <a:r>
              <a:rPr lang="en-US" dirty="0"/>
              <a:t>Long communication range</a:t>
            </a:r>
          </a:p>
          <a:p>
            <a:pPr lvl="0"/>
            <a:r>
              <a:rPr lang="en-US" dirty="0"/>
              <a:t>Low energy consumption</a:t>
            </a:r>
          </a:p>
          <a:p>
            <a:pPr lvl="0"/>
            <a:r>
              <a:rPr lang="en-US" dirty="0"/>
              <a:t>Suitable for battery-powered devices</a:t>
            </a:r>
          </a:p>
          <a:p>
            <a:pPr lvl="0"/>
            <a:r>
              <a:rPr lang="en-US" dirty="0"/>
              <a:t>Supports large sensor deployments</a:t>
            </a:r>
          </a:p>
          <a:p>
            <a:pPr lvl="0"/>
            <a:r>
              <a:rPr lang="en-US" dirty="0"/>
              <a:t>Useful in remote locations</a:t>
            </a:r>
          </a:p>
          <a:p>
            <a:pPr lvl="0"/>
            <a:r>
              <a:rPr lang="en-US" dirty="0"/>
              <a:t>Standardized technology with multiple vendors</a:t>
            </a:r>
          </a:p>
          <a:p>
            <a:pPr lvl="0"/>
            <a:r>
              <a:rPr lang="en-US" dirty="0"/>
              <a:t>Security mechanisms built into the protocol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11964F-7231-694F-1969-8F0B477588CF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pPr lvl="0"/>
            <a:r>
              <a:rPr lang="en-US" dirty="0"/>
              <a:t>Low data rates compared with Wi-Fi</a:t>
            </a:r>
          </a:p>
          <a:p>
            <a:pPr lvl="0"/>
            <a:r>
              <a:rPr lang="en-US" dirty="0"/>
              <a:t>Unsuitable for video or large files</a:t>
            </a:r>
          </a:p>
          <a:p>
            <a:pPr lvl="0"/>
            <a:r>
              <a:rPr lang="en-US" dirty="0"/>
              <a:t>Limited opportunities for downlink messages</a:t>
            </a:r>
          </a:p>
          <a:p>
            <a:pPr lvl="0"/>
            <a:r>
              <a:rPr lang="en-US" dirty="0"/>
              <a:t>Higher spreading factors increase airtime</a:t>
            </a:r>
          </a:p>
          <a:p>
            <a:pPr lvl="0"/>
            <a:r>
              <a:rPr lang="en-US" dirty="0"/>
              <a:t>Buildings and interference can reduce coverage</a:t>
            </a:r>
          </a:p>
          <a:p>
            <a:pPr lvl="0"/>
            <a:r>
              <a:rPr lang="en-US" dirty="0"/>
              <a:t>Gateway coverage and capacity need planning</a:t>
            </a:r>
          </a:p>
          <a:p>
            <a:pPr lvl="0"/>
            <a:r>
              <a:rPr lang="en-US" dirty="0"/>
              <a:t>Regional frequency and radio regulations must be followed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522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1D591-0B1B-CC59-6AEF-43D7F788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DA4399-660B-9A97-4241-A8EB8C51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Companies that use </a:t>
            </a:r>
            <a:r>
              <a:rPr lang="en-US" dirty="0" err="1"/>
              <a:t>LoRaWan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7617E-79C2-1B27-90DA-37A5EB8E2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FD7F11-5412-43C3-EAA5-47B43D89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77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76DE-D5BB-3CEC-9DF2-C4C850E7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0FEB2C-DAB4-0026-451F-BB2F78A5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Companies that use </a:t>
            </a:r>
            <a:r>
              <a:rPr lang="en-US" dirty="0" err="1"/>
              <a:t>LoRaWan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D4A329-F14E-ACF0-DE3D-0302BA475FE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681163"/>
            <a:ext cx="5157787" cy="535531"/>
          </a:xfrm>
        </p:spPr>
        <p:txBody>
          <a:bodyPr/>
          <a:lstStyle/>
          <a:p>
            <a:r>
              <a:rPr lang="en-US" dirty="0" err="1"/>
              <a:t>Milesight</a:t>
            </a:r>
            <a:r>
              <a:rPr lang="en-US" dirty="0"/>
              <a:t> - EM300-TH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2D0653-04D7-A5E6-A5BE-EA72490DF2C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pPr lvl="0"/>
            <a:r>
              <a:rPr lang="en-US" dirty="0"/>
              <a:t>Measures temperature and relative humidity.</a:t>
            </a:r>
          </a:p>
          <a:p>
            <a:pPr lvl="0"/>
            <a:r>
              <a:rPr lang="en-US" dirty="0"/>
              <a:t>IP67-rated enclosure for demanding indoor and outdoor environments.</a:t>
            </a:r>
          </a:p>
          <a:p>
            <a:pPr lvl="0"/>
            <a:r>
              <a:rPr lang="en-US" dirty="0"/>
              <a:t>Supports </a:t>
            </a:r>
            <a:r>
              <a:rPr lang="en-US" dirty="0" err="1"/>
              <a:t>LoRaWAN</a:t>
            </a:r>
            <a:r>
              <a:rPr lang="en-US" dirty="0"/>
              <a:t> Class A and OTAA or ABP activation.</a:t>
            </a:r>
          </a:p>
          <a:p>
            <a:pPr lvl="0"/>
            <a:r>
              <a:rPr lang="en-US" dirty="0"/>
              <a:t>Stores historical readings and supports data retransmission.</a:t>
            </a:r>
          </a:p>
          <a:p>
            <a:pPr lvl="0"/>
            <a:r>
              <a:rPr lang="en-US" dirty="0"/>
              <a:t>Manufacturer-stated battery life can exceed 10 years under specified conditions.</a:t>
            </a:r>
          </a:p>
          <a:p>
            <a:pPr marL="0" indent="0">
              <a:buNone/>
            </a:pPr>
            <a:r>
              <a:rPr lang="en-US" dirty="0"/>
              <a:t>Applications: Greenhouses, warehouses, and environmental monitoring.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7CEF35-C5DE-FCE7-7F16-4391A3FFE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76112"/>
            <a:ext cx="4808706" cy="480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2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BDFDA-D6D2-7EF8-5A8C-949781DA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8F4B9A-6CED-DF4D-4CAA-7FF538138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Companies that use </a:t>
            </a:r>
            <a:r>
              <a:rPr lang="en-US" dirty="0" err="1"/>
              <a:t>LoRaWan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5AC25D-7E69-1629-BF88-6AE95248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4CBCC5-50EB-585A-828C-97A84B4CA00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681163"/>
            <a:ext cx="5157787" cy="535531"/>
          </a:xfrm>
        </p:spPr>
        <p:txBody>
          <a:bodyPr/>
          <a:lstStyle/>
          <a:p>
            <a:r>
              <a:rPr lang="en-US" dirty="0" err="1"/>
              <a:t>Milesight</a:t>
            </a:r>
            <a:r>
              <a:rPr lang="en-US" dirty="0"/>
              <a:t> - AM300 Series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4FEB11-92D7-82AE-E3D5-7C804F3D375A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r>
              <a:rPr lang="en-US" dirty="0"/>
              <a:t>Different models measure combinations of temperature, humidity, CO₂, light, and motion.</a:t>
            </a:r>
          </a:p>
          <a:p>
            <a:r>
              <a:rPr lang="en-US" dirty="0"/>
              <a:t>Some models include an e-ink display.</a:t>
            </a:r>
          </a:p>
          <a:p>
            <a:r>
              <a:rPr lang="en-US" dirty="0"/>
              <a:t>Can store measurements and provide threshold alerts.</a:t>
            </a:r>
          </a:p>
          <a:p>
            <a:r>
              <a:rPr lang="en-US" dirty="0"/>
              <a:t>Sends sensor readings through </a:t>
            </a:r>
            <a:r>
              <a:rPr lang="en-US" dirty="0" err="1"/>
              <a:t>LoRaWAN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Applications: Schools, offices, and smart buildings.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64BB9A-50A1-180E-78D6-702B4B86F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61872"/>
            <a:ext cx="4798608" cy="482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13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330E-03C6-2CB7-60CB-745EB1493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4D5D95-C8C1-24F9-8077-09D23D16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Companies that use </a:t>
            </a:r>
            <a:r>
              <a:rPr lang="en-US" dirty="0" err="1"/>
              <a:t>LoRaWan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0191A-2ACA-8CDC-D2EF-1B7917E9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FB904C-D8C5-36CF-D132-2ECCD21F000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The Things Industries - The Things Stack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2D419B-9DFD-CADA-9C9C-6831EFFDDDD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pPr lvl="0"/>
            <a:r>
              <a:rPr lang="en-US" dirty="0"/>
              <a:t>Connects and manages </a:t>
            </a:r>
            <a:r>
              <a:rPr lang="en-US" dirty="0" err="1"/>
              <a:t>LoRaWAN</a:t>
            </a:r>
            <a:r>
              <a:rPr lang="en-US" dirty="0"/>
              <a:t> devices and gateways.</a:t>
            </a:r>
          </a:p>
          <a:p>
            <a:pPr lvl="0"/>
            <a:r>
              <a:rPr lang="en-US" dirty="0"/>
              <a:t>Provides device onboarding and network monitoring.</a:t>
            </a:r>
          </a:p>
          <a:p>
            <a:pPr lvl="0"/>
            <a:r>
              <a:rPr lang="en-US" dirty="0"/>
              <a:t>Supports message routing and integrations through webhooks.</a:t>
            </a:r>
          </a:p>
          <a:p>
            <a:pPr lvl="0"/>
            <a:r>
              <a:rPr lang="en-US" dirty="0"/>
              <a:t>Offers cloud-hosted and self-managed deployment options.</a:t>
            </a:r>
          </a:p>
          <a:p>
            <a:pPr marL="0" indent="0">
              <a:buNone/>
            </a:pPr>
            <a:r>
              <a:rPr lang="en-US" dirty="0"/>
              <a:t>Applications: Managing IoT networks and sending sensor data to dashboards or other software.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35A120-4EA9-21D1-FF12-DC2934FD6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038" y="1348699"/>
            <a:ext cx="6656962" cy="416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17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0FF8-9096-7868-D3A3-4268B8D79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5A2729-973D-9B11-CE16-33BDA30B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Companies that use </a:t>
            </a:r>
            <a:r>
              <a:rPr lang="en-US" dirty="0" err="1"/>
              <a:t>LoRaWan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’)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E80C5-7D70-F7AE-79C1-CE483F38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B19146-44C5-5A14-03AC-C96D3D4E7E2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Amazon Web Services - AWS IoT Core for </a:t>
            </a:r>
            <a:r>
              <a:rPr lang="en-US" dirty="0" err="1"/>
              <a:t>LoRaWAN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11E222-D7CE-BB7C-7DDF-72809BE84FB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r>
              <a:rPr lang="en-US" dirty="0"/>
              <a:t>Connects compatible </a:t>
            </a:r>
            <a:r>
              <a:rPr lang="en-US" dirty="0" err="1"/>
              <a:t>LoRaWAN</a:t>
            </a:r>
            <a:r>
              <a:rPr lang="en-US" dirty="0"/>
              <a:t> devices and gateways to AWS.</a:t>
            </a:r>
          </a:p>
          <a:p>
            <a:r>
              <a:rPr lang="en-US" dirty="0"/>
              <a:t>Supports device and gateway onboarding.</a:t>
            </a:r>
          </a:p>
          <a:p>
            <a:r>
              <a:rPr lang="en-US" dirty="0"/>
              <a:t>Routes incoming messages to other AWS services.</a:t>
            </a:r>
          </a:p>
          <a:p>
            <a:r>
              <a:rPr lang="en-US" dirty="0"/>
              <a:t>Enables cloud-based processing, storage, and monitoring.</a:t>
            </a:r>
          </a:p>
          <a:p>
            <a:pPr marL="0" indent="0">
              <a:buNone/>
            </a:pPr>
            <a:r>
              <a:rPr lang="en-US" dirty="0"/>
              <a:t>Applications: Cloud-connected environmental monitoring and industrial IoT.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045783-A11E-9B61-17A2-B63FDAFE8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1381328"/>
            <a:ext cx="6149278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0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749570"/>
            <a:ext cx="9372600" cy="3358860"/>
          </a:xfrm>
        </p:spPr>
        <p:txBody>
          <a:bodyPr>
            <a:normAutofit fontScale="47500" lnSpcReduction="20000"/>
          </a:bodyPr>
          <a:lstStyle/>
          <a:p>
            <a:pPr lvl="0" algn="l"/>
            <a:r>
              <a:rPr lang="en-US" dirty="0"/>
              <a:t>The Things Network — </a:t>
            </a:r>
            <a:r>
              <a:rPr lang="en-US" dirty="0" err="1">
                <a:hlinkClick r:id="rId2"/>
              </a:rPr>
              <a:t>LoRaWAN</a:t>
            </a:r>
            <a:r>
              <a:rPr lang="en-US" dirty="0">
                <a:hlinkClick r:id="rId2"/>
              </a:rPr>
              <a:t> Fundamentals</a:t>
            </a:r>
            <a:endParaRPr lang="en-US" dirty="0"/>
          </a:p>
          <a:p>
            <a:pPr lvl="0" algn="l"/>
            <a:r>
              <a:rPr lang="en-US" dirty="0"/>
              <a:t>The Things Network — </a:t>
            </a:r>
            <a:r>
              <a:rPr lang="en-US" dirty="0">
                <a:hlinkClick r:id="rId3"/>
              </a:rPr>
              <a:t>Architecture</a:t>
            </a:r>
            <a:endParaRPr lang="en-US" dirty="0"/>
          </a:p>
          <a:p>
            <a:pPr lvl="0" algn="l"/>
            <a:r>
              <a:rPr lang="en-US" dirty="0"/>
              <a:t>The Things Network — </a:t>
            </a:r>
            <a:r>
              <a:rPr lang="en-US" dirty="0">
                <a:hlinkClick r:id="rId4"/>
              </a:rPr>
              <a:t>Device Classes</a:t>
            </a:r>
            <a:endParaRPr lang="en-US" dirty="0"/>
          </a:p>
          <a:p>
            <a:pPr lvl="0" algn="l"/>
            <a:r>
              <a:rPr lang="en-US" dirty="0" err="1"/>
              <a:t>Milesight</a:t>
            </a:r>
            <a:r>
              <a:rPr lang="en-US" dirty="0"/>
              <a:t> — </a:t>
            </a:r>
            <a:r>
              <a:rPr lang="en-US" dirty="0">
                <a:hlinkClick r:id="rId5"/>
              </a:rPr>
              <a:t>EM300-TH Sensor</a:t>
            </a:r>
            <a:endParaRPr lang="en-US" dirty="0"/>
          </a:p>
          <a:p>
            <a:pPr lvl="0" algn="l"/>
            <a:r>
              <a:rPr lang="en-US" dirty="0" err="1"/>
              <a:t>Milesight</a:t>
            </a:r>
            <a:r>
              <a:rPr lang="en-US" dirty="0"/>
              <a:t> — </a:t>
            </a:r>
            <a:r>
              <a:rPr lang="en-US" dirty="0">
                <a:hlinkClick r:id="rId6"/>
              </a:rPr>
              <a:t>AM300 Series Sensors</a:t>
            </a:r>
            <a:endParaRPr lang="en-US" dirty="0"/>
          </a:p>
          <a:p>
            <a:pPr lvl="0" algn="l"/>
            <a:r>
              <a:rPr lang="en-US" dirty="0"/>
              <a:t>The Things Industries — </a:t>
            </a:r>
            <a:r>
              <a:rPr lang="en-US" dirty="0">
                <a:hlinkClick r:id="rId7"/>
              </a:rPr>
              <a:t>The Things Stack Features</a:t>
            </a:r>
            <a:endParaRPr lang="en-US" dirty="0"/>
          </a:p>
          <a:p>
            <a:pPr lvl="0" algn="l"/>
            <a:r>
              <a:rPr lang="en-US" dirty="0"/>
              <a:t>AWS — </a:t>
            </a:r>
            <a:r>
              <a:rPr lang="en-US" dirty="0">
                <a:hlinkClick r:id="rId8"/>
              </a:rPr>
              <a:t>AWS IoT Core for </a:t>
            </a:r>
            <a:r>
              <a:rPr lang="en-US" dirty="0" err="1">
                <a:hlinkClick r:id="rId8"/>
              </a:rPr>
              <a:t>LoRaWAN</a:t>
            </a:r>
            <a:endParaRPr lang="en-US" dirty="0"/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255</TotalTime>
  <Words>1024</Words>
  <Application>Microsoft Office PowerPoint</Application>
  <PresentationFormat>Widescreen</PresentationFormat>
  <Paragraphs>187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Trade Gothic LT Pro</vt:lpstr>
      <vt:lpstr>Trebuchet MS</vt:lpstr>
      <vt:lpstr>Office Theme</vt:lpstr>
      <vt:lpstr>PowerPoint Presentation</vt:lpstr>
      <vt:lpstr>Table of Contents</vt:lpstr>
      <vt:lpstr>Definition</vt:lpstr>
      <vt:lpstr>Definition (Cont.)</vt:lpstr>
      <vt:lpstr>Definition (Cont.)</vt:lpstr>
      <vt:lpstr>Definition (Cont.)</vt:lpstr>
      <vt:lpstr>Architecture</vt:lpstr>
      <vt:lpstr>Architecture (Cont’)</vt:lpstr>
      <vt:lpstr>Design</vt:lpstr>
      <vt:lpstr>Design (Cont’)</vt:lpstr>
      <vt:lpstr>Device Classes</vt:lpstr>
      <vt:lpstr>Table</vt:lpstr>
      <vt:lpstr>Applications</vt:lpstr>
      <vt:lpstr>Applications (Cont’)</vt:lpstr>
      <vt:lpstr>Applications (Cont’)</vt:lpstr>
      <vt:lpstr>Advantages and Disadvantages</vt:lpstr>
      <vt:lpstr>Advantages and Disadvantages (Cont’)</vt:lpstr>
      <vt:lpstr>Companies that use LoRaWan</vt:lpstr>
      <vt:lpstr>Companies that use LoRaWan (Cont’)</vt:lpstr>
      <vt:lpstr>Companies that use LoRaWan (Cont’)</vt:lpstr>
      <vt:lpstr>Companies that use LoRaWan (Cont’)</vt:lpstr>
      <vt:lpstr>Companies that use LoRaWan (Cont’)</vt:lpstr>
      <vt:lpstr>Thank You !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Efren Fabro</dc:creator>
  <cp:lastModifiedBy>Cyril Efren Fabro</cp:lastModifiedBy>
  <cp:revision>3</cp:revision>
  <dcterms:created xsi:type="dcterms:W3CDTF">2026-10-18T21:56:58Z</dcterms:created>
  <dcterms:modified xsi:type="dcterms:W3CDTF">2026-10-19T02:12:42Z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