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ebp" ContentType="image/jpe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media/image10.webp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12" r:id="rId1"/>
  </p:sldMasterIdLst>
  <p:notesMasterIdLst>
    <p:notesMasterId r:id="rId22"/>
  </p:notesMasterIdLst>
  <p:handoutMasterIdLst>
    <p:handoutMasterId r:id="rId23"/>
  </p:handoutMasterIdLst>
  <p:sldIdLst>
    <p:sldId id="256" r:id="rId2"/>
    <p:sldId id="269" r:id="rId3"/>
    <p:sldId id="274" r:id="rId4"/>
    <p:sldId id="263" r:id="rId5"/>
    <p:sldId id="275" r:id="rId6"/>
    <p:sldId id="276" r:id="rId7"/>
    <p:sldId id="277" r:id="rId8"/>
    <p:sldId id="278" r:id="rId9"/>
    <p:sldId id="279" r:id="rId10"/>
    <p:sldId id="280" r:id="rId11"/>
    <p:sldId id="284" r:id="rId12"/>
    <p:sldId id="283" r:id="rId13"/>
    <p:sldId id="281" r:id="rId14"/>
    <p:sldId id="282" r:id="rId15"/>
    <p:sldId id="285" r:id="rId16"/>
    <p:sldId id="286" r:id="rId17"/>
    <p:sldId id="287" r:id="rId18"/>
    <p:sldId id="288" r:id="rId19"/>
    <p:sldId id="289" r:id="rId20"/>
    <p:sldId id="273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8" autoAdjust="0"/>
    <p:restoredTop sz="94660"/>
  </p:normalViewPr>
  <p:slideViewPr>
    <p:cSldViewPr>
      <p:cViewPr varScale="1">
        <p:scale>
          <a:sx n="60" d="100"/>
          <a:sy n="60" d="100"/>
        </p:scale>
        <p:origin x="96" y="1332"/>
      </p:cViewPr>
      <p:guideLst>
        <p:guide orient="horz" pos="2160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1986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74EB7-856E-45FD-83F0-5F7C6F3E4372}" type="datetimeFigureOut">
              <a:rPr lang="en-US"/>
              <a:t>9/28/2026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886E15-F82A-4596-A46C-375C6D3981E1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83081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0E40-8125-41F8-BB6C-139D8D531A4F}" type="datetimeFigureOut">
              <a:rPr lang="en-US"/>
              <a:t>9/28/2026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105DB2-FD3E-441D-8B7E-7AE83ECE27B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947205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block"/>
          <p:cNvSpPr/>
          <p:nvPr/>
        </p:nvSpPr>
        <p:spPr bwMode="white">
          <a:xfrm>
            <a:off x="1141413" y="1600200"/>
            <a:ext cx="9902952" cy="32766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" name="top graphic" descr="Top border design"/>
          <p:cNvGrpSpPr/>
          <p:nvPr/>
        </p:nvGrpSpPr>
        <p:grpSpPr>
          <a:xfrm>
            <a:off x="1279" y="0"/>
            <a:ext cx="12188952" cy="429768"/>
            <a:chOff x="1279" y="0"/>
            <a:chExt cx="12188952" cy="429768"/>
          </a:xfrm>
        </p:grpSpPr>
        <p:sp>
          <p:nvSpPr>
            <p:cNvPr id="8" name="Rectangle 7"/>
            <p:cNvSpPr/>
            <p:nvPr/>
          </p:nvSpPr>
          <p:spPr>
            <a:xfrm>
              <a:off x="1279" y="0"/>
              <a:ext cx="12188952" cy="2286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79" y="228600"/>
              <a:ext cx="12188952" cy="20116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279" y="306324"/>
              <a:ext cx="12188952" cy="45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3" name="bottom graphic" descr="Bottom border design"/>
          <p:cNvGrpSpPr/>
          <p:nvPr/>
        </p:nvGrpSpPr>
        <p:grpSpPr>
          <a:xfrm>
            <a:off x="0" y="6080760"/>
            <a:ext cx="12190231" cy="777240"/>
            <a:chOff x="0" y="6080760"/>
            <a:chExt cx="12190231" cy="777240"/>
          </a:xfrm>
        </p:grpSpPr>
        <p:sp>
          <p:nvSpPr>
            <p:cNvPr id="13" name="Rectangle 12"/>
            <p:cNvSpPr/>
            <p:nvPr/>
          </p:nvSpPr>
          <p:spPr>
            <a:xfrm>
              <a:off x="0" y="6217920"/>
              <a:ext cx="12188825" cy="6400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003">
              <a:schemeClr val="dk2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279" y="6080760"/>
              <a:ext cx="12188952" cy="9721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279" y="6172200"/>
              <a:ext cx="12188952" cy="27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">
          <a:xfrm>
            <a:off x="1522414" y="1905000"/>
            <a:ext cx="9143998" cy="2667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solidFill>
                  <a:schemeClr val="bg1"/>
                </a:solidFill>
                <a:effectLst>
                  <a:outerShdw blurRad="88900" algn="ctr" rotWithShape="0">
                    <a:prstClr val="black">
                      <a:alpha val="35000"/>
                    </a:prstClr>
                  </a:outerShdw>
                </a:effectLst>
              </a:defRPr>
            </a:lvl1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2413" y="5029200"/>
            <a:ext cx="8229598" cy="838200"/>
          </a:xfrm>
        </p:spPr>
        <p:txBody>
          <a:bodyPr/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94935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6475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3" y="1905000"/>
            <a:ext cx="9144000" cy="2667000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3" y="4876800"/>
            <a:ext cx="8229598" cy="1143000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58729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2413" y="1904999"/>
            <a:ext cx="4435564" cy="408892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849" y="1904999"/>
            <a:ext cx="4435564" cy="408892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 baseline="0"/>
            </a:lvl8pPr>
            <a:lvl9pPr>
              <a:defRPr sz="1600" baseline="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6067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3" y="1828800"/>
            <a:ext cx="4419599" cy="685801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413" y="2590801"/>
            <a:ext cx="4419599" cy="3429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6814" y="1828800"/>
            <a:ext cx="4419599" cy="685801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6814" y="2590801"/>
            <a:ext cx="4419599" cy="3429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6762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199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bottom graphic"/>
          <p:cNvGrpSpPr/>
          <p:nvPr userDrawn="1"/>
        </p:nvGrpSpPr>
        <p:grpSpPr>
          <a:xfrm>
            <a:off x="0" y="6309360"/>
            <a:ext cx="12190231" cy="548640"/>
            <a:chOff x="0" y="6309360"/>
            <a:chExt cx="12190231" cy="548640"/>
          </a:xfrm>
        </p:grpSpPr>
        <p:sp>
          <p:nvSpPr>
            <p:cNvPr id="7" name="Rectangle 6"/>
            <p:cNvSpPr/>
            <p:nvPr/>
          </p:nvSpPr>
          <p:spPr>
            <a:xfrm>
              <a:off x="0" y="6400800"/>
              <a:ext cx="12188825" cy="4572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003">
              <a:schemeClr val="dk2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Rectangle 7"/>
            <p:cNvSpPr/>
            <p:nvPr/>
          </p:nvSpPr>
          <p:spPr>
            <a:xfrm>
              <a:off x="1279" y="6309360"/>
              <a:ext cx="12188952" cy="9721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79" y="6379143"/>
              <a:ext cx="12188952" cy="27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09611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ame" descr="Border design"/>
          <p:cNvSpPr/>
          <p:nvPr/>
        </p:nvSpPr>
        <p:spPr>
          <a:xfrm>
            <a:off x="1217610" y="1019175"/>
            <a:ext cx="6126480" cy="4572000"/>
          </a:xfrm>
          <a:prstGeom prst="rect">
            <a:avLst/>
          </a:prstGeom>
          <a:noFill/>
          <a:ln w="1016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23214" y="1371600"/>
            <a:ext cx="3124200" cy="2057400"/>
          </a:xfrm>
        </p:spPr>
        <p:txBody>
          <a:bodyPr anchor="b">
            <a:normAutofit/>
          </a:bodyPr>
          <a:lstStyle>
            <a:lvl1pPr algn="l">
              <a:defRPr sz="3200" b="1"/>
            </a:lvl1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91930" y="1293495"/>
            <a:ext cx="5577840" cy="402336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23214" y="3536829"/>
            <a:ext cx="3124200" cy="1797169"/>
          </a:xfrm>
        </p:spPr>
        <p:txBody>
          <a:bodyPr>
            <a:normAutofit/>
          </a:bodyPr>
          <a:lstStyle>
            <a:lvl1pPr marL="0" indent="0">
              <a:spcBef>
                <a:spcPts val="8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33866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ame" descr="Border design"/>
          <p:cNvSpPr/>
          <p:nvPr/>
        </p:nvSpPr>
        <p:spPr>
          <a:xfrm>
            <a:off x="1217610" y="1019175"/>
            <a:ext cx="6126480" cy="4572000"/>
          </a:xfrm>
          <a:prstGeom prst="rect">
            <a:avLst/>
          </a:prstGeom>
          <a:noFill/>
          <a:ln w="1016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23214" y="1371600"/>
            <a:ext cx="3124200" cy="2057400"/>
          </a:xfrm>
        </p:spPr>
        <p:txBody>
          <a:bodyPr anchor="b">
            <a:normAutofit/>
          </a:bodyPr>
          <a:lstStyle>
            <a:lvl1pPr algn="l">
              <a:defRPr sz="3200" b="0"/>
            </a:lvl1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1400490" y="1202055"/>
            <a:ext cx="5760720" cy="4206240"/>
          </a:xfrm>
          <a:solidFill>
            <a:schemeClr val="bg1">
              <a:lumMod val="95000"/>
            </a:schemeClr>
          </a:solidFill>
        </p:spPr>
        <p:txBody>
          <a:bodyPr tIns="914400">
            <a:normAutofit/>
          </a:bodyPr>
          <a:lstStyle>
            <a:lvl1pPr marL="0" indent="0" algn="ctr">
              <a:spcBef>
                <a:spcPts val="0"/>
              </a:spcBef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23214" y="3536829"/>
            <a:ext cx="3124200" cy="1797171"/>
          </a:xfrm>
        </p:spPr>
        <p:txBody>
          <a:bodyPr>
            <a:normAutofit/>
          </a:bodyPr>
          <a:lstStyle>
            <a:lvl1pPr marL="0" indent="0">
              <a:spcBef>
                <a:spcPts val="8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96842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77828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94507" y="609600"/>
            <a:ext cx="1143001" cy="54102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2413" y="609600"/>
            <a:ext cx="7696198" cy="54102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/>
              <a:pPr/>
              <a:t>9/28/2026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40326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bottom graphic" descr="Bottom border design"/>
          <p:cNvGrpSpPr/>
          <p:nvPr/>
        </p:nvGrpSpPr>
        <p:grpSpPr>
          <a:xfrm>
            <a:off x="0" y="6309360"/>
            <a:ext cx="12190231" cy="548640"/>
            <a:chOff x="0" y="6309360"/>
            <a:chExt cx="12190231" cy="548640"/>
          </a:xfrm>
        </p:grpSpPr>
        <p:sp>
          <p:nvSpPr>
            <p:cNvPr id="7" name="Rectangle 6"/>
            <p:cNvSpPr/>
            <p:nvPr/>
          </p:nvSpPr>
          <p:spPr>
            <a:xfrm>
              <a:off x="0" y="6400800"/>
              <a:ext cx="12188825" cy="4572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003">
              <a:schemeClr val="dk2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Rectangle 7"/>
            <p:cNvSpPr/>
            <p:nvPr/>
          </p:nvSpPr>
          <p:spPr>
            <a:xfrm>
              <a:off x="1279" y="6309360"/>
              <a:ext cx="12188952" cy="9721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79" y="6379143"/>
              <a:ext cx="12188952" cy="27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0" name="top graphic" descr="Top border design"/>
          <p:cNvGrpSpPr/>
          <p:nvPr/>
        </p:nvGrpSpPr>
        <p:grpSpPr>
          <a:xfrm>
            <a:off x="1279" y="0"/>
            <a:ext cx="12188952" cy="320040"/>
            <a:chOff x="1279" y="0"/>
            <a:chExt cx="12188952" cy="320040"/>
          </a:xfrm>
        </p:grpSpPr>
        <p:sp>
          <p:nvSpPr>
            <p:cNvPr id="11" name="Rectangle 10"/>
            <p:cNvSpPr/>
            <p:nvPr/>
          </p:nvSpPr>
          <p:spPr>
            <a:xfrm>
              <a:off x="1279" y="0"/>
              <a:ext cx="12188952" cy="17023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279" y="170234"/>
              <a:ext cx="12188952" cy="14980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279" y="231421"/>
              <a:ext cx="12188952" cy="27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876" y="609600"/>
            <a:ext cx="9143538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76" y="1905000"/>
            <a:ext cx="9143538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1507498" y="6516865"/>
            <a:ext cx="6062145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7994363" y="6516865"/>
            <a:ext cx="132762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8E36636D-D922-432D-A958-524484B5923D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9730094" y="6516865"/>
            <a:ext cx="93631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DF28FB93-0A08-4E7D-8E63-9EFA29F1E0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45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90000"/>
        </a:lnSpc>
        <a:spcBef>
          <a:spcPts val="1800"/>
        </a:spcBef>
        <a:buClr>
          <a:schemeClr val="tx1"/>
        </a:buClr>
        <a:buSzPct val="100000"/>
        <a:buFont typeface="Arial" pitchFamily="34" charset="0"/>
        <a:buChar char="▪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/>
        </a:buClr>
        <a:buSzPct val="100000"/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SzPct val="100000"/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258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544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SzPct val="100000"/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SzPct val="100000"/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402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tx1"/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webp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ebp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ebp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webp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7" Type="http://schemas.openxmlformats.org/officeDocument/2006/relationships/image" Target="../media/image1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1.png"/><Relationship Id="rId5" Type="http://schemas.openxmlformats.org/officeDocument/2006/relationships/slideLayout" Target="../slideLayouts/slideLayout5.xml"/><Relationship Id="rId4" Type="http://schemas.openxmlformats.org/officeDocument/2006/relationships/video" Target="../media/media2.mp4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webp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ai.ugreen.com/pages/ugreen-homeagent-crowdfunding-ca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HomeAgent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UGREEN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UGREEN</a:t>
            </a:r>
          </a:p>
          <a:p>
            <a:r>
              <a:rPr lang="en-US" dirty="0"/>
              <a:t>Problem</a:t>
            </a:r>
          </a:p>
          <a:p>
            <a:r>
              <a:rPr lang="en-US" dirty="0"/>
              <a:t>Project implementation steps</a:t>
            </a:r>
          </a:p>
          <a:p>
            <a:r>
              <a:rPr lang="en-US" dirty="0"/>
              <a:t>Results/modifications</a:t>
            </a:r>
          </a:p>
        </p:txBody>
      </p:sp>
    </p:spTree>
    <p:extLst>
      <p:ext uri="{BB962C8B-B14F-4D97-AF65-F5344CB8AC3E}">
        <p14:creationId xmlns:p14="http://schemas.microsoft.com/office/powerpoint/2010/main" val="272306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63F65-277A-D26A-423E-1D747F5AC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A918-5C6C-D35E-E531-48942048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UGREEN?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33FF65-6A50-F346-9C72-5EFD51C20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79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BBFC598-81AC-4941-973C-6034B821A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UGREEN?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3C39AB-93F6-3FC6-74E3-CFEF1AB291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938" b="29692"/>
          <a:stretch>
            <a:fillRect/>
          </a:stretch>
        </p:blipFill>
        <p:spPr>
          <a:xfrm>
            <a:off x="-26397" y="2372431"/>
            <a:ext cx="6302055" cy="25447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5DD334-3B8C-99A7-73E6-A941584A92EB}"/>
              </a:ext>
            </a:extLst>
          </p:cNvPr>
          <p:cNvSpPr txBox="1"/>
          <p:nvPr/>
        </p:nvSpPr>
        <p:spPr>
          <a:xfrm>
            <a:off x="6305968" y="2397240"/>
            <a:ext cx="5431157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Chinese Company founded in 2012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Started off as a cable manufacturer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Leading providers in charging, connectivity solutions, and NAS systems</a:t>
            </a:r>
          </a:p>
        </p:txBody>
      </p:sp>
    </p:spTree>
    <p:extLst>
      <p:ext uri="{BB962C8B-B14F-4D97-AF65-F5344CB8AC3E}">
        <p14:creationId xmlns:p14="http://schemas.microsoft.com/office/powerpoint/2010/main" val="518017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45728-9E20-D042-6E3D-7F56C45E0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CE67122-EF70-ABA5-AE08-D52433610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UGREEN, a company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B27E70F-B6FE-883D-FD1F-A15CDC763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UGREEN </a:t>
            </a:r>
            <a:r>
              <a:rPr lang="en-US" dirty="0" err="1"/>
              <a:t>NASync</a:t>
            </a:r>
            <a:r>
              <a:rPr lang="en-US" dirty="0"/>
              <a:t> DXP2800</a:t>
            </a:r>
          </a:p>
          <a:p>
            <a:endParaRPr lang="en-US" dirty="0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3B4BFCFD-0AE9-87E2-25F4-5E0C4A40126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346325" y="2928937"/>
            <a:ext cx="2771775" cy="2752725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3A1837-34B3-E111-7471-BCCF7F8D7B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UGREEN 2.5" Hard Drive Enclosure USB 3.0 to SATA III Adapter 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5ACB50-DB14-17FD-9CA8-A9F8C00E0A4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837363" y="2590800"/>
            <a:ext cx="32385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744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85CE8-E942-DDCA-6016-2F47FE75C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63BEAF-3A3D-89A2-B273-BF22973E7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problem?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415740-0630-8096-A071-662380CF4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459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2916E-F35B-8F2D-9485-EFDB5173B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13093-4785-5848-5409-8A551D66D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876" y="609600"/>
            <a:ext cx="9143538" cy="10668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The problem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2042CFA5-B2F2-F6EE-4115-E02EF6EBF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2413" y="1828800"/>
            <a:ext cx="4419599" cy="685801"/>
          </a:xfrm>
        </p:spPr>
        <p:txBody>
          <a:bodyPr>
            <a:normAutofit fontScale="92500"/>
          </a:bodyPr>
          <a:lstStyle/>
          <a:p>
            <a:r>
              <a:rPr lang="en-US" dirty="0"/>
              <a:t>Finding a way to integrate and unifying IoT features into a single device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008C31-1184-6E9E-EECE-F973F8A8D612}"/>
              </a:ext>
            </a:extLst>
          </p:cNvPr>
          <p:cNvSpPr txBox="1"/>
          <p:nvPr/>
        </p:nvSpPr>
        <p:spPr>
          <a:xfrm>
            <a:off x="1522413" y="2590801"/>
            <a:ext cx="4419599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74320" lvl="0" indent="-274320">
              <a:lnSpc>
                <a:spcPct val="90000"/>
              </a:lnSpc>
              <a:spcBef>
                <a:spcPts val="1800"/>
              </a:spcBef>
              <a:buClr>
                <a:schemeClr val="tx1"/>
              </a:buClr>
              <a:buSzPct val="100000"/>
              <a:buFont typeface="Arial" pitchFamily="34" charset="0"/>
              <a:buChar char="▪"/>
            </a:pPr>
            <a:r>
              <a:rPr lang="en-US" sz="1700" dirty="0"/>
              <a:t>Security cameras → one application</a:t>
            </a:r>
          </a:p>
          <a:p>
            <a:pPr marL="274320" lvl="0" indent="-274320">
              <a:lnSpc>
                <a:spcPct val="90000"/>
              </a:lnSpc>
              <a:spcBef>
                <a:spcPts val="1800"/>
              </a:spcBef>
              <a:buClr>
                <a:schemeClr val="tx1"/>
              </a:buClr>
              <a:buSzPct val="100000"/>
              <a:buFont typeface="Arial" pitchFamily="34" charset="0"/>
              <a:buChar char="▪"/>
            </a:pPr>
            <a:r>
              <a:rPr lang="en-US" sz="1700" dirty="0"/>
              <a:t>Photos/files → NAS or cloud storage </a:t>
            </a:r>
          </a:p>
          <a:p>
            <a:pPr marL="274320" lvl="0" indent="-274320">
              <a:lnSpc>
                <a:spcPct val="90000"/>
              </a:lnSpc>
              <a:spcBef>
                <a:spcPts val="1800"/>
              </a:spcBef>
              <a:buClr>
                <a:schemeClr val="tx1"/>
              </a:buClr>
              <a:buSzPct val="100000"/>
              <a:buFont typeface="Arial" pitchFamily="34" charset="0"/>
              <a:buChar char="▪"/>
            </a:pPr>
            <a:r>
              <a:rPr lang="en-US" sz="1700" dirty="0"/>
              <a:t>Smart lights → another application </a:t>
            </a:r>
          </a:p>
          <a:p>
            <a:pPr marL="274320" lvl="0" indent="-274320">
              <a:lnSpc>
                <a:spcPct val="90000"/>
              </a:lnSpc>
              <a:spcBef>
                <a:spcPts val="1800"/>
              </a:spcBef>
              <a:buClr>
                <a:schemeClr val="tx1"/>
              </a:buClr>
              <a:buSzPct val="100000"/>
              <a:buFont typeface="Arial" pitchFamily="34" charset="0"/>
              <a:buChar char="▪"/>
            </a:pPr>
            <a:r>
              <a:rPr lang="en-US" sz="1700" dirty="0"/>
              <a:t>Voice assistant → another service </a:t>
            </a:r>
          </a:p>
          <a:p>
            <a:pPr marL="274320" lvl="0" indent="-274320">
              <a:lnSpc>
                <a:spcPct val="90000"/>
              </a:lnSpc>
              <a:spcBef>
                <a:spcPts val="1800"/>
              </a:spcBef>
              <a:buClr>
                <a:schemeClr val="tx1"/>
              </a:buClr>
              <a:buSzPct val="100000"/>
              <a:buFont typeface="Arial" pitchFamily="34" charset="0"/>
              <a:buChar char="▪"/>
            </a:pPr>
            <a:r>
              <a:rPr lang="en-US" sz="1700" dirty="0"/>
              <a:t>Home automation → another platform </a:t>
            </a:r>
          </a:p>
          <a:p>
            <a:pPr marL="274320" lvl="0" indent="-274320">
              <a:lnSpc>
                <a:spcPct val="90000"/>
              </a:lnSpc>
              <a:spcBef>
                <a:spcPts val="1800"/>
              </a:spcBef>
              <a:buClr>
                <a:schemeClr val="tx1"/>
              </a:buClr>
              <a:buSzPct val="100000"/>
              <a:buFont typeface="Arial" pitchFamily="34" charset="0"/>
              <a:buChar char="▪"/>
            </a:pPr>
            <a:r>
              <a:rPr lang="en-US" sz="1700" dirty="0"/>
              <a:t>AI processing → often cloud-based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B8CBDC4-BC4B-FD4D-3CD3-DA8E21F48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6814" y="1828800"/>
            <a:ext cx="4419599" cy="685801"/>
          </a:xfrm>
        </p:spPr>
        <p:txBody>
          <a:bodyPr>
            <a:normAutofit fontScale="92500"/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E9F7B1-A7FC-03F6-E155-85F18351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11" r="19711" b="-2"/>
          <a:stretch>
            <a:fillRect/>
          </a:stretch>
        </p:blipFill>
        <p:spPr>
          <a:xfrm>
            <a:off x="6094412" y="1697665"/>
            <a:ext cx="5570752" cy="43221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06659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16B6-D933-5512-6D50-9A052C655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06CF627-AAC3-23D1-E72A-FC835425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 (cont’d)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0AF6E3-2306-5BA3-CE4E-7FF9273E0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9C04C53-28A4-DC31-F6B1-E6C8E61C92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Privacy</a:t>
            </a:r>
          </a:p>
          <a:p>
            <a:endParaRPr lang="en-US" dirty="0"/>
          </a:p>
        </p:txBody>
      </p:sp>
      <p:pic>
        <p:nvPicPr>
          <p:cNvPr id="6" name="Content Placeholder 5" descr="Speak to Uliya in Any Room">
            <a:extLst>
              <a:ext uri="{FF2B5EF4-FFF2-40B4-BE49-F238E27FC236}">
                <a16:creationId xmlns:a16="http://schemas.microsoft.com/office/drawing/2014/main" id="{B288D57A-C2B8-AFA0-2061-994D051E704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522413" y="3237955"/>
            <a:ext cx="4419600" cy="2134690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47A9FADE-E9F6-4500-330B-BBB9F50C2E3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524872" y="2590800"/>
            <a:ext cx="3863482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C75B7-3C19-20C1-5449-B1CA4F7F0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8F452D-B9E8-88DA-F9C2-8C09BBAE4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A1A75D-FDC4-60FE-3979-8123C356EB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1070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3289E-B82D-1B66-AD09-C81CAC8BD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DAD23AB-7CAF-9B79-2711-B101E9C1F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876" y="609600"/>
            <a:ext cx="9143538" cy="10668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 err="1"/>
              <a:t>HomeAgent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395DF7-1C51-AB64-9625-BBEE8777DC6B}"/>
              </a:ext>
            </a:extLst>
          </p:cNvPr>
          <p:cNvSpPr txBox="1"/>
          <p:nvPr/>
        </p:nvSpPr>
        <p:spPr>
          <a:xfrm>
            <a:off x="1522413" y="1904999"/>
            <a:ext cx="4435564" cy="40889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74320" indent="-274320">
              <a:lnSpc>
                <a:spcPct val="90000"/>
              </a:lnSpc>
              <a:spcBef>
                <a:spcPts val="1800"/>
              </a:spcBef>
              <a:buClr>
                <a:schemeClr val="tx1"/>
              </a:buClr>
              <a:buSzPct val="100000"/>
              <a:buFont typeface="Arial" pitchFamily="34" charset="0"/>
              <a:buChar char="▪"/>
            </a:pP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C5C5B5F-2309-21E8-4028-BD3CD9ABE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978" y="380999"/>
            <a:ext cx="5320336" cy="5895109"/>
          </a:xfrm>
          <a:prstGeom prst="rect">
            <a:avLst/>
          </a:prstGeom>
          <a:noFill/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127906-B7C2-D6E4-4651-7814A4A1C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12" y="2037906"/>
            <a:ext cx="5943600" cy="2829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3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BAE72-84EC-40AA-9C1F-E67D2CD24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1AFFFE7-29B7-A5A1-4105-546258B47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UGOS Pro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ECAFE49-7E47-9111-2606-F98137DF0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Operating System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923008-D3A6-C788-B386-3CDC1F8DB8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151812" y="1828799"/>
            <a:ext cx="4419599" cy="685801"/>
          </a:xfrm>
        </p:spPr>
        <p:txBody>
          <a:bodyPr/>
          <a:lstStyle/>
          <a:p>
            <a:r>
              <a:rPr lang="en-US" dirty="0"/>
              <a:t>What it handles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2627B2-6F66-34AB-F319-9EA00E0ADD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151812" y="2514601"/>
            <a:ext cx="4419599" cy="3429000"/>
          </a:xfrm>
        </p:spPr>
        <p:txBody>
          <a:bodyPr>
            <a:normAutofit fontScale="92500" lnSpcReduction="20000"/>
          </a:bodyPr>
          <a:lstStyle/>
          <a:p>
            <a:pPr lvl="0"/>
            <a:r>
              <a:rPr lang="en-CA" dirty="0"/>
              <a:t>Storage </a:t>
            </a:r>
          </a:p>
          <a:p>
            <a:pPr lvl="0"/>
            <a:r>
              <a:rPr lang="en-CA" dirty="0"/>
              <a:t>Networking </a:t>
            </a:r>
          </a:p>
          <a:p>
            <a:pPr lvl="0"/>
            <a:r>
              <a:rPr lang="en-CA" dirty="0"/>
              <a:t>Applications </a:t>
            </a:r>
          </a:p>
          <a:p>
            <a:pPr lvl="0"/>
            <a:r>
              <a:rPr lang="en-CA" dirty="0"/>
              <a:t>AI workloads </a:t>
            </a:r>
          </a:p>
          <a:p>
            <a:pPr lvl="0"/>
            <a:r>
              <a:rPr lang="en-CA" dirty="0"/>
              <a:t>Camera management </a:t>
            </a:r>
          </a:p>
          <a:p>
            <a:pPr lvl="0"/>
            <a:r>
              <a:rPr lang="en-CA" dirty="0"/>
              <a:t>Device management </a:t>
            </a:r>
          </a:p>
          <a:p>
            <a:pPr lvl="0"/>
            <a:r>
              <a:rPr lang="en-CA" dirty="0"/>
              <a:t>Security </a:t>
            </a:r>
          </a:p>
          <a:p>
            <a:pPr lvl="0"/>
            <a:r>
              <a:rPr lang="en-CA" dirty="0"/>
              <a:t>Backups</a:t>
            </a:r>
          </a:p>
        </p:txBody>
      </p:sp>
      <p:pic>
        <p:nvPicPr>
          <p:cNvPr id="9" name="Content Placeholder 8" descr="AI Chat">
            <a:extLst>
              <a:ext uri="{FF2B5EF4-FFF2-40B4-BE49-F238E27FC236}">
                <a16:creationId xmlns:a16="http://schemas.microsoft.com/office/drawing/2014/main" id="{A985498A-0032-B4A6-6D38-841334C6DB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0" y="2514600"/>
            <a:ext cx="8128006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581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C500B-BA45-930A-B6EB-E92AFD0D7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C44B68D-881E-CC37-E856-B8497CB2A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Uliya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8AD680-E799-4ACC-DD21-D1EBEAE585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Natural-language interface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F5857C8-0CFF-07E7-7A6B-939F8FBB3B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it handles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3B1007-7D36-C071-AD9A-B5227C2CFCC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0"/>
            <a:r>
              <a:rPr lang="en-CA" dirty="0"/>
              <a:t>Language understanding </a:t>
            </a:r>
          </a:p>
          <a:p>
            <a:pPr lvl="0"/>
            <a:r>
              <a:rPr lang="en-CA" dirty="0"/>
              <a:t>Computer vision </a:t>
            </a:r>
          </a:p>
          <a:p>
            <a:pPr lvl="0"/>
            <a:r>
              <a:rPr lang="en-CA" dirty="0"/>
              <a:t>Event detection </a:t>
            </a:r>
          </a:p>
          <a:p>
            <a:pPr lvl="0"/>
            <a:r>
              <a:rPr lang="en-CA" dirty="0"/>
              <a:t>Photo organization </a:t>
            </a:r>
          </a:p>
          <a:p>
            <a:pPr lvl="0"/>
            <a:r>
              <a:rPr lang="en-CA" dirty="0"/>
              <a:t>Video analysis </a:t>
            </a:r>
          </a:p>
          <a:p>
            <a:pPr lvl="0"/>
            <a:r>
              <a:rPr lang="en-CA" dirty="0"/>
              <a:t>Natural-language search</a:t>
            </a:r>
          </a:p>
          <a:p>
            <a:endParaRPr lang="en-CA" dirty="0"/>
          </a:p>
        </p:txBody>
      </p:sp>
      <p:pic>
        <p:nvPicPr>
          <p:cNvPr id="6" name="Content Placeholder 5" descr="Speak to Uliya in Any Room">
            <a:extLst>
              <a:ext uri="{FF2B5EF4-FFF2-40B4-BE49-F238E27FC236}">
                <a16:creationId xmlns:a16="http://schemas.microsoft.com/office/drawing/2014/main" id="{B9128C64-0DA6-D62B-B5EF-9E1B0585782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522413" y="3237955"/>
            <a:ext cx="4419600" cy="213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265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68C58-B0D9-F30A-4958-02267B34B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3C32CF-5C2F-58EA-5F5F-62B6CB792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AI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BA1717E-4648-7763-9F35-88D44C73B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 Location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D89F4D0-B103-0EB1-76A6-EF06B878D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Controlling Curtains</a:t>
            </a:r>
          </a:p>
        </p:txBody>
      </p:sp>
      <p:pic>
        <p:nvPicPr>
          <p:cNvPr id="16" name="curtains">
            <a:hlinkClick r:id="" action="ppaction://media"/>
            <a:extLst>
              <a:ext uri="{FF2B5EF4-FFF2-40B4-BE49-F238E27FC236}">
                <a16:creationId xmlns:a16="http://schemas.microsoft.com/office/drawing/2014/main" id="{964DB8AD-3E6A-EFD9-5B3B-7EE6D83CD296}"/>
              </a:ext>
            </a:extLst>
          </p:cNvPr>
          <p:cNvPicPr>
            <a:picLocks noGrp="1" noChangeAspect="1"/>
          </p:cNvPicPr>
          <p:nvPr>
            <p:ph sz="quarter" idx="4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246813" y="2720975"/>
            <a:ext cx="4419600" cy="3167063"/>
          </a:xfrm>
        </p:spPr>
      </p:pic>
      <p:pic>
        <p:nvPicPr>
          <p:cNvPr id="20" name="dog">
            <a:hlinkClick r:id="" action="ppaction://media"/>
            <a:extLst>
              <a:ext uri="{FF2B5EF4-FFF2-40B4-BE49-F238E27FC236}">
                <a16:creationId xmlns:a16="http://schemas.microsoft.com/office/drawing/2014/main" id="{42EE680E-1522-7260-CE28-EAF0E63B9165}"/>
              </a:ext>
            </a:extLst>
          </p:cNvPr>
          <p:cNvPicPr>
            <a:picLocks noGrp="1" noChangeAspect="1"/>
          </p:cNvPicPr>
          <p:nvPr>
            <p:ph sz="half" idx="2"/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522413" y="2720975"/>
            <a:ext cx="4419600" cy="3167063"/>
          </a:xfrm>
        </p:spPr>
      </p:pic>
    </p:spTree>
    <p:extLst>
      <p:ext uri="{BB962C8B-B14F-4D97-AF65-F5344CB8AC3E}">
        <p14:creationId xmlns:p14="http://schemas.microsoft.com/office/powerpoint/2010/main" val="2988981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3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4570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977B9-40AA-D7F4-3AE5-D47BC9ED5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F983C-460D-5311-0583-12767C24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AI (cont’d)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59A264E-28BA-C2A7-35C9-93AC2D628D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face detection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0D23929-E46D-CB91-9085-44B0870C308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522413" y="2727822"/>
            <a:ext cx="4419600" cy="3154955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D3FE92E-63D8-CAB1-817B-94935D7178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Crying baby alerts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261AD7A-36FE-142A-02AC-34F97B7369B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46813" y="3232333"/>
            <a:ext cx="4419600" cy="2145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747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4B528-C628-83D8-C9A4-6D607E76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5E1654B-E997-0161-0543-4678B6621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Ecosystem Development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81E461-0DC9-8DD9-6D3B-E422BBD2A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UGREEN devices and TP Devices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0323076-BC48-74AE-2012-6F267B86AD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4369514-7CE7-D15E-EC9B-5553D8B16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522413" y="3234928"/>
            <a:ext cx="4419600" cy="2140743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493614-DB38-A785-B24F-037A4D3B28D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0"/>
            <a:r>
              <a:rPr lang="en-CA" dirty="0" err="1"/>
              <a:t>SynCare</a:t>
            </a:r>
            <a:r>
              <a:rPr lang="en-CA" dirty="0"/>
              <a:t> cameras </a:t>
            </a:r>
          </a:p>
          <a:p>
            <a:pPr lvl="0"/>
            <a:r>
              <a:rPr lang="en-CA" dirty="0"/>
              <a:t>Smart Speaker </a:t>
            </a:r>
          </a:p>
          <a:p>
            <a:pPr lvl="0"/>
            <a:r>
              <a:rPr lang="en-CA" dirty="0"/>
              <a:t>Gallery </a:t>
            </a:r>
          </a:p>
          <a:p>
            <a:pPr lvl="0"/>
            <a:r>
              <a:rPr lang="en-CA" dirty="0" err="1"/>
              <a:t>HomeAgent</a:t>
            </a:r>
            <a:r>
              <a:rPr lang="en-CA" dirty="0"/>
              <a:t> hubs</a:t>
            </a:r>
          </a:p>
        </p:txBody>
      </p:sp>
    </p:spTree>
    <p:extLst>
      <p:ext uri="{BB962C8B-B14F-4D97-AF65-F5344CB8AC3E}">
        <p14:creationId xmlns:p14="http://schemas.microsoft.com/office/powerpoint/2010/main" val="2878794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C81C7-1FFE-0D74-ABC2-F339AB4B8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497D312-F606-71CB-C27E-7E99E65CA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Demonstration/Testing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E83EF2-017A-8E99-7D9B-68C6F41334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3D58B4-A6AA-C466-B9E1-7905F46BCA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" name="Content Placeholder 1" descr="Christian Gonzalez Is Our Global Brand Ambassador">
            <a:extLst>
              <a:ext uri="{FF2B5EF4-FFF2-40B4-BE49-F238E27FC236}">
                <a16:creationId xmlns:a16="http://schemas.microsoft.com/office/drawing/2014/main" id="{98DECDED-5016-148B-DF14-7285E44198D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246813" y="2833179"/>
            <a:ext cx="4419600" cy="294424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F5C2FB-059F-C67E-5169-CEEF5EC326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A" b="1" dirty="0"/>
              <a:t>September 1, 2026</a:t>
            </a:r>
            <a:r>
              <a:rPr lang="en-CA" dirty="0"/>
              <a:t>, at Gillette Stadium, with the hubs, cameras, speaker and Gallery operating together. </a:t>
            </a:r>
          </a:p>
          <a:p>
            <a:r>
              <a:rPr lang="en-CA" dirty="0"/>
              <a:t>Pre-orders opened September 4, 2026.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996998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80BDC-6D9A-0512-5D31-3C05A72DC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783A99-59D1-CF50-8D7F-69367295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Duration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B02BE67-E0B2-9265-4B3D-E49CD5E3C9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545EF14-9422-B642-1728-5C5D49C3F0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06235F-5F61-2B9B-C01C-7DE434093BF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A" b="1" dirty="0"/>
              <a:t>September 1, 2026</a:t>
            </a:r>
            <a:r>
              <a:rPr lang="en-CA" dirty="0"/>
              <a:t>, at Gillette Stadium, with the hubs, cameras, speaker and Gallery operating together. </a:t>
            </a:r>
          </a:p>
          <a:p>
            <a:r>
              <a:rPr lang="en-CA" dirty="0"/>
              <a:t>Pre-orders opened September 4, 2026.</a:t>
            </a:r>
          </a:p>
          <a:p>
            <a:endParaRPr lang="en-CA" dirty="0"/>
          </a:p>
        </p:txBody>
      </p:sp>
      <p:pic>
        <p:nvPicPr>
          <p:cNvPr id="9" name="Content Placeholder 8" descr="UGREEN A Smarter Life Starts Here — Theme Discussion">
            <a:extLst>
              <a:ext uri="{FF2B5EF4-FFF2-40B4-BE49-F238E27FC236}">
                <a16:creationId xmlns:a16="http://schemas.microsoft.com/office/drawing/2014/main" id="{6D3C24A5-7692-83B3-FB9A-680E3C00BD7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246813" y="2831178"/>
            <a:ext cx="4419600" cy="294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380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D282F-57C0-34AD-073F-5182ED7D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B3BFEA-2DE4-35CA-515A-5F83AE6A6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Results/Modifications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43B8CF-AE5B-8AD8-1321-08217C7E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763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3B54-7213-087A-42E7-852A03EF7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B2D65B-AF48-E1AA-EBAD-35E26D7D7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Results/Modifications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BB126F-EFD8-512C-1F0E-074AE4546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Results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CBD443B-39D5-C631-3530-BC27EBD0E9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Other Results/Modifications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A613D3-EC83-07C0-3FDF-85FDF2E253C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A" b="1" dirty="0"/>
              <a:t>Separate smart-home devices and </a:t>
            </a:r>
            <a:r>
              <a:rPr lang="en-CA" b="1" dirty="0" err="1"/>
              <a:t>payed</a:t>
            </a:r>
            <a:r>
              <a:rPr lang="en-CA" b="1" dirty="0"/>
              <a:t> services</a:t>
            </a:r>
            <a:endParaRPr lang="en-CA" dirty="0"/>
          </a:p>
          <a:p>
            <a:r>
              <a:rPr lang="en-CA" dirty="0"/>
              <a:t>Locally AI-Powered </a:t>
            </a:r>
            <a:r>
              <a:rPr lang="en-CA" dirty="0" err="1"/>
              <a:t>homesystem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B1D9E-696D-AAD5-1868-7E8DB279347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Centralized smart-home System</a:t>
            </a:r>
          </a:p>
          <a:p>
            <a:r>
              <a:rPr lang="en-US" dirty="0"/>
              <a:t>Local AI Processing</a:t>
            </a:r>
          </a:p>
          <a:p>
            <a:r>
              <a:rPr lang="en-US" dirty="0"/>
              <a:t>Improved Data Privacy</a:t>
            </a:r>
          </a:p>
          <a:p>
            <a:r>
              <a:rPr lang="en-US" dirty="0"/>
              <a:t>Smart Security</a:t>
            </a:r>
          </a:p>
          <a:p>
            <a:r>
              <a:rPr lang="en-US" dirty="0"/>
              <a:t>Natural-language control</a:t>
            </a:r>
          </a:p>
          <a:p>
            <a:r>
              <a:rPr lang="en-CA" dirty="0"/>
              <a:t>Expanded Ecosystem</a:t>
            </a:r>
          </a:p>
          <a:p>
            <a:r>
              <a:rPr lang="en-CA" dirty="0"/>
              <a:t>Different Performance Levels</a:t>
            </a:r>
          </a:p>
        </p:txBody>
      </p:sp>
    </p:spTree>
    <p:extLst>
      <p:ext uri="{BB962C8B-B14F-4D97-AF65-F5344CB8AC3E}">
        <p14:creationId xmlns:p14="http://schemas.microsoft.com/office/powerpoint/2010/main" val="211130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9A42D1-4D07-68B3-877B-961A043F93AA}"/>
              </a:ext>
            </a:extLst>
          </p:cNvPr>
          <p:cNvSpPr txBox="1"/>
          <p:nvPr/>
        </p:nvSpPr>
        <p:spPr>
          <a:xfrm>
            <a:off x="227012" y="1524000"/>
            <a:ext cx="9689832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CA" sz="2400" dirty="0">
                <a:hlinkClick r:id="rId2"/>
              </a:rPr>
              <a:t>https://www.ugreen.com/en-ca?no_rule=true</a:t>
            </a:r>
          </a:p>
          <a:p>
            <a:pPr>
              <a:lnSpc>
                <a:spcPct val="90000"/>
              </a:lnSpc>
            </a:pPr>
            <a:r>
              <a:rPr lang="en-CA" sz="2400" dirty="0">
                <a:hlinkClick r:id="rId2"/>
              </a:rPr>
              <a:t>https://ai.ugreen.com/pages/ugreen-homeagent-crowdfunding-ca</a:t>
            </a:r>
            <a:r>
              <a:rPr lang="en-CA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73825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triped Border 16x9">
  <a:themeElements>
    <a:clrScheme name="StripedBorder_16x9">
      <a:dk1>
        <a:srgbClr val="404040"/>
      </a:dk1>
      <a:lt1>
        <a:sysClr val="window" lastClr="FFFFFF"/>
      </a:lt1>
      <a:dk2>
        <a:srgbClr val="000000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9D66D"/>
      </a:accent5>
      <a:accent6>
        <a:srgbClr val="838383"/>
      </a:accent6>
      <a:hlink>
        <a:srgbClr val="F59E00"/>
      </a:hlink>
      <a:folHlink>
        <a:srgbClr val="B2B2B2"/>
      </a:folHlink>
    </a:clrScheme>
    <a:fontScheme name="Euphemia">
      <a:majorFont>
        <a:latin typeface="Euphemia"/>
        <a:ea typeface=""/>
        <a:cs typeface=""/>
      </a:majorFont>
      <a:minorFont>
        <a:latin typeface="Euphemia"/>
        <a:ea typeface=""/>
        <a:cs typeface=""/>
      </a:minorFont>
    </a:fontScheme>
    <a:fmtScheme name="Glow Edge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>
                <a:tint val="98000"/>
              </a:schemeClr>
            </a:duotone>
          </a:blip>
          <a:tile tx="0" ty="0" sx="100000" sy="100000" flip="none" algn="ctr"/>
        </a:blipFill>
      </a:bgFillStyleLst>
    </a:fmtScheme>
  </a:themeElements>
  <a:objectDefaults>
    <a:spDef>
      <a:spPr>
        <a:solidFill>
          <a:schemeClr val="accent1">
            <a:lumMod val="50000"/>
          </a:schemeClr>
        </a:solidFill>
        <a:ln>
          <a:solidFill>
            <a:schemeClr val="accent1">
              <a:lumMod val="50000"/>
            </a:schemeClr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lnSpc>
            <a:spcPct val="90000"/>
          </a:lnSpc>
          <a:defRPr sz="2400"/>
        </a:defPPr>
      </a:lstStyle>
    </a:txDef>
  </a:objectDefaults>
  <a:extraClrSchemeLst/>
  <a:extLst>
    <a:ext uri="{05A4C25C-085E-4340-85A3-A5531E510DB2}">
      <thm15:themeFamily xmlns:thm15="http://schemas.microsoft.com/office/thememl/2012/main" name="Striped black border presentation (widescreen).potx" id="{96522838-024F-4A04-A543-9EF396F770C0}" vid="{BD969DAD-256A-4182-ABA2-1577ED7D3144}"/>
    </a:ext>
  </a:extLst>
</a:theme>
</file>

<file path=ppt/theme/theme2.xml><?xml version="1.0" encoding="utf-8"?>
<a:theme xmlns:a="http://schemas.openxmlformats.org/drawingml/2006/main" name="Office Theme">
  <a:themeElements>
    <a:clrScheme name="StripedBorder_16x9">
      <a:dk1>
        <a:srgbClr val="404040"/>
      </a:dk1>
      <a:lt1>
        <a:sysClr val="window" lastClr="FFFFFF"/>
      </a:lt1>
      <a:dk2>
        <a:srgbClr val="000000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9D66D"/>
      </a:accent5>
      <a:accent6>
        <a:srgbClr val="838383"/>
      </a:accent6>
      <a:hlink>
        <a:srgbClr val="F59E00"/>
      </a:hlink>
      <a:folHlink>
        <a:srgbClr val="B2B2B2"/>
      </a:folHlink>
    </a:clrScheme>
    <a:fontScheme name="Euphemia">
      <a:majorFont>
        <a:latin typeface="Euphemia"/>
        <a:ea typeface=""/>
        <a:cs typeface=""/>
      </a:majorFont>
      <a:minorFont>
        <a:latin typeface="Euphemia"/>
        <a:ea typeface=""/>
        <a:cs typeface=""/>
      </a:minorFont>
    </a:fontScheme>
    <a:fmtScheme name="Glow Edge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StripedBorder_16x9">
      <a:dk1>
        <a:srgbClr val="404040"/>
      </a:dk1>
      <a:lt1>
        <a:sysClr val="window" lastClr="FFFFFF"/>
      </a:lt1>
      <a:dk2>
        <a:srgbClr val="000000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9D66D"/>
      </a:accent5>
      <a:accent6>
        <a:srgbClr val="838383"/>
      </a:accent6>
      <a:hlink>
        <a:srgbClr val="F59E00"/>
      </a:hlink>
      <a:folHlink>
        <a:srgbClr val="B2B2B2"/>
      </a:folHlink>
    </a:clrScheme>
    <a:fontScheme name="Euphemia">
      <a:majorFont>
        <a:latin typeface="Euphemia"/>
        <a:ea typeface=""/>
        <a:cs typeface=""/>
      </a:majorFont>
      <a:minorFont>
        <a:latin typeface="Euphemia"/>
        <a:ea typeface=""/>
        <a:cs typeface=""/>
      </a:minorFont>
    </a:fontScheme>
    <a:fmtScheme name="Glow Edge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Striped black border presentation (widescreen)</Template>
  <TotalTime>738</TotalTime>
  <Words>320</Words>
  <Application>Microsoft Office PowerPoint</Application>
  <PresentationFormat>Custom</PresentationFormat>
  <Paragraphs>85</Paragraphs>
  <Slides>20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Euphemia</vt:lpstr>
      <vt:lpstr>Striped Border 16x9</vt:lpstr>
      <vt:lpstr>HomeAgent</vt:lpstr>
      <vt:lpstr>Table of Contents</vt:lpstr>
      <vt:lpstr>Who is UGREEN?</vt:lpstr>
      <vt:lpstr>Who is UGREEN?</vt:lpstr>
      <vt:lpstr>UGREEN, a company</vt:lpstr>
      <vt:lpstr>What’s the problem?</vt:lpstr>
      <vt:lpstr>The problem</vt:lpstr>
      <vt:lpstr>The problem (cont’d)</vt:lpstr>
      <vt:lpstr>Implementation</vt:lpstr>
      <vt:lpstr>HomeAgent</vt:lpstr>
      <vt:lpstr>UGOS Pro</vt:lpstr>
      <vt:lpstr>Uliya</vt:lpstr>
      <vt:lpstr>Local AI</vt:lpstr>
      <vt:lpstr>Local AI (cont’d)</vt:lpstr>
      <vt:lpstr>Ecosystem Development</vt:lpstr>
      <vt:lpstr>Demonstration/Testing</vt:lpstr>
      <vt:lpstr>Duration</vt:lpstr>
      <vt:lpstr>Results/Modifications</vt:lpstr>
      <vt:lpstr>Results/Modifications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Cyril Efren Fabro</dc:creator>
  <cp:lastModifiedBy>Cyril Efren Fabro</cp:lastModifiedBy>
  <cp:revision>4</cp:revision>
  <dcterms:created xsi:type="dcterms:W3CDTF">2026-09-28T18:02:37Z</dcterms:created>
  <dcterms:modified xsi:type="dcterms:W3CDTF">2026-09-29T04:45:40Z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